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9f5630a8-eee5-e941-99a6-01aec248509c}">
          <p14:sldIdLst>
            <p14:sldId id="256"/>
            <p14:sldId id="257"/>
            <p14:sldId id="258"/>
          </p14:sldIdLst>
        </p14:section>
        <p14:section name="Our MLP" id="{be62296f-469d-49c9-eb0e-cf19aaa438fc}">
          <p14:sldIdLst>
            <p14:sldId id="259"/>
            <p14:sldId id="260"/>
          </p14:sldIdLst>
        </p14:section>
        <p14:section name="Pretrained ResNet" id="{65061b7d-3608-94c1-54f8-78407fcaf667}">
          <p14:sldIdLst>
            <p14:sldId id="261"/>
            <p14:sldId id="262"/>
          </p14:sldIdLst>
        </p14:section>
        <p14:section name="The answer" id="{3b0ed52e-c82a-3779-134d-b3e44453f027}">
          <p14:sldIdLst>
            <p14:sldId id="263"/>
            <p14:sldId id="264"/>
            <p14:sldId id="265"/>
            <p14:sldId id="266"/>
          </p14:sldIdLst>
        </p14:section>
        <p14:section name="Backup" id="{fd7b9a15-fdab-3496-9b3a-aaff0728a223}">
          <p14:sldIdLst>
            <p14:sldId id="267"/>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Sheet1!$B$2:$B$5</c:f>
              <c:numCache>
                <c:formatCode>General</c:formatCode>
                <c:ptCount val="4"/>
                <c:pt idx="0">
                  <c:v>0</c:v>
                </c:pt>
                <c:pt idx="1">
                  <c:v>673</c:v>
                </c:pt>
                <c:pt idx="2">
                  <c:v>0</c:v>
                </c:pt>
                <c:pt idx="3">
                  <c:v>0</c:v>
                </c:pt>
              </c:numCache>
            </c:numRef>
          </c:val>
        </c:ser>
        <c:ser>
          <c:idx val="1"/>
          <c:order val="1"/>
          <c:tx>
            <c:strRef>
              <c:f>Sheet1!$C$1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Sheet1!$C$2:$C$5</c:f>
              <c:numCache>
                <c:formatCode>General</c:formatCode>
                <c:ptCount val="4"/>
                <c:pt idx="0">
                  <c:v>414</c:v>
                </c:pt>
                <c:pt idx="1">
                  <c:v>0</c:v>
                </c:pt>
                <c:pt idx="2">
                  <c:v>830</c:v>
                </c:pt>
                <c:pt idx="3">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point your phone at a painting in a museum, and a guide tells you its style. Our museum wants exactly this, on kiosks in its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a final test against a classical model. Step six: the cost on a kiosk. Each step told us what to try next. At the end of these six steps, we will have our answer.</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 We measured it: when the model has seen the painter, it scores 11 points higher.</a:t>
            </a:r>
          </a:p>
          <a:p>
            <a:pPr>
              <a:spcBef>
                <a:spcPts val="900"/>
              </a:spcBef>
            </a:pPr>
            <a:r>
              <a:rPr lang="en-US" b="1" dirty="0"/>
              <a:t>TRANSITION: We saw that our data is ready and our test is fair. So now, step two: we can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the overfitting with the tools of session 6, 3 seeds each. All together, weight decay, dropout, batch norm, flips and early stopping take the MLP from 38.8 to 45.5 percent, and the gap between train and validation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all this on 1.2 million ImageNet photos. We only have 1 061 paintings, so we keep it as it is: it is frozen. It turns each painting into 512 numbers. We train only the last layer, which turns these 512 numbers into our 5 styles: 2 565 weights. Like hiring an experienced art expert, and only teaching them our five style names.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this last layer takes less than a second, and gives 88.1 percent on validation, almost twice our best MLP. And it does see shapes: it finds 71 percent of the Cubist paintings, against 7 for our MLP. We also tried fine-tuning, letting its last block learn too: 8.4 million weights for 1 061 paintings. It overfits: 85.4 percent. We monitored it like the MLP: the gap between train and validation is only 0.09, against 0.61 for our first MLP.</a:t>
            </a:r>
          </a:p>
          <a:p>
            <a:pPr>
              <a:spcBef>
                <a:spcPts val="900"/>
              </a:spcBef>
            </a:pPr>
            <a:r>
              <a:rPr lang="en-US" b="1" dirty="0"/>
              <a:t>TRANSITION: We saw that ResNet18 reaches 88 percent. But to answer the director, we also need a challenger without any neural network. So now, step five: we build this classical challenger, then we test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 every model, on 220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from 83 to 88 percent. The random forest reaches 67; our MLP 41. Is the gap real? A paired bootstrap on the same test paintings gives our model a lead of 16.4 points over the random forest, between 9 and 24 points: it is not luck. One honest note: the fine-tuned model is first here, but it was second on validation, and we keep the model chosen before the test.</a:t>
            </a:r>
          </a:p>
          <a:p>
            <a:pPr>
              <a:spcBef>
                <a:spcPts val="900"/>
              </a:spcBef>
            </a:pPr>
            <a:r>
              <a:rPr lang="en-US" b="1" dirty="0"/>
              <a:t>TRANSITION: We saw that the pretrained network is the most accurate. But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ResNet needs 53 milliseconds on one CPU thread, 26 with four threads: faster than a blink. Even on a kiosk four times slower, it answers in a fifth of a second. The model file is 45 megabytes.</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test, our own MLP reached 41 percent, the best classical model 67, and the frozen ResNet18 83.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We do not recommend our MLP, a classical model alone, or fine-tuning for now.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test: 67.3 %, 16.4 points below the frozen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and frozen</a:t>
            </a:r>
            <a:endParaRPr lang="en-US" sz="1400" dirty="0"/>
          </a:p>
          <a:p>
            <a:pPr indent="0" marL="0">
              <a:buNone/>
            </a:pPr>
            <a:r>
              <a:rPr lang="en-US" sz="1100" dirty="0">
                <a:solidFill>
                  <a:srgbClr val="C9CED8"/>
                </a:solidFill>
              </a:rPr>
              <a:t>18 layers, 11 million weights learned on 1.2 million ImageNet photos. We do not change them.</a:t>
            </a:r>
            <a:endParaRPr lang="en-US" sz="1400" dirty="0"/>
          </a:p>
        </p:txBody>
      </p:sp>
      <p:sp>
        <p:nvSpPr>
          <p:cNvPr id="10" name="level 1"/>
          <p:cNvSpPr/>
          <p:nvPr/>
        </p:nvSpPr>
        <p:spPr>
          <a:xfrm>
            <a:off x="2057400" y="2011680"/>
            <a:ext cx="896112" cy="548640"/>
          </a:xfrm>
          <a:prstGeom prst="roundRect">
            <a:avLst>
              <a:gd name="adj" fmla="val 10000"/>
            </a:avLst>
          </a:prstGeom>
          <a:solidFill>
            <a:srgbClr val="2A3448"/>
          </a:solidFill>
          <a:ln w="12700">
            <a:solidFill>
              <a:srgbClr val="2A3448"/>
            </a:solidFill>
            <a:prstDash val="solid"/>
          </a:ln>
        </p:spPr>
      </p:sp>
      <p:sp>
        <p:nvSpPr>
          <p:cNvPr id="11" name="level text 1"/>
          <p:cNvSpPr txBox="1"/>
          <p:nvPr/>
        </p:nvSpPr>
        <p:spPr>
          <a:xfrm>
            <a:off x="205740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p:txBody>
      </p:sp>
      <p:sp>
        <p:nvSpPr>
          <p:cNvPr id="12" name="level 2"/>
          <p:cNvSpPr/>
          <p:nvPr/>
        </p:nvSpPr>
        <p:spPr>
          <a:xfrm>
            <a:off x="3063240" y="2011680"/>
            <a:ext cx="896112" cy="548640"/>
          </a:xfrm>
          <a:prstGeom prst="roundRect">
            <a:avLst>
              <a:gd name="adj" fmla="val 10000"/>
            </a:avLst>
          </a:prstGeom>
          <a:solidFill>
            <a:srgbClr val="2A3448"/>
          </a:solidFill>
          <a:ln w="12700">
            <a:solidFill>
              <a:srgbClr val="2A3448"/>
            </a:solidFill>
            <a:prstDash val="solid"/>
          </a:ln>
        </p:spPr>
      </p:sp>
      <p:sp>
        <p:nvSpPr>
          <p:cNvPr id="13" name="level text 2"/>
          <p:cNvSpPr txBox="1"/>
          <p:nvPr/>
        </p:nvSpPr>
        <p:spPr>
          <a:xfrm>
            <a:off x="306324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p:txBody>
      </p:sp>
      <p:sp>
        <p:nvSpPr>
          <p:cNvPr id="14" name="level 3"/>
          <p:cNvSpPr/>
          <p:nvPr/>
        </p:nvSpPr>
        <p:spPr>
          <a:xfrm>
            <a:off x="4069080" y="2011680"/>
            <a:ext cx="896112" cy="548640"/>
          </a:xfrm>
          <a:prstGeom prst="roundRect">
            <a:avLst>
              <a:gd name="adj" fmla="val 10000"/>
            </a:avLst>
          </a:prstGeom>
          <a:solidFill>
            <a:srgbClr val="2A3448"/>
          </a:solidFill>
          <a:ln w="12700">
            <a:solidFill>
              <a:srgbClr val="2A3448"/>
            </a:solidFill>
            <a:prstDash val="solid"/>
          </a:ln>
        </p:spPr>
      </p:sp>
      <p:sp>
        <p:nvSpPr>
          <p:cNvPr id="15" name="level text 3"/>
          <p:cNvSpPr txBox="1"/>
          <p:nvPr/>
        </p:nvSpPr>
        <p:spPr>
          <a:xfrm>
            <a:off x="406908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last layers</a:t>
            </a:r>
            <a:endParaRPr lang="en-US" sz="900" dirty="0"/>
          </a:p>
          <a:p>
            <a:pPr algn="ctr" indent="0" marL="0">
              <a:buNone/>
            </a:pPr>
            <a:r>
              <a:rPr lang="en-US" sz="1100" b="1" dirty="0">
                <a:solidFill>
                  <a:schemeClr val="bg1"/>
                </a:solidFill>
              </a:rPr>
              <a:t>shapes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1 linear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1 linear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1 linear layer</a:t>
            </a:r>
            <a:endParaRPr lang="en-US" sz="1400" dirty="0"/>
          </a:p>
          <a:p>
            <a:pPr algn="ctr" indent="0" marL="0">
              <a:spcAft>
                <a:spcPts val="300"/>
              </a:spcAft>
              <a:buNone/>
            </a:pPr>
            <a:r>
              <a:rPr lang="en-US" sz="1200" dirty="0">
                <a:solidFill>
                  <a:schemeClr val="bg1"/>
                </a:solidFill>
              </a:rPr>
              <a:t>512 → 5 styles: 2 565 weights, the only part we train</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Why frozen"/>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Why frozen"/>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frozen</a:t>
            </a:r>
            <a:endParaRPr lang="en-US" sz="1400" dirty="0"/>
          </a:p>
          <a:p>
            <a:pPr indent="0" marL="0">
              <a:spcAft>
                <a:spcPts val="400"/>
              </a:spcAft>
              <a:buNone/>
            </a:pPr>
            <a:r>
              <a:rPr lang="en-US" sz="1200" dirty="0">
                <a:solidFill>
                  <a:schemeClr val="tx1"/>
                </a:solidFill>
              </a:rPr>
              <a:t>Only 1 061 paintings: too few for 11 million weights. We reuse what it learned and train only the last layer, in 0.4 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ing layer4"/>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ayer4"/>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layer4</a:t>
            </a:r>
            <a:endParaRPr lang="en-US" sz="1500" dirty="0"/>
          </a:p>
          <a:p>
            <a:pPr indent="0" marL="0">
              <a:spcAft>
                <a:spcPts val="400"/>
              </a:spcAft>
              <a:buNone/>
            </a:pPr>
            <a:r>
              <a:rPr lang="en-US" sz="1400" dirty="0">
                <a:solidFill>
                  <a:schemeClr val="tx1"/>
                </a:solidFill>
              </a:rPr>
              <a:t>Its last block learns too: 8.4 M weights for 1 061 images, 99.9 % on train, 85.4 % on validation. It overfits.</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2560320" cy="2880360"/>
          </a:xfrm>
          <a:prstGeom prst="roundRect">
            <a:avLst>
              <a:gd name="adj" fmla="val 2857"/>
            </a:avLst>
          </a:prstGeom>
          <a:solidFill>
            <a:srgbClr val="2A3448"/>
          </a:solidFill>
          <a:ln w="12700">
            <a:solidFill>
              <a:srgbClr val="2A3448"/>
            </a:solidFill>
            <a:prstDash val="solid"/>
          </a:ln>
        </p:spPr>
      </p:sp>
      <p:sp>
        <p:nvSpPr>
          <p:cNvPr id="5" name="head Why"/>
          <p:cNvSpPr txBox="1"/>
          <p:nvPr/>
        </p:nvSpPr>
        <p:spPr>
          <a:xfrm>
            <a:off x="640080" y="1719072"/>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6" name="items Why"/>
          <p:cNvSpPr txBox="1"/>
          <p:nvPr/>
        </p:nvSpPr>
        <p:spPr>
          <a:xfrm>
            <a:off x="64008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7" name="column Not now"/>
          <p:cNvSpPr/>
          <p:nvPr/>
        </p:nvSpPr>
        <p:spPr>
          <a:xfrm>
            <a:off x="3291840" y="1600200"/>
            <a:ext cx="2560320" cy="2880360"/>
          </a:xfrm>
          <a:prstGeom prst="roundRect">
            <a:avLst>
              <a:gd name="adj" fmla="val 2857"/>
            </a:avLst>
          </a:prstGeom>
          <a:solidFill>
            <a:srgbClr val="2A3448"/>
          </a:solidFill>
          <a:ln w="12700">
            <a:solidFill>
              <a:srgbClr val="2A3448"/>
            </a:solidFill>
            <a:prstDash val="solid"/>
          </a:ln>
        </p:spPr>
      </p:sp>
      <p:sp>
        <p:nvSpPr>
          <p:cNvPr id="8" name="head Not now"/>
          <p:cNvSpPr txBox="1"/>
          <p:nvPr/>
        </p:nvSpPr>
        <p:spPr>
          <a:xfrm>
            <a:off x="3474720" y="1719072"/>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9" name="items Not now"/>
          <p:cNvSpPr txBox="1"/>
          <p:nvPr/>
        </p:nvSpPr>
        <p:spPr>
          <a:xfrm>
            <a:off x="347472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The random forest alone: 67.3 %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10" name="column Before launch"/>
          <p:cNvSpPr/>
          <p:nvPr/>
        </p:nvSpPr>
        <p:spPr>
          <a:xfrm>
            <a:off x="6126480" y="1600200"/>
            <a:ext cx="2560320" cy="2880360"/>
          </a:xfrm>
          <a:prstGeom prst="roundRect">
            <a:avLst>
              <a:gd name="adj" fmla="val 2857"/>
            </a:avLst>
          </a:prstGeom>
          <a:solidFill>
            <a:srgbClr val="2A3448"/>
          </a:solidFill>
          <a:ln w="12700">
            <a:solidFill>
              <a:srgbClr val="2A3448"/>
            </a:solidFill>
            <a:prstDash val="solid"/>
          </a:ln>
        </p:spPr>
      </p:sp>
      <p:sp>
        <p:nvSpPr>
          <p:cNvPr id="11" name="head Before launch"/>
          <p:cNvSpPr txBox="1"/>
          <p:nvPr/>
        </p:nvSpPr>
        <p:spPr>
          <a:xfrm>
            <a:off x="6309360" y="1719072"/>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2" name="items Before launch"/>
          <p:cNvSpPr txBox="1"/>
          <p:nvPr/>
        </p:nvSpPr>
        <p:spPr>
          <a:xfrm>
            <a:off x="630936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3.0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3.0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83.0 %</a:t>
            </a:r>
            <a:endParaRPr lang="en-US" sz="3000" dirty="0"/>
          </a:p>
        </p:txBody>
      </p:sp>
      <p:sp>
        <p:nvSpPr>
          <p:cNvPr id="18" name="caption 83.0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frozen + linear head (ours)</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5"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7"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8"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0"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2026-10-21T12:22:35Z</dcterms:created>
  <dcterms:modified xsi:type="dcterms:W3CDTF">2026-10-21T12:22:35Z</dcterms:modified>
</cp:coreProperties>
</file>