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62f554b6-d8e5-3c46-3fdb-09919cafaa8a}">
          <p14:sldIdLst>
            <p14:sldId id="256"/>
            <p14:sldId id="257"/>
            <p14:sldId id="258"/>
          </p14:sldIdLst>
        </p14:section>
        <p14:section name="Our MLP" id="{ecac1086-34cb-8507-671c-4beac8d0a44c}">
          <p14:sldIdLst>
            <p14:sldId id="259"/>
            <p14:sldId id="260"/>
          </p14:sldIdLst>
        </p14:section>
        <p14:section name="Pretrained ResNet" id="{66bfdf40-3ed5-7fb0-0af4-1959a18ab581}">
          <p14:sldIdLst>
            <p14:sldId id="261"/>
            <p14:sldId id="262"/>
          </p14:sldIdLst>
        </p14:section>
        <p14:section name="The answer" id="{1b938b10-f466-8728-a5b7-2a8fef8c22a0}">
          <p14:sldIdLst>
            <p14:sldId id="263"/>
            <p14:sldId id="264"/>
            <p14:sldId id="265"/>
            <p14:sldId id="266"/>
          </p14:sldIdLst>
        </p14:section>
        <p14:section name="Backup" id="{9d43feac-6ef5-f78e-1f0e-a28137b2a419}">
          <p14:sldIdLst>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(219 paintings)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Sheet1!$B$2:$B$6</c:f>
              <c:numCache>
                <c:formatCode>General</c:formatCode>
                <c:ptCount val="5"/>
                <c:pt idx="0">
                  <c:v>455</c:v>
                </c:pt>
                <c:pt idx="1">
                  <c:v>0</c:v>
                </c:pt>
                <c:pt idx="2">
                  <c:v>635</c:v>
                </c:pt>
                <c:pt idx="3">
                  <c:v>854</c:v>
                </c:pt>
                <c:pt idx="4">
                  <c:v>0</c:v>
                </c:pt>
              </c:numCache>
            </c:numRef>
          </c:val>
        </c:ser>
        <c:ser>
          <c:idx val="1"/>
          <c:order val="1"/>
          <c:tx>
            <c:strRef>
              <c:f>Sheet1!$C$1</c:f>
              <c:strCache>
                <c:ptCount val="1"/>
                <c:pt idx="0">
                  <c:v>from zero</c:v>
                </c:pt>
              </c:strCache>
            </c:strRef>
          </c:tx>
          <c:spPr>
            <a:solidFill>
              <a:srgbClr val="EDA100"/>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Sheet1!$C$2:$C$6</c:f>
              <c:numCache>
                <c:formatCode>General</c:formatCode>
                <c:ptCount val="5"/>
                <c:pt idx="0">
                  <c:v>0</c:v>
                </c:pt>
                <c:pt idx="1">
                  <c:v>616</c:v>
                </c:pt>
                <c:pt idx="2">
                  <c:v>0</c:v>
                </c:pt>
                <c:pt idx="3">
                  <c:v>0</c:v>
                </c:pt>
                <c:pt idx="4">
                  <c:v>0</c:v>
                </c:pt>
              </c:numCache>
            </c:numRef>
          </c:val>
        </c:ser>
        <c:ser>
          <c:idx val="2"/>
          <c:order val="2"/>
          <c:tx>
            <c:strRef>
              <c:f>Sheet1!$D$1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Sheet1!$D$2:$D$6</c:f>
              <c:numCache>
                <c:formatCode>General</c:formatCode>
                <c:ptCount val="5"/>
                <c:pt idx="0">
                  <c:v>0</c:v>
                </c:pt>
                <c:pt idx="1">
                  <c:v>0</c:v>
                </c:pt>
                <c:pt idx="2">
                  <c:v>0</c:v>
                </c:pt>
                <c:pt idx="3">
                  <c:v>0</c:v>
                </c:pt>
                <c:pt idx="4">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kiosks in its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a final test against a classical model. Step six: the cost on a kiosk.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We measured it: when the model has seen the painter, it scores 11 points higher.</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all this on 1.2 million ImageNet photos. We only have 1 061 paintings, so we keep it as it is: it is frozen. It turns each painting into 512 numbers. We remove its last layer, made for ImageNet, and add our own: from these 512 numbers to our 5 styles, 2 565 weights, the only ones we train.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the last block of ResNet18, so that it also learns from our paintings, 8.4 million weights instead of 2 565. It was less convincing than keeping it frozen: 85.4 percent instead of 88.1. With only 1 061 paintings, it starts to learn them by heart. We monitored it like the MLP: the gap between train and validation is only 0.09, against 0.61 for our first MLP.</a:t>
            </a:r>
          </a:p>
          <a:p>
            <a:pPr>
              <a:spcBef>
                <a:spcPts val="900"/>
              </a:spcBef>
            </a:pPr>
            <a:r>
              <a:rPr lang="en-US" b="1" dirty="0"/>
              <a:t>TRANSITION: We saw that ResNet18 reaches 88 percent. But to answer the director, we also need a challenger without any neural network. So now, step five: we build this classical challenger, then we test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on the same test paintings gives our model a lead of 16.4 points over the random forest, between 9 and 24 points: it is not luck. One honest note: the fine-tuned model is first here, but it was second on validation, and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All of this is frozen: 11.2 million weights learned on ImageNet. Our linear head turns the 512 numbers into 5 scores, one per style: 2 565 weights, the only ones we train.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train ResNet18 from zero: we measured it. With random weights and every layer learning, the same network reaches only 61.6 % on validation at best, against 88.1 % for the frozen pretrained one: about the level of the random forest. It is better than our MLP, because convolutions see shapes, but 1 061 paintings are far too few to learn 11 million weights. It also took 24 minutes of CPU, against less than a second for our linear head. One seed, validation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and frozen</a:t>
            </a:r>
            <a:endParaRPr lang="en-US" sz="1400" dirty="0"/>
          </a:p>
          <a:p>
            <a:pPr indent="0" marL="0">
              <a:buNone/>
            </a:pPr>
            <a:r>
              <a:rPr lang="en-US" sz="1100" dirty="0">
                <a:solidFill>
                  <a:srgbClr val="C9CED8"/>
                </a:solidFill>
              </a:rPr>
              <a:t>18 layers, 11 million weights learned on 1.2 million ImageNet photos. We do not change them.</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the only part we train</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a:t>
            </a:r>
            <a:endParaRPr lang="en-US" sz="1400" dirty="0"/>
          </a:p>
          <a:p>
            <a:pPr indent="0" marL="0">
              <a:spcAft>
                <a:spcPts val="400"/>
              </a:spcAft>
              <a:buNone/>
            </a:pPr>
            <a:r>
              <a:rPr lang="en-US" sz="1200" dirty="0">
                <a:solidFill>
                  <a:schemeClr val="tx1"/>
                </a:solidFill>
              </a:rPr>
              <a:t>Only 1 061 paintings: too few for 11 million weights. We reuse what it learned and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ess convincing"/>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ess convincing"/>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less convincing</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below the frozen version.</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6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seconds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5413248"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5413248"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body: 11.2 million weights learned on ImageNet, never changed</a:t>
            </a:r>
            <a:endParaRPr lang="en-US" sz="1000" dirty="0"/>
          </a:p>
        </p:txBody>
      </p:sp>
      <p:sp>
        <p:nvSpPr>
          <p:cNvPr id="44"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5"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6"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7"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48" name="block arrow 1"/>
          <p:cNvSpPr/>
          <p:nvPr/>
        </p:nvSpPr>
        <p:spPr>
          <a:xfrm>
            <a:off x="749808" y="4379976"/>
            <a:ext cx="118872" cy="0"/>
          </a:xfrm>
          <a:prstGeom prst="line">
            <a:avLst/>
          </a:prstGeom>
          <a:noFill/>
          <a:ln w="15875">
            <a:solidFill>
              <a:srgbClr val="3A3F4B"/>
            </a:solidFill>
            <a:prstDash val="solid"/>
            <a:tailEnd type="triangle"/>
          </a:ln>
        </p:spPr>
      </p:sp>
      <p:sp>
        <p:nvSpPr>
          <p:cNvPr id="49"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0"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1" name="block arrow 2"/>
          <p:cNvSpPr/>
          <p:nvPr/>
        </p:nvSpPr>
        <p:spPr>
          <a:xfrm>
            <a:off x="1636776" y="4379976"/>
            <a:ext cx="118872" cy="0"/>
          </a:xfrm>
          <a:prstGeom prst="line">
            <a:avLst/>
          </a:prstGeom>
          <a:noFill/>
          <a:ln w="15875">
            <a:solidFill>
              <a:srgbClr val="3A3F4B"/>
            </a:solidFill>
            <a:prstDash val="solid"/>
            <a:tailEnd type="triangle"/>
          </a:ln>
        </p:spPr>
      </p:sp>
      <p:sp>
        <p:nvSpPr>
          <p:cNvPr id="52"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3"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4" name="block arrow 3"/>
          <p:cNvSpPr/>
          <p:nvPr/>
        </p:nvSpPr>
        <p:spPr>
          <a:xfrm>
            <a:off x="2615184" y="4379976"/>
            <a:ext cx="118872" cy="0"/>
          </a:xfrm>
          <a:prstGeom prst="line">
            <a:avLst/>
          </a:prstGeom>
          <a:noFill/>
          <a:ln w="15875">
            <a:solidFill>
              <a:srgbClr val="3A3F4B"/>
            </a:solidFill>
            <a:prstDash val="solid"/>
            <a:tailEnd type="triangle"/>
          </a:ln>
        </p:spPr>
      </p:sp>
      <p:sp>
        <p:nvSpPr>
          <p:cNvPr id="55"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6"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7" name="block arrow 4"/>
          <p:cNvSpPr/>
          <p:nvPr/>
        </p:nvSpPr>
        <p:spPr>
          <a:xfrm>
            <a:off x="3502152" y="4379976"/>
            <a:ext cx="118872" cy="0"/>
          </a:xfrm>
          <a:prstGeom prst="line">
            <a:avLst/>
          </a:prstGeom>
          <a:noFill/>
          <a:ln w="15875">
            <a:solidFill>
              <a:srgbClr val="3A3F4B"/>
            </a:solidFill>
            <a:prstDash val="solid"/>
            <a:tailEnd type="triangle"/>
          </a:ln>
        </p:spPr>
      </p:sp>
      <p:sp>
        <p:nvSpPr>
          <p:cNvPr id="58"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59"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0" name="block arrow 5"/>
          <p:cNvSpPr/>
          <p:nvPr/>
        </p:nvSpPr>
        <p:spPr>
          <a:xfrm>
            <a:off x="4114800" y="4379976"/>
            <a:ext cx="118872" cy="0"/>
          </a:xfrm>
          <a:prstGeom prst="line">
            <a:avLst/>
          </a:prstGeom>
          <a:noFill/>
          <a:ln w="15875">
            <a:solidFill>
              <a:srgbClr val="3A3F4B"/>
            </a:solidFill>
            <a:prstDash val="solid"/>
            <a:tailEnd type="triangle"/>
          </a:ln>
        </p:spPr>
      </p:sp>
      <p:sp>
        <p:nvSpPr>
          <p:cNvPr id="61"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2"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3" name="block arrow 6"/>
          <p:cNvSpPr/>
          <p:nvPr/>
        </p:nvSpPr>
        <p:spPr>
          <a:xfrm>
            <a:off x="4581144" y="4379976"/>
            <a:ext cx="118872" cy="0"/>
          </a:xfrm>
          <a:prstGeom prst="line">
            <a:avLst/>
          </a:prstGeom>
          <a:noFill/>
          <a:ln w="15875">
            <a:solidFill>
              <a:srgbClr val="3A3F4B"/>
            </a:solidFill>
            <a:prstDash val="solid"/>
            <a:tailEnd type="triangle"/>
          </a:ln>
        </p:spPr>
      </p:sp>
      <p:sp>
        <p:nvSpPr>
          <p:cNvPr id="64"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5"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6" name="block arrow 7"/>
          <p:cNvSpPr/>
          <p:nvPr/>
        </p:nvSpPr>
        <p:spPr>
          <a:xfrm>
            <a:off x="5285232" y="4379976"/>
            <a:ext cx="118872" cy="0"/>
          </a:xfrm>
          <a:prstGeom prst="line">
            <a:avLst/>
          </a:prstGeom>
          <a:noFill/>
          <a:ln w="15875">
            <a:solidFill>
              <a:srgbClr val="3A3F4B"/>
            </a:solidFill>
            <a:prstDash val="solid"/>
            <a:tailEnd type="triangle"/>
          </a:ln>
        </p:spPr>
      </p:sp>
      <p:sp>
        <p:nvSpPr>
          <p:cNvPr id="67"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68" name="shortcut up"/>
          <p:cNvSpPr/>
          <p:nvPr/>
        </p:nvSpPr>
        <p:spPr>
          <a:xfrm>
            <a:off x="594360" y="3959352"/>
            <a:ext cx="0" cy="265176"/>
          </a:xfrm>
          <a:prstGeom prst="line">
            <a:avLst/>
          </a:prstGeom>
          <a:noFill/>
          <a:ln w="19050">
            <a:solidFill>
              <a:schemeClr val="accent1"/>
            </a:solidFill>
            <a:prstDash val="solid"/>
          </a:ln>
        </p:spPr>
      </p:sp>
      <p:sp>
        <p:nvSpPr>
          <p:cNvPr id="69" name="shortcut across"/>
          <p:cNvSpPr/>
          <p:nvPr/>
        </p:nvSpPr>
        <p:spPr>
          <a:xfrm>
            <a:off x="594360" y="3959352"/>
            <a:ext cx="3813048" cy="0"/>
          </a:xfrm>
          <a:prstGeom prst="line">
            <a:avLst/>
          </a:prstGeom>
          <a:noFill/>
          <a:ln w="19050">
            <a:solidFill>
              <a:schemeClr val="accent1"/>
            </a:solidFill>
            <a:prstDash val="solid"/>
          </a:ln>
        </p:spPr>
      </p:sp>
      <p:sp>
        <p:nvSpPr>
          <p:cNvPr id="70" name="shortcut down"/>
          <p:cNvSpPr/>
          <p:nvPr/>
        </p:nvSpPr>
        <p:spPr>
          <a:xfrm>
            <a:off x="4407408" y="3959352"/>
            <a:ext cx="0" cy="265176"/>
          </a:xfrm>
          <a:prstGeom prst="line">
            <a:avLst/>
          </a:prstGeom>
          <a:noFill/>
          <a:ln w="19050">
            <a:solidFill>
              <a:schemeClr val="accent1"/>
            </a:solidFill>
            <a:prstDash val="solid"/>
            <a:tailEnd type="triangle"/>
          </a:ln>
        </p:spPr>
      </p:sp>
      <p:sp>
        <p:nvSpPr>
          <p:cNvPr id="71"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2"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pretrained? ResNet18 from zero</a:t>
            </a:r>
            <a:endParaRPr lang="en-US" sz="3000" dirty="0"/>
          </a:p>
        </p:txBody>
      </p:sp>
      <p:graphicFrame>
        <p:nvGraphicFramePr>
          <p:cNvPr id="3" name="chart from zero"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card -26.5"/>
          <p:cNvSpPr/>
          <p:nvPr/>
        </p:nvSpPr>
        <p:spPr>
          <a:xfrm>
            <a:off x="5532120" y="1051560"/>
            <a:ext cx="3154680" cy="1417320"/>
          </a:xfrm>
          <a:prstGeom prst="roundRect">
            <a:avLst>
              <a:gd name="adj" fmla="val 5161"/>
            </a:avLst>
          </a:prstGeom>
          <a:solidFill>
            <a:schemeClr val="accent1"/>
          </a:solidFill>
          <a:ln w="12700">
            <a:solidFill>
              <a:schemeClr val="accent1"/>
            </a:solidFill>
            <a:prstDash val="solid"/>
          </a:ln>
        </p:spPr>
      </p:sp>
      <p:sp>
        <p:nvSpPr>
          <p:cNvPr id="5" name="value -26.5"/>
          <p:cNvSpPr txBox="1"/>
          <p:nvPr/>
        </p:nvSpPr>
        <p:spPr>
          <a:xfrm>
            <a:off x="5715000" y="1188720"/>
            <a:ext cx="278892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-26.5</a:t>
            </a:r>
            <a:endParaRPr lang="en-US" sz="3600" dirty="0"/>
          </a:p>
        </p:txBody>
      </p:sp>
      <p:sp>
        <p:nvSpPr>
          <p:cNvPr id="6" name="caption -26.5"/>
          <p:cNvSpPr txBox="1"/>
          <p:nvPr/>
        </p:nvSpPr>
        <p:spPr>
          <a:xfrm>
            <a:off x="5715000" y="1965960"/>
            <a:ext cx="2788920" cy="365760"/>
          </a:xfrm>
          <a:prstGeom prst="rect">
            <a:avLst/>
          </a:prstGeom>
          <a:noFill/>
          <a:ln/>
        </p:spPr>
        <p:txBody>
          <a:bodyPr wrap="square" lIns="0" tIns="0" rIns="0" bIns="0" rtlCol="0" anchor="t"/>
          <a:lstStyle/>
          <a:p>
            <a:pPr indent="0" marL="0">
              <a:buNone/>
            </a:pPr>
            <a:r>
              <a:rPr lang="en-US" sz="1200" dirty="0">
                <a:solidFill>
                  <a:schemeClr val="bg1"/>
                </a:solidFill>
              </a:rPr>
              <a:t>points without the pretraining: same network, same paintings</a:t>
            </a:r>
            <a:endParaRPr lang="en-US" sz="1200" dirty="0"/>
          </a:p>
        </p:txBody>
      </p:sp>
      <p:sp>
        <p:nvSpPr>
          <p:cNvPr id="7" name="note How we trained it"/>
          <p:cNvSpPr/>
          <p:nvPr/>
        </p:nvSpPr>
        <p:spPr>
          <a:xfrm>
            <a:off x="5532120" y="2606040"/>
            <a:ext cx="3154680" cy="960120"/>
          </a:xfrm>
          <a:prstGeom prst="roundRect">
            <a:avLst>
              <a:gd name="adj" fmla="val 7619"/>
            </a:avLst>
          </a:prstGeom>
          <a:solidFill>
            <a:schemeClr val="bg2"/>
          </a:solidFill>
          <a:ln w="12700">
            <a:solidFill>
              <a:schemeClr val="bg2"/>
            </a:solidFill>
            <a:prstDash val="solid"/>
          </a:ln>
        </p:spPr>
      </p:sp>
      <p:sp>
        <p:nvSpPr>
          <p:cNvPr id="8" name="text How we trained it"/>
          <p:cNvSpPr txBox="1"/>
          <p:nvPr/>
        </p:nvSpPr>
        <p:spPr>
          <a:xfrm>
            <a:off x="5696712" y="271576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How we trained it</a:t>
            </a:r>
            <a:endParaRPr lang="en-US" sz="1300" dirty="0"/>
          </a:p>
          <a:p>
            <a:pPr indent="0" marL="0">
              <a:spcAft>
                <a:spcPts val="400"/>
              </a:spcAft>
              <a:buNone/>
            </a:pPr>
            <a:r>
              <a:rPr lang="en-US" sz="1100" dirty="0">
                <a:solidFill>
                  <a:schemeClr val="tx1"/>
                </a:solidFill>
              </a:rPr>
              <a:t>Random weights, every layer learns (11.2 M). Crop + flip, AdamW, 30 epochs, 24 min. One seed.</a:t>
            </a:r>
            <a:endParaRPr lang="en-US" sz="1300" dirty="0"/>
          </a:p>
        </p:txBody>
      </p:sp>
      <p:sp>
        <p:nvSpPr>
          <p:cNvPr id="9" name="note What it shows"/>
          <p:cNvSpPr/>
          <p:nvPr/>
        </p:nvSpPr>
        <p:spPr>
          <a:xfrm>
            <a:off x="5532120" y="3657600"/>
            <a:ext cx="3154680" cy="960120"/>
          </a:xfrm>
          <a:prstGeom prst="roundRect">
            <a:avLst>
              <a:gd name="adj" fmla="val 7619"/>
            </a:avLst>
          </a:prstGeom>
          <a:solidFill>
            <a:schemeClr val="bg2"/>
          </a:solidFill>
          <a:ln w="12700">
            <a:solidFill>
              <a:schemeClr val="bg2"/>
            </a:solidFill>
            <a:prstDash val="solid"/>
          </a:ln>
        </p:spPr>
      </p:sp>
      <p:sp>
        <p:nvSpPr>
          <p:cNvPr id="10" name="text What it shows"/>
          <p:cNvSpPr txBox="1"/>
          <p:nvPr/>
        </p:nvSpPr>
        <p:spPr>
          <a:xfrm>
            <a:off x="5696712" y="376732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What it shows</a:t>
            </a:r>
            <a:endParaRPr lang="en-US" sz="1300" dirty="0"/>
          </a:p>
          <a:p>
            <a:pPr indent="0" marL="0">
              <a:spcAft>
                <a:spcPts val="400"/>
              </a:spcAft>
              <a:buNone/>
            </a:pPr>
            <a:r>
              <a:rPr lang="en-US" sz="1100" dirty="0">
                <a:solidFill>
                  <a:schemeClr val="tx1"/>
                </a:solidFill>
              </a:rPr>
              <a:t>Better than our MLP, but only like the random forest: the 1.2 million ImageNet photos make the difference.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2026-10-21T13:45:05Z</dcterms:created>
  <dcterms:modified xsi:type="dcterms:W3CDTF">2026-10-21T13:45:05Z</dcterms:modified>
</cp:coreProperties>
</file>