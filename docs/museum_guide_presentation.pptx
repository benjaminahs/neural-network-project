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c503b9dc-c7db-933c-64b5-a6e5c2a875a9}">
          <p14:sldIdLst>
            <p14:sldId id="256"/>
            <p14:sldId id="257"/>
            <p14:sldId id="258"/>
          </p14:sldIdLst>
        </p14:section>
        <p14:section name="Our MLP" id="{982f17fe-fc6a-eb00-c4af-854ad71b40f4}">
          <p14:sldIdLst>
            <p14:sldId id="259"/>
            <p14:sldId id="260"/>
          </p14:sldIdLst>
        </p14:section>
        <p14:section name="Pretrained ResNet" id="{81e2cee5-6bae-cddf-0fb1-843f04839793}">
          <p14:sldIdLst>
            <p14:sldId id="261"/>
            <p14:sldId id="262"/>
          </p14:sldIdLst>
        </p14:section>
        <p14:section name="The answer" id="{69ce220a-9807-1f9d-17db-483dab30e66d}">
          <p14:sldIdLst>
            <p14:sldId id="263"/>
            <p14:sldId id="264"/>
            <p14:sldId id="265"/>
            <p14:sldId id="266"/>
          </p14:sldIdLst>
        </p14:section>
        <p14:section name="Backup" id="{acb32d7a-4fed-2ecf-e272-ef7cdb46d047}">
          <p14:sldIdLst>
            <p14:sldId id="267"/>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mean of 3 seeds, each test used once</a:t>
            </a:r>
          </a:p>
        </c:rich>
      </c:tx>
      <c:layout/>
      <c:overlay val="0"/>
    </c:title>
    <c:autoTitleDeleted val="0"/>
    <c:plotArea>
      <c:layout/>
      <c:barChart>
        <c:barDir val="bar"/>
        <c:grouping val="clustered"/>
        <c:varyColors val="0"/>
        <c:ser>
          <c:idx val="0"/>
          <c:order val="0"/>
          <c:tx>
            <c:strRef>
              <c:f>Sheet1!$B$1</c:f>
              <c:strCache>
                <c:ptCount val="1"/>
                <c:pt idx="0">
                  <c:v>Test 1 (220 paintings)</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Sheet1!$B$2:$B$5</c:f>
              <c:numCache>
                <c:formatCode>General</c:formatCode>
                <c:ptCount val="4"/>
                <c:pt idx="0">
                  <c:v>414</c:v>
                </c:pt>
                <c:pt idx="1">
                  <c:v>673</c:v>
                </c:pt>
                <c:pt idx="2">
                  <c:v>830</c:v>
                </c:pt>
                <c:pt idx="3">
                  <c:v>879</c:v>
                </c:pt>
              </c:numCache>
            </c:numRef>
          </c:val>
        </c:ser>
        <c:ser>
          <c:idx val="1"/>
          <c:order val="1"/>
          <c:tx>
            <c:strRef>
              <c:f>Sheet1!$C$1</c:f>
              <c:strCache>
                <c:ptCount val="1"/>
                <c:pt idx="0">
                  <c:v>Test 2 (220 new paintings, new painters)</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Sheet1!$C$2:$C$5</c:f>
              <c:numCache>
                <c:formatCode>General</c:formatCode>
                <c:ptCount val="4"/>
                <c:pt idx="0">
                  <c:v>418</c:v>
                </c:pt>
                <c:pt idx="1">
                  <c:v>636</c:v>
                </c:pt>
                <c:pt idx="2">
                  <c:v>841</c:v>
                </c:pt>
                <c:pt idx="3">
                  <c:v>877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Fine-tuned ResNet18: share of each style found, both tests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Impressionism</c:v>
                  </c:pt>
                  <c:pt idx="2">
                    <c:v>Cubism</c:v>
                  </c:pt>
                  <c:pt idx="3">
                    <c:v>Baroque</c:v>
                  </c:pt>
                  <c:pt idx="4">
                    <c:v>Ukiyo-e</c:v>
                  </c:pt>
                </c:lvl>
              </c:multiLvlStrCache>
            </c:multiLvlStrRef>
          </c:cat>
          <c:val>
            <c:numRef>
              <c:f>Sheet1!$B$2:$B$6</c:f>
              <c:numCache>
                <c:formatCode>General</c:formatCode>
                <c:ptCount val="5"/>
                <c:pt idx="0">
                  <c:v>816</c:v>
                </c:pt>
                <c:pt idx="1">
                  <c:v>819</c:v>
                </c:pt>
                <c:pt idx="2">
                  <c:v>849</c:v>
                </c:pt>
                <c:pt idx="3">
                  <c:v>942</c:v>
                </c:pt>
                <c:pt idx="4">
                  <c:v>1000</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(219 paintings)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Sheet1!$B$2:$B$6</c:f>
              <c:numCache>
                <c:formatCode>General</c:formatCode>
                <c:ptCount val="5"/>
                <c:pt idx="0">
                  <c:v>455</c:v>
                </c:pt>
                <c:pt idx="1">
                  <c:v>0</c:v>
                </c:pt>
                <c:pt idx="2">
                  <c:v>635</c:v>
                </c:pt>
                <c:pt idx="3">
                  <c:v>854</c:v>
                </c:pt>
                <c:pt idx="4">
                  <c:v>0</c:v>
                </c:pt>
              </c:numCache>
            </c:numRef>
          </c:val>
        </c:ser>
        <c:ser>
          <c:idx val="1"/>
          <c:order val="1"/>
          <c:tx>
            <c:strRef>
              <c:f>Sheet1!$C$1</c:f>
              <c:strCache>
                <c:ptCount val="1"/>
                <c:pt idx="0">
                  <c:v>from zero</c:v>
                </c:pt>
              </c:strCache>
            </c:strRef>
          </c:tx>
          <c:spPr>
            <a:solidFill>
              <a:srgbClr val="EDA100"/>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Sheet1!$C$2:$C$6</c:f>
              <c:numCache>
                <c:formatCode>General</c:formatCode>
                <c:ptCount val="5"/>
                <c:pt idx="0">
                  <c:v>0</c:v>
                </c:pt>
                <c:pt idx="1">
                  <c:v>616</c:v>
                </c:pt>
                <c:pt idx="2">
                  <c:v>0</c:v>
                </c:pt>
                <c:pt idx="3">
                  <c:v>0</c:v>
                </c:pt>
                <c:pt idx="4">
                  <c:v>0</c:v>
                </c:pt>
              </c:numCache>
            </c:numRef>
          </c:val>
        </c:ser>
        <c:ser>
          <c:idx val="2"/>
          <c:order val="2"/>
          <c:tx>
            <c:strRef>
              <c:f>Sheet1!$D$1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Sheet1!$D$2:$D$6</c:f>
              <c:numCache>
                <c:formatCode>General</c:formatCode>
                <c:ptCount val="5"/>
                <c:pt idx="0">
                  <c:v>0</c:v>
                </c:pt>
                <c:pt idx="1">
                  <c:v>0</c:v>
                </c:pt>
                <c:pt idx="2">
                  <c:v>0</c:v>
                </c:pt>
                <c:pt idx="3">
                  <c:v>0</c:v>
                </c:pt>
                <c:pt idx="4">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museum wants kiosks that recognise the style of a painting from a photo.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the final tests, against a classical model. Step six: the cost on a kiosk. Each step told us what to try next.</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only once, at the end. One rule matters a lot: all the paintings of a known painter go to the same pile. With a random split, 23 of our 32 known painters would be in two piles, and a model could learn to recognise Monet instead of Impressionism. With our split: zero.</a:t>
            </a:r>
          </a:p>
          <a:p>
            <a:pPr>
              <a:spcBef>
                <a:spcPts val="900"/>
              </a:spcBef>
            </a:pPr>
            <a:r>
              <a:rPr lang="en-US" b="1" dirty="0"/>
              <a:t>TRANSITION: Our data is ready and our test is fair. So now, step two: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Before trusting it, we ran two checks. First, a model that knows nothing should have a loss of ln 5, about 1.61. Ours started at 1.99, too confident, so we made its last layer smaller and got 1.59. Second, it must be able to learn one small batch by heart: it does, 100 percent.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it with the tools of session 6. Together, weight decay, dropout, batch norm, flips and early stopping take the MLP from 38.8 to 45.5 percent, and the gap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see shapes, we need a network made for images: a convolutional network, or CNN. The brief asks for a ResNet, a famous family of CNNs from Microsoft Research, which won the big ImageNet competition in 2015. ResNet18 is its smallest member, with 18 layers: light enough for a kiosk, and PyTorch gives it already trained. "Res" means residual: shortcuts between its layers let a deep network learn well. Its 18 layers slide small filters over the picture: the first layers find edges and colours, the next ones textures, the last ones shapes. Our MLP saw 12 288 separate pixels. ResNet18 already learned this on 1.2 million ImageNet photos, and we only have 1 061 paintings, so we never retrain all of it. It turns each painting into 512 numbers. We replace its last layer, made for ImageNet, by our own: from these 512 numbers to our 5 styles. We tried two ways. Frozen: only our new layer learns, 2 565 weights. Fine-tuned: the first layers stay frozen, but the last block learns again on our paintings, 8.4 million weights. Like hiring an experienced art expert: frozen, we only teach them our five style names; fine-tuned, we also retrain their eye for shapes.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frozen version trains in less than a second and gives 88.1 percent on validation, almost twice our best MLP. And it does see shapes: it finds 71 percent of the Cubist paintings, against 7 for our MLP. The fine-tuned version looked less convincing on validation, 85.4 percent, so we first chose the frozen one. Keep this in mind. We monitored it like the MLP: the gap between train and validation is only 0.09, against 0.61 for our first MLP.</a:t>
            </a:r>
          </a:p>
          <a:p>
            <a:pPr>
              <a:spcBef>
                <a:spcPts val="900"/>
              </a:spcBef>
            </a:pPr>
            <a:r>
              <a:rPr lang="en-US" b="1" dirty="0"/>
              <a:t>TRANSITION: But to answer the director, we also need a challenger without any neural network. So now, step five: our classical challenger, then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tests: every model, on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the random forest reaches 67, our MLP 41. But here is the surprise: the fine-tuned model was first, while it was second on validation. Luck? We drew 220 new paintings from parts of WikiArt we had never opened, by painters our models never saw, and tested again. Same ranking. On the 440 paintings, even the frozen model is 18 points above the random forest, and fine-tuning wins by 5 points, between 2 and 8: it is not luck. Our 219 validation paintings were simply too few to separate the two versions.</a:t>
            </a:r>
          </a:p>
          <a:p>
            <a:pPr>
              <a:spcBef>
                <a:spcPts val="900"/>
              </a:spcBef>
            </a:pPr>
            <a:r>
              <a:rPr lang="en-US" b="1" dirty="0"/>
              <a:t>TRANSITION: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fine-tuned ResNet needs 53 milliseconds on one CPU thread, 27 with four threads: faster than a blink. Even on a kiosk four times slower, it answers in a fifth of a second. The model file is 45 megabytes, and training takes two and a half minutes on a laptop, without a GPU.</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440 test paintings, our own MLP reached 42 percent, the random forest 65, and the fine-tuned ResNet18 88. So, our answer to the director: yes, a neural network is worth it, but a pretrained one that we reuse. We recommend ResNet18, pretrained on ImageNet, with its first layers frozen and its last block fine-tuned on our paintings. Why? It is accurate: one visitor in eight gets a wrong style, against one in three. It is fast enough for a modest CPU, and cheap for a small team: retrained in a few minutes.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first test: 67.3 %, 20.6 points below the fine-tuned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changed our choice after the test: validation chose the frozen model, the first test said the opposite, so we drew a second test of 220 new paintings to check, used once. It confirms the fine-tuned model, by 5 points on the 440 test paintings, so it was not luck. Because both tests helped this choice, the fine-tuned scores are slightly optimistic; with more data, we would choose with cross-validation and keep a third set for the final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on the 440 test paintings, the fine-tuned ResNet finds every Ukiyo-e painting and at least 82 % of every style; the hardest are Pop Art and Impressionism.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ResNet18 is built: the painting (224 by 224 pixels, 3 colours) goes through a first convolution and four layers of residual blocks. At each layer the picture gets smaller (56, 28, 14, 7 pixels) but the number of channels grows (64 to 512): from edges and colours to textures, patterns and shapes. The average of the last 512 maps gives 512 numbers. In our final model, conv1 to layer3 stay frozen (2.8 million weights learned on ImageNet), layer4 is fine-tuned on our paintings (8.4 million), and our linear head turns the 512 numbers into 5 scores, one per style (2 565 weights). In the frozen version, layer4 stays frozen too. Residual means each block adds its input back through a shortcut, so the gradient reaches every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train ResNet18 from zero: we measured it. With random weights and every layer learning, the same network reaches only 61.6 % on validation at best, against 88.1 % for the frozen pretrained one: about the level of the random forest. It is better than our MLP, because convolutions see shapes, but 1 061 paintings are far too few to learn 11 million weights. It also took 24 minutes of CPU, against less than a second for our linear head. One seed, validation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on ImageNet</a:t>
            </a:r>
            <a:endParaRPr lang="en-US" sz="1400" dirty="0"/>
          </a:p>
          <a:p>
            <a:pPr indent="0" marL="0">
              <a:buNone/>
            </a:pPr>
            <a:r>
              <a:rPr lang="en-US" sz="1100" dirty="0">
                <a:solidFill>
                  <a:srgbClr val="C9CED8"/>
                </a:solidFill>
              </a:rPr>
              <a:t>18 layers, 11 million weights learned on 1.2 million photos. We never retrain all of them.</a:t>
            </a:r>
            <a:endParaRPr lang="en-US" sz="1400" dirty="0"/>
          </a:p>
        </p:txBody>
      </p:sp>
      <p:sp>
        <p:nvSpPr>
          <p:cNvPr id="10" name="level 1"/>
          <p:cNvSpPr/>
          <p:nvPr/>
        </p:nvSpPr>
        <p:spPr>
          <a:xfrm>
            <a:off x="2057400" y="1920240"/>
            <a:ext cx="896112" cy="685800"/>
          </a:xfrm>
          <a:prstGeom prst="roundRect">
            <a:avLst>
              <a:gd name="adj" fmla="val 8000"/>
            </a:avLst>
          </a:prstGeom>
          <a:solidFill>
            <a:srgbClr val="2A3448"/>
          </a:solidFill>
          <a:ln w="12700">
            <a:solidFill>
              <a:srgbClr val="2A3448"/>
            </a:solidFill>
            <a:prstDash val="solid"/>
          </a:ln>
        </p:spPr>
      </p:sp>
      <p:sp>
        <p:nvSpPr>
          <p:cNvPr id="11" name="level text 1"/>
          <p:cNvSpPr txBox="1"/>
          <p:nvPr/>
        </p:nvSpPr>
        <p:spPr>
          <a:xfrm>
            <a:off x="2057400" y="1920240"/>
            <a:ext cx="896112" cy="68580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a:p>
            <a:pPr algn="ctr" indent="0" marL="0">
              <a:buNone/>
            </a:pPr>
            <a:r>
              <a:rPr lang="en-US" sz="900" dirty="0">
                <a:solidFill>
                  <a:srgbClr val="C9CED8"/>
                </a:solidFill>
              </a:rPr>
              <a:t>always frozen</a:t>
            </a:r>
            <a:endParaRPr lang="en-US" sz="900" dirty="0"/>
          </a:p>
        </p:txBody>
      </p:sp>
      <p:sp>
        <p:nvSpPr>
          <p:cNvPr id="12" name="level 2"/>
          <p:cNvSpPr/>
          <p:nvPr/>
        </p:nvSpPr>
        <p:spPr>
          <a:xfrm>
            <a:off x="3063240" y="1920240"/>
            <a:ext cx="896112" cy="685800"/>
          </a:xfrm>
          <a:prstGeom prst="roundRect">
            <a:avLst>
              <a:gd name="adj" fmla="val 8000"/>
            </a:avLst>
          </a:prstGeom>
          <a:solidFill>
            <a:srgbClr val="2A3448"/>
          </a:solidFill>
          <a:ln w="12700">
            <a:solidFill>
              <a:srgbClr val="2A3448"/>
            </a:solidFill>
            <a:prstDash val="solid"/>
          </a:ln>
        </p:spPr>
      </p:sp>
      <p:sp>
        <p:nvSpPr>
          <p:cNvPr id="13" name="level text 2"/>
          <p:cNvSpPr txBox="1"/>
          <p:nvPr/>
        </p:nvSpPr>
        <p:spPr>
          <a:xfrm>
            <a:off x="3063240" y="1920240"/>
            <a:ext cx="896112" cy="68580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a:p>
            <a:pPr algn="ctr" indent="0" marL="0">
              <a:buNone/>
            </a:pPr>
            <a:r>
              <a:rPr lang="en-US" sz="900" dirty="0">
                <a:solidFill>
                  <a:srgbClr val="C9CED8"/>
                </a:solidFill>
              </a:rPr>
              <a:t>always frozen</a:t>
            </a:r>
            <a:endParaRPr lang="en-US" sz="900" dirty="0"/>
          </a:p>
        </p:txBody>
      </p:sp>
      <p:sp>
        <p:nvSpPr>
          <p:cNvPr id="14" name="level 3"/>
          <p:cNvSpPr/>
          <p:nvPr/>
        </p:nvSpPr>
        <p:spPr>
          <a:xfrm>
            <a:off x="4069080" y="1920240"/>
            <a:ext cx="896112" cy="685800"/>
          </a:xfrm>
          <a:prstGeom prst="roundRect">
            <a:avLst>
              <a:gd name="adj" fmla="val 8000"/>
            </a:avLst>
          </a:prstGeom>
          <a:solidFill>
            <a:srgbClr val="2A3448"/>
          </a:solidFill>
          <a:ln w="19050">
            <a:solidFill>
              <a:schemeClr val="accent4"/>
            </a:solidFill>
            <a:prstDash val="solid"/>
          </a:ln>
        </p:spPr>
      </p:sp>
      <p:sp>
        <p:nvSpPr>
          <p:cNvPr id="15" name="level text 3"/>
          <p:cNvSpPr txBox="1"/>
          <p:nvPr/>
        </p:nvSpPr>
        <p:spPr>
          <a:xfrm>
            <a:off x="4069080" y="1920240"/>
            <a:ext cx="896112" cy="685800"/>
          </a:xfrm>
          <a:prstGeom prst="rect">
            <a:avLst/>
          </a:prstGeom>
          <a:noFill/>
          <a:ln/>
        </p:spPr>
        <p:txBody>
          <a:bodyPr wrap="square" lIns="0" tIns="0" rIns="0" bIns="0" rtlCol="0" anchor="ctr"/>
          <a:lstStyle/>
          <a:p>
            <a:pPr algn="ctr" indent="0" marL="0">
              <a:buNone/>
            </a:pPr>
            <a:r>
              <a:rPr lang="en-US" sz="900" dirty="0">
                <a:solidFill>
                  <a:srgbClr val="C9CED8"/>
                </a:solidFill>
              </a:rPr>
              <a:t>last block</a:t>
            </a:r>
            <a:endParaRPr lang="en-US" sz="900" dirty="0"/>
          </a:p>
          <a:p>
            <a:pPr algn="ctr" indent="0" marL="0">
              <a:buNone/>
            </a:pPr>
            <a:r>
              <a:rPr lang="en-US" sz="1100" b="1" dirty="0">
                <a:solidFill>
                  <a:schemeClr val="bg1"/>
                </a:solidFill>
              </a:rPr>
              <a:t>shapes</a:t>
            </a:r>
            <a:endParaRPr lang="en-US" sz="900" dirty="0"/>
          </a:p>
          <a:p>
            <a:pPr algn="ctr" indent="0" marL="0">
              <a:buNone/>
            </a:pPr>
            <a:r>
              <a:rPr lang="en-US" sz="900" dirty="0">
                <a:solidFill>
                  <a:schemeClr val="accent4"/>
                </a:solidFill>
              </a:rPr>
              <a:t>fine-tuned: learns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trained in both ways</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ResNet, a famous CNN family (ImageNet winner in 2015), is asked by the brief. ResNet18 is its smallest member: 45 MB, light enough for a kiosk CPU.</a:t>
            </a:r>
            <a:endParaRPr lang="en-US" sz="1400" dirty="0"/>
          </a:p>
        </p:txBody>
      </p:sp>
      <p:sp>
        <p:nvSpPr>
          <p:cNvPr id="26" name="note Two ways to reuse it"/>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Two ways to reuse it"/>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Two ways to reuse it</a:t>
            </a:r>
            <a:endParaRPr lang="en-US" sz="1400" dirty="0"/>
          </a:p>
          <a:p>
            <a:pPr indent="0" marL="0">
              <a:spcAft>
                <a:spcPts val="400"/>
              </a:spcAft>
              <a:buNone/>
            </a:pPr>
            <a:r>
              <a:rPr lang="en-US" sz="1200" dirty="0">
                <a:solidFill>
                  <a:schemeClr val="tx1"/>
                </a:solidFill>
              </a:rPr>
              <a:t>Frozen: only our new layer learns (2 565 weights, 0.4 s). Fine-tuned: the last block learns too (8.4 M weights, minutes), the first layers stay frozen.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ed: lower on validation"/>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ed: lower on validation"/>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Fine-tuned: lower on validation</a:t>
            </a:r>
            <a:endParaRPr lang="en-US" sz="1500" dirty="0"/>
          </a:p>
          <a:p>
            <a:pPr indent="0" marL="0">
              <a:spcAft>
                <a:spcPts val="400"/>
              </a:spcAft>
              <a:buNone/>
            </a:pPr>
            <a:r>
              <a:rPr lang="en-US" sz="1400" dirty="0">
                <a:solidFill>
                  <a:schemeClr val="tx1"/>
                </a:solidFill>
              </a:rPr>
              <a:t>Last block learning again (8.4 M weights), first layers still frozen: 85.4 % on validation. The tests will say otherwise.</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tests: the fine-tuned ResNet18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s"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8.0"/>
          <p:cNvSpPr/>
          <p:nvPr/>
        </p:nvSpPr>
        <p:spPr>
          <a:xfrm>
            <a:off x="6263640" y="1051560"/>
            <a:ext cx="2423160" cy="1691640"/>
          </a:xfrm>
          <a:prstGeom prst="roundRect">
            <a:avLst>
              <a:gd name="adj" fmla="val 4324"/>
            </a:avLst>
          </a:prstGeom>
          <a:solidFill>
            <a:schemeClr val="accent1"/>
          </a:solidFill>
          <a:ln w="12700">
            <a:solidFill>
              <a:schemeClr val="accent1"/>
            </a:solidFill>
            <a:prstDash val="solid"/>
          </a:ln>
        </p:spPr>
      </p:sp>
      <p:sp>
        <p:nvSpPr>
          <p:cNvPr id="6" name="value +18.0"/>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+18.0</a:t>
            </a:r>
            <a:endParaRPr lang="en-US" sz="3600" dirty="0"/>
          </a:p>
        </p:txBody>
      </p:sp>
      <p:sp>
        <p:nvSpPr>
          <p:cNvPr id="7" name="caption +18.0"/>
          <p:cNvSpPr txBox="1"/>
          <p:nvPr/>
        </p:nvSpPr>
        <p:spPr>
          <a:xfrm>
            <a:off x="6446520" y="1965960"/>
            <a:ext cx="2057400" cy="640080"/>
          </a:xfrm>
          <a:prstGeom prst="rect">
            <a:avLst/>
          </a:prstGeom>
          <a:noFill/>
          <a:ln/>
        </p:spPr>
        <p:txBody>
          <a:bodyPr wrap="square" lIns="0" tIns="0" rIns="0" bIns="0" rtlCol="0" anchor="t"/>
          <a:lstStyle/>
          <a:p>
            <a:pPr indent="0" marL="0">
              <a:buNone/>
            </a:pPr>
            <a:r>
              <a:rPr lang="en-US" sz="1100" dirty="0">
                <a:solidFill>
                  <a:schemeClr val="bg1"/>
                </a:solidFill>
              </a:rPr>
              <a:t>points for even the frozen ResNet over the random forest, 440 paintings (12.7 to 23.0)</a:t>
            </a:r>
            <a:endParaRPr lang="en-US" sz="1100" dirty="0"/>
          </a:p>
        </p:txBody>
      </p:sp>
      <p:sp>
        <p:nvSpPr>
          <p:cNvPr id="8" name="card +5.0"/>
          <p:cNvSpPr/>
          <p:nvPr/>
        </p:nvSpPr>
        <p:spPr>
          <a:xfrm>
            <a:off x="6263640" y="2926080"/>
            <a:ext cx="2423160" cy="1691640"/>
          </a:xfrm>
          <a:prstGeom prst="roundRect">
            <a:avLst>
              <a:gd name="adj" fmla="val 4324"/>
            </a:avLst>
          </a:prstGeom>
          <a:solidFill>
            <a:schemeClr val="bg2"/>
          </a:solidFill>
          <a:ln w="12700">
            <a:solidFill>
              <a:schemeClr val="bg2"/>
            </a:solidFill>
            <a:prstDash val="solid"/>
          </a:ln>
        </p:spPr>
      </p:sp>
      <p:sp>
        <p:nvSpPr>
          <p:cNvPr id="9" name="value +5.0"/>
          <p:cNvSpPr txBox="1"/>
          <p:nvPr/>
        </p:nvSpPr>
        <p:spPr>
          <a:xfrm>
            <a:off x="6446520" y="3063240"/>
            <a:ext cx="205740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+5.0</a:t>
            </a:r>
            <a:endParaRPr lang="en-US" sz="3600" dirty="0"/>
          </a:p>
        </p:txBody>
      </p:sp>
      <p:sp>
        <p:nvSpPr>
          <p:cNvPr id="10" name="caption +5.0"/>
          <p:cNvSpPr txBox="1"/>
          <p:nvPr/>
        </p:nvSpPr>
        <p:spPr>
          <a:xfrm>
            <a:off x="6446520" y="3840480"/>
            <a:ext cx="2057400" cy="640080"/>
          </a:xfrm>
          <a:prstGeom prst="rect">
            <a:avLst/>
          </a:prstGeom>
          <a:noFill/>
          <a:ln/>
        </p:spPr>
        <p:txBody>
          <a:bodyPr wrap="square" lIns="0" tIns="0" rIns="0" bIns="0" rtlCol="0" anchor="t"/>
          <a:lstStyle/>
          <a:p>
            <a:pPr indent="0" marL="0">
              <a:buNone/>
            </a:pPr>
            <a:r>
              <a:rPr lang="en-US" sz="1100" dirty="0">
                <a:solidFill>
                  <a:schemeClr val="tx1"/>
                </a:solidFill>
              </a:rPr>
              <a:t>points for fine-tuning over frozen, 440 paintings (2.0 to 8.2): not luck</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53 ms</a:t>
            </a:r>
            <a:endParaRPr lang="en-US" sz="32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7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7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27 ms</a:t>
            </a:r>
            <a:endParaRPr lang="en-US" sz="3200" dirty="0"/>
          </a:p>
        </p:txBody>
      </p:sp>
      <p:sp>
        <p:nvSpPr>
          <p:cNvPr id="9" name="caption 27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45 MB</a:t>
            </a:r>
            <a:endParaRPr lang="en-US" sz="32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2.5 min"/>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2.5 min"/>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2.5 min</a:t>
            </a:r>
            <a:endParaRPr lang="en-US" sz="3200" dirty="0"/>
          </a:p>
        </p:txBody>
      </p:sp>
      <p:sp>
        <p:nvSpPr>
          <p:cNvPr id="15" name="caption 2.5 min"/>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retrain the last block and the head, in a few minutes.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a fine-tuned ResNet18</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Both tests, 440 new paintings:  our MLP 41.6 %  →  random forest 65.5 %  →  fine-tuned ResNet18 87.8 %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8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a few minutes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7.9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7.9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87.9 %</a:t>
            </a:r>
            <a:endParaRPr lang="en-US" sz="3000" dirty="0"/>
          </a:p>
        </p:txBody>
      </p:sp>
      <p:sp>
        <p:nvSpPr>
          <p:cNvPr id="18" name="caption 87.9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fine-tuned (our choice)</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the two tests</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017520"/>
                <a:gridCol w="1325880"/>
                <a:gridCol w="1280160"/>
                <a:gridCol w="1280160"/>
                <a:gridCol w="13258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1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Both tests (440)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 (our choice)</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87.8 %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Validation favoured frozen; two independent tests favour fine-tuning: +5.0 points on 440 paintings (interval 2.0 to 8.2)</a:t>
            </a:r>
            <a:endParaRPr lang="en-US" sz="1500" dirty="0"/>
          </a:p>
          <a:p>
            <a:pPr marL="342900" indent="-342900">
              <a:spcAft>
                <a:spcPts val="800"/>
              </a:spcAft>
              <a:buSzPct val="100000"/>
              <a:buChar char="•"/>
            </a:pPr>
            <a:r>
              <a:rPr lang="en-US" sz="1500" dirty="0">
                <a:solidFill>
                  <a:schemeClr val="tx1"/>
                </a:solidFill>
              </a:rPr>
              <a:t>219 validation paintings were too few to separate them: next time, choose with cross-validation on train + validation</a:t>
            </a:r>
            <a:endParaRPr lang="en-US" sz="1500" dirty="0"/>
          </a:p>
          <a:p>
            <a:pPr marL="342900" indent="-342900">
              <a:spcAft>
                <a:spcPts val="800"/>
              </a:spcAft>
              <a:buSzPct val="100000"/>
              <a:buChar char="•"/>
            </a:pPr>
            <a:r>
              <a:rPr lang="en-US" sz="1500" dirty="0">
                <a:solidFill>
                  <a:schemeClr val="tx1"/>
                </a:solidFill>
              </a:rPr>
              <a:t>The tests helped this choice, so the fine-tuned scores are slightly optimistic; a third set of new paintings would give the clean score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Notebooks 06 and 08 train the models again and get the same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Two test sets, each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Baroque</a:t>
            </a:r>
            <a:endParaRPr lang="en-US" sz="1400" dirty="0"/>
          </a:p>
          <a:p>
            <a:pPr marL="342900" indent="-342900">
              <a:spcAft>
                <a:spcPts val="800"/>
              </a:spcAft>
              <a:buSzPct val="100000"/>
              <a:buChar char="•"/>
            </a:pPr>
            <a:r>
              <a:rPr lang="en-US" sz="1400" dirty="0">
                <a:solidFill>
                  <a:schemeClr val="tx1"/>
                </a:solidFill>
              </a:rPr>
              <a:t>Hardest: Pop Art (82 %) and Impressionism</a:t>
            </a:r>
            <a:endParaRPr lang="en-US" sz="1400" dirty="0"/>
          </a:p>
          <a:p>
            <a:pPr marL="342900" indent="-342900">
              <a:spcAft>
                <a:spcPts val="800"/>
              </a:spcAft>
              <a:buSzPct val="100000"/>
              <a:buChar char="•"/>
            </a:pPr>
            <a:r>
              <a:rPr lang="en-US" sz="1400" dirty="0">
                <a:solidFill>
                  <a:schemeClr val="tx1"/>
                </a:solidFill>
              </a:rPr>
              <a:t>On validation, Cubism and Pop Art were the pair most often confused: flat strong colours, hard edges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inside ResNet18 + our linear head</a:t>
            </a:r>
            <a:endParaRPr lang="en-US" sz="3000" dirty="0"/>
          </a:p>
        </p:txBody>
      </p:sp>
      <p:sp>
        <p:nvSpPr>
          <p:cNvPr id="3" name="stage 1 painting"/>
          <p:cNvSpPr/>
          <p:nvPr/>
        </p:nvSpPr>
        <p:spPr>
          <a:xfrm>
            <a:off x="466344" y="1051560"/>
            <a:ext cx="749808" cy="1645920"/>
          </a:xfrm>
          <a:prstGeom prst="roundRect">
            <a:avLst>
              <a:gd name="adj" fmla="val 7317"/>
            </a:avLst>
          </a:prstGeom>
          <a:solidFill>
            <a:schemeClr val="bg2"/>
          </a:solidFill>
          <a:ln w="12700">
            <a:solidFill>
              <a:schemeClr val="bg2"/>
            </a:solidFill>
            <a:prstDash val="solid"/>
          </a:ln>
        </p:spPr>
      </p:sp>
      <p:sp>
        <p:nvSpPr>
          <p:cNvPr id="4" name="stage name 1 painting"/>
          <p:cNvSpPr txBox="1"/>
          <p:nvPr/>
        </p:nvSpPr>
        <p:spPr>
          <a:xfrm>
            <a:off x="466344" y="1051560"/>
            <a:ext cx="749808" cy="1645920"/>
          </a:xfrm>
          <a:prstGeom prst="rect">
            <a:avLst/>
          </a:prstGeom>
          <a:noFill/>
          <a:ln/>
        </p:spPr>
        <p:txBody>
          <a:bodyPr wrap="square" lIns="254" tIns="254" rIns="254" bIns="254" rtlCol="0" anchor="ctr"/>
          <a:lstStyle/>
          <a:p>
            <a:pPr algn="ctr" indent="0" marL="0">
              <a:buNone/>
            </a:pPr>
            <a:r>
              <a:rPr lang="en-US" sz="1000" b="1" dirty="0">
                <a:solidFill>
                  <a:schemeClr val="tx2"/>
                </a:solidFill>
              </a:rPr>
              <a:t>1 painting</a:t>
            </a:r>
            <a:endParaRPr lang="en-US" sz="1000" dirty="0"/>
          </a:p>
        </p:txBody>
      </p:sp>
      <p:sp>
        <p:nvSpPr>
          <p:cNvPr id="5" name="stage caption 1 painting"/>
          <p:cNvSpPr txBox="1"/>
          <p:nvPr/>
        </p:nvSpPr>
        <p:spPr>
          <a:xfrm>
            <a:off x="39319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224 x 224 x 3</a:t>
            </a:r>
            <a:endParaRPr lang="en-US" sz="900" dirty="0"/>
          </a:p>
        </p:txBody>
      </p:sp>
      <p:sp>
        <p:nvSpPr>
          <p:cNvPr id="6" name="stage arrow 1"/>
          <p:cNvSpPr/>
          <p:nvPr/>
        </p:nvSpPr>
        <p:spPr>
          <a:xfrm>
            <a:off x="1243584" y="1874520"/>
            <a:ext cx="128016" cy="0"/>
          </a:xfrm>
          <a:prstGeom prst="line">
            <a:avLst/>
          </a:prstGeom>
          <a:noFill/>
          <a:ln w="19050">
            <a:solidFill>
              <a:srgbClr val="3A3F4B"/>
            </a:solidFill>
            <a:prstDash val="solid"/>
            <a:tailEnd type="triangle"/>
          </a:ln>
        </p:spPr>
      </p:sp>
      <p:sp>
        <p:nvSpPr>
          <p:cNvPr id="7" name="stage conv1 + pool"/>
          <p:cNvSpPr/>
          <p:nvPr/>
        </p:nvSpPr>
        <p:spPr>
          <a:xfrm>
            <a:off x="1399032" y="1209672"/>
            <a:ext cx="749808" cy="1329695"/>
          </a:xfrm>
          <a:prstGeom prst="roundRect">
            <a:avLst>
              <a:gd name="adj" fmla="val 7317"/>
            </a:avLst>
          </a:prstGeom>
          <a:solidFill>
            <a:schemeClr val="tx2"/>
          </a:solidFill>
          <a:ln w="12700">
            <a:solidFill>
              <a:schemeClr val="tx2"/>
            </a:solidFill>
            <a:prstDash val="solid"/>
          </a:ln>
        </p:spPr>
      </p:sp>
      <p:sp>
        <p:nvSpPr>
          <p:cNvPr id="8" name="stage name conv1 + pool"/>
          <p:cNvSpPr txBox="1"/>
          <p:nvPr/>
        </p:nvSpPr>
        <p:spPr>
          <a:xfrm>
            <a:off x="1399032"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conv1 + pool</a:t>
            </a:r>
            <a:endParaRPr lang="en-US" sz="1000" dirty="0"/>
          </a:p>
        </p:txBody>
      </p:sp>
      <p:sp>
        <p:nvSpPr>
          <p:cNvPr id="9" name="stage caption conv1 + pool"/>
          <p:cNvSpPr txBox="1"/>
          <p:nvPr/>
        </p:nvSpPr>
        <p:spPr>
          <a:xfrm>
            <a:off x="132588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9.5 k weights</a:t>
            </a:r>
            <a:endParaRPr lang="en-US" sz="900" dirty="0"/>
          </a:p>
        </p:txBody>
      </p:sp>
      <p:sp>
        <p:nvSpPr>
          <p:cNvPr id="10" name="stage arrow 2"/>
          <p:cNvSpPr/>
          <p:nvPr/>
        </p:nvSpPr>
        <p:spPr>
          <a:xfrm>
            <a:off x="2176272" y="1874520"/>
            <a:ext cx="128016" cy="0"/>
          </a:xfrm>
          <a:prstGeom prst="line">
            <a:avLst/>
          </a:prstGeom>
          <a:noFill/>
          <a:ln w="19050">
            <a:solidFill>
              <a:srgbClr val="3A3F4B"/>
            </a:solidFill>
            <a:prstDash val="solid"/>
            <a:tailEnd type="triangle"/>
          </a:ln>
        </p:spPr>
      </p:sp>
      <p:sp>
        <p:nvSpPr>
          <p:cNvPr id="11" name="stage layer1"/>
          <p:cNvSpPr/>
          <p:nvPr/>
        </p:nvSpPr>
        <p:spPr>
          <a:xfrm>
            <a:off x="2331720" y="1209672"/>
            <a:ext cx="749808" cy="1329695"/>
          </a:xfrm>
          <a:prstGeom prst="roundRect">
            <a:avLst>
              <a:gd name="adj" fmla="val 7317"/>
            </a:avLst>
          </a:prstGeom>
          <a:solidFill>
            <a:schemeClr val="tx2"/>
          </a:solidFill>
          <a:ln w="12700">
            <a:solidFill>
              <a:schemeClr val="tx2"/>
            </a:solidFill>
            <a:prstDash val="solid"/>
          </a:ln>
        </p:spPr>
      </p:sp>
      <p:sp>
        <p:nvSpPr>
          <p:cNvPr id="12" name="stage name layer1"/>
          <p:cNvSpPr txBox="1"/>
          <p:nvPr/>
        </p:nvSpPr>
        <p:spPr>
          <a:xfrm>
            <a:off x="2331720"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layer1</a:t>
            </a:r>
            <a:endParaRPr lang="en-US" sz="1000" dirty="0"/>
          </a:p>
        </p:txBody>
      </p:sp>
      <p:sp>
        <p:nvSpPr>
          <p:cNvPr id="13" name="stage caption layer1"/>
          <p:cNvSpPr txBox="1"/>
          <p:nvPr/>
        </p:nvSpPr>
        <p:spPr>
          <a:xfrm>
            <a:off x="225856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148 k weights</a:t>
            </a:r>
            <a:endParaRPr lang="en-US" sz="900" dirty="0"/>
          </a:p>
        </p:txBody>
      </p:sp>
      <p:sp>
        <p:nvSpPr>
          <p:cNvPr id="14" name="stage arrow 3"/>
          <p:cNvSpPr/>
          <p:nvPr/>
        </p:nvSpPr>
        <p:spPr>
          <a:xfrm>
            <a:off x="3108960" y="1874520"/>
            <a:ext cx="128016" cy="0"/>
          </a:xfrm>
          <a:prstGeom prst="line">
            <a:avLst/>
          </a:prstGeom>
          <a:noFill/>
          <a:ln w="19050">
            <a:solidFill>
              <a:srgbClr val="3A3F4B"/>
            </a:solidFill>
            <a:prstDash val="solid"/>
            <a:tailEnd type="triangle"/>
          </a:ln>
        </p:spPr>
      </p:sp>
      <p:sp>
        <p:nvSpPr>
          <p:cNvPr id="15" name="stage layer2"/>
          <p:cNvSpPr/>
          <p:nvPr/>
        </p:nvSpPr>
        <p:spPr>
          <a:xfrm>
            <a:off x="3264408" y="1288729"/>
            <a:ext cx="749808" cy="1171583"/>
          </a:xfrm>
          <a:prstGeom prst="roundRect">
            <a:avLst>
              <a:gd name="adj" fmla="val 7317"/>
            </a:avLst>
          </a:prstGeom>
          <a:solidFill>
            <a:schemeClr val="tx2"/>
          </a:solidFill>
          <a:ln w="12700">
            <a:solidFill>
              <a:schemeClr val="tx2"/>
            </a:solidFill>
            <a:prstDash val="solid"/>
          </a:ln>
        </p:spPr>
      </p:sp>
      <p:sp>
        <p:nvSpPr>
          <p:cNvPr id="16" name="stage name layer2"/>
          <p:cNvSpPr txBox="1"/>
          <p:nvPr/>
        </p:nvSpPr>
        <p:spPr>
          <a:xfrm>
            <a:off x="3264408" y="1288729"/>
            <a:ext cx="749808" cy="1171583"/>
          </a:xfrm>
          <a:prstGeom prst="rect">
            <a:avLst/>
          </a:prstGeom>
          <a:noFill/>
          <a:ln/>
        </p:spPr>
        <p:txBody>
          <a:bodyPr wrap="square" lIns="254" tIns="254" rIns="254" bIns="254" rtlCol="0" anchor="ctr"/>
          <a:lstStyle/>
          <a:p>
            <a:pPr algn="ctr" indent="0" marL="0">
              <a:buNone/>
            </a:pPr>
            <a:r>
              <a:rPr lang="en-US" sz="1000" b="1" dirty="0">
                <a:solidFill>
                  <a:schemeClr val="bg1"/>
                </a:solidFill>
              </a:rPr>
              <a:t>layer2</a:t>
            </a:r>
            <a:endParaRPr lang="en-US" sz="1000" dirty="0"/>
          </a:p>
        </p:txBody>
      </p:sp>
      <p:sp>
        <p:nvSpPr>
          <p:cNvPr id="17" name="stage caption layer2"/>
          <p:cNvSpPr txBox="1"/>
          <p:nvPr/>
        </p:nvSpPr>
        <p:spPr>
          <a:xfrm>
            <a:off x="319125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28 x 28 x 128</a:t>
            </a:r>
            <a:endParaRPr lang="en-US" sz="900" dirty="0"/>
          </a:p>
          <a:p>
            <a:pPr algn="ctr" indent="0" marL="0">
              <a:buNone/>
            </a:pPr>
            <a:r>
              <a:rPr lang="en-US" sz="900" dirty="0">
                <a:solidFill>
                  <a:schemeClr val="tx1"/>
                </a:solidFill>
              </a:rPr>
              <a:t>526 k weights</a:t>
            </a:r>
            <a:endParaRPr lang="en-US" sz="900" dirty="0"/>
          </a:p>
        </p:txBody>
      </p:sp>
      <p:sp>
        <p:nvSpPr>
          <p:cNvPr id="18" name="stage arrow 4"/>
          <p:cNvSpPr/>
          <p:nvPr/>
        </p:nvSpPr>
        <p:spPr>
          <a:xfrm>
            <a:off x="4041648" y="1874520"/>
            <a:ext cx="128016" cy="0"/>
          </a:xfrm>
          <a:prstGeom prst="line">
            <a:avLst/>
          </a:prstGeom>
          <a:noFill/>
          <a:ln w="19050">
            <a:solidFill>
              <a:srgbClr val="3A3F4B"/>
            </a:solidFill>
            <a:prstDash val="solid"/>
            <a:tailEnd type="triangle"/>
          </a:ln>
        </p:spPr>
      </p:sp>
      <p:sp>
        <p:nvSpPr>
          <p:cNvPr id="19" name="stage layer3"/>
          <p:cNvSpPr/>
          <p:nvPr/>
        </p:nvSpPr>
        <p:spPr>
          <a:xfrm>
            <a:off x="4197096" y="1367785"/>
            <a:ext cx="749808" cy="1013470"/>
          </a:xfrm>
          <a:prstGeom prst="roundRect">
            <a:avLst>
              <a:gd name="adj" fmla="val 7317"/>
            </a:avLst>
          </a:prstGeom>
          <a:solidFill>
            <a:schemeClr val="tx2"/>
          </a:solidFill>
          <a:ln w="12700">
            <a:solidFill>
              <a:schemeClr val="tx2"/>
            </a:solidFill>
            <a:prstDash val="solid"/>
          </a:ln>
        </p:spPr>
      </p:sp>
      <p:sp>
        <p:nvSpPr>
          <p:cNvPr id="20" name="stage name layer3"/>
          <p:cNvSpPr txBox="1"/>
          <p:nvPr/>
        </p:nvSpPr>
        <p:spPr>
          <a:xfrm>
            <a:off x="4197096" y="1367785"/>
            <a:ext cx="749808" cy="1013470"/>
          </a:xfrm>
          <a:prstGeom prst="rect">
            <a:avLst/>
          </a:prstGeom>
          <a:noFill/>
          <a:ln/>
        </p:spPr>
        <p:txBody>
          <a:bodyPr wrap="square" lIns="254" tIns="254" rIns="254" bIns="254" rtlCol="0" anchor="ctr"/>
          <a:lstStyle/>
          <a:p>
            <a:pPr algn="ctr" indent="0" marL="0">
              <a:buNone/>
            </a:pPr>
            <a:r>
              <a:rPr lang="en-US" sz="1000" b="1" dirty="0">
                <a:solidFill>
                  <a:schemeClr val="bg1"/>
                </a:solidFill>
              </a:rPr>
              <a:t>layer3</a:t>
            </a:r>
            <a:endParaRPr lang="en-US" sz="1000" dirty="0"/>
          </a:p>
        </p:txBody>
      </p:sp>
      <p:sp>
        <p:nvSpPr>
          <p:cNvPr id="21" name="stage caption layer3"/>
          <p:cNvSpPr txBox="1"/>
          <p:nvPr/>
        </p:nvSpPr>
        <p:spPr>
          <a:xfrm>
            <a:off x="4123944"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14 x 14 x 256</a:t>
            </a:r>
            <a:endParaRPr lang="en-US" sz="900" dirty="0"/>
          </a:p>
          <a:p>
            <a:pPr algn="ctr" indent="0" marL="0">
              <a:buNone/>
            </a:pPr>
            <a:r>
              <a:rPr lang="en-US" sz="900" dirty="0">
                <a:solidFill>
                  <a:schemeClr val="tx1"/>
                </a:solidFill>
              </a:rPr>
              <a:t>2.1 M weights</a:t>
            </a:r>
            <a:endParaRPr lang="en-US" sz="900" dirty="0"/>
          </a:p>
        </p:txBody>
      </p:sp>
      <p:sp>
        <p:nvSpPr>
          <p:cNvPr id="22" name="stage arrow 5"/>
          <p:cNvSpPr/>
          <p:nvPr/>
        </p:nvSpPr>
        <p:spPr>
          <a:xfrm>
            <a:off x="4974336" y="1874520"/>
            <a:ext cx="128016" cy="0"/>
          </a:xfrm>
          <a:prstGeom prst="line">
            <a:avLst/>
          </a:prstGeom>
          <a:noFill/>
          <a:ln w="19050">
            <a:solidFill>
              <a:srgbClr val="3A3F4B"/>
            </a:solidFill>
            <a:prstDash val="solid"/>
            <a:tailEnd type="triangle"/>
          </a:ln>
        </p:spPr>
      </p:sp>
      <p:sp>
        <p:nvSpPr>
          <p:cNvPr id="23" name="stage layer4"/>
          <p:cNvSpPr/>
          <p:nvPr/>
        </p:nvSpPr>
        <p:spPr>
          <a:xfrm>
            <a:off x="5129784" y="1446841"/>
            <a:ext cx="749808" cy="855358"/>
          </a:xfrm>
          <a:prstGeom prst="roundRect">
            <a:avLst>
              <a:gd name="adj" fmla="val 7317"/>
            </a:avLst>
          </a:prstGeom>
          <a:solidFill>
            <a:schemeClr val="tx2"/>
          </a:solidFill>
          <a:ln w="12700">
            <a:solidFill>
              <a:schemeClr val="tx2"/>
            </a:solidFill>
            <a:prstDash val="solid"/>
          </a:ln>
        </p:spPr>
      </p:sp>
      <p:sp>
        <p:nvSpPr>
          <p:cNvPr id="24" name="stage name layer4"/>
          <p:cNvSpPr txBox="1"/>
          <p:nvPr/>
        </p:nvSpPr>
        <p:spPr>
          <a:xfrm>
            <a:off x="5129784" y="1446841"/>
            <a:ext cx="749808" cy="855358"/>
          </a:xfrm>
          <a:prstGeom prst="rect">
            <a:avLst/>
          </a:prstGeom>
          <a:noFill/>
          <a:ln/>
        </p:spPr>
        <p:txBody>
          <a:bodyPr wrap="square" lIns="254" tIns="254" rIns="254" bIns="254" rtlCol="0" anchor="ctr"/>
          <a:lstStyle/>
          <a:p>
            <a:pPr algn="ctr" indent="0" marL="0">
              <a:buNone/>
            </a:pPr>
            <a:r>
              <a:rPr lang="en-US" sz="1000" b="1" dirty="0">
                <a:solidFill>
                  <a:schemeClr val="bg1"/>
                </a:solidFill>
              </a:rPr>
              <a:t>layer4</a:t>
            </a:r>
            <a:endParaRPr lang="en-US" sz="1000" dirty="0"/>
          </a:p>
        </p:txBody>
      </p:sp>
      <p:sp>
        <p:nvSpPr>
          <p:cNvPr id="25" name="stage caption layer4"/>
          <p:cNvSpPr txBox="1"/>
          <p:nvPr/>
        </p:nvSpPr>
        <p:spPr>
          <a:xfrm>
            <a:off x="505663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7 x 7 x 512</a:t>
            </a:r>
            <a:endParaRPr lang="en-US" sz="900" dirty="0"/>
          </a:p>
          <a:p>
            <a:pPr algn="ctr" indent="0" marL="0">
              <a:buNone/>
            </a:pPr>
            <a:r>
              <a:rPr lang="en-US" sz="900" dirty="0">
                <a:solidFill>
                  <a:schemeClr val="tx1"/>
                </a:solidFill>
              </a:rPr>
              <a:t>8.4 M weights</a:t>
            </a:r>
            <a:endParaRPr lang="en-US" sz="900" dirty="0"/>
          </a:p>
        </p:txBody>
      </p:sp>
      <p:sp>
        <p:nvSpPr>
          <p:cNvPr id="26" name="stage arrow 6"/>
          <p:cNvSpPr/>
          <p:nvPr/>
        </p:nvSpPr>
        <p:spPr>
          <a:xfrm>
            <a:off x="5907024" y="1874520"/>
            <a:ext cx="128016" cy="0"/>
          </a:xfrm>
          <a:prstGeom prst="line">
            <a:avLst/>
          </a:prstGeom>
          <a:noFill/>
          <a:ln w="19050">
            <a:solidFill>
              <a:srgbClr val="3A3F4B"/>
            </a:solidFill>
            <a:prstDash val="solid"/>
            <a:tailEnd type="triangle"/>
          </a:ln>
        </p:spPr>
      </p:sp>
      <p:sp>
        <p:nvSpPr>
          <p:cNvPr id="27" name="stage average"/>
          <p:cNvSpPr/>
          <p:nvPr/>
        </p:nvSpPr>
        <p:spPr>
          <a:xfrm>
            <a:off x="6062472" y="1668780"/>
            <a:ext cx="749808" cy="411480"/>
          </a:xfrm>
          <a:prstGeom prst="roundRect">
            <a:avLst>
              <a:gd name="adj" fmla="val 13333"/>
            </a:avLst>
          </a:prstGeom>
          <a:solidFill>
            <a:schemeClr val="tx2"/>
          </a:solidFill>
          <a:ln w="12700">
            <a:solidFill>
              <a:schemeClr val="tx2"/>
            </a:solidFill>
            <a:prstDash val="solid"/>
          </a:ln>
        </p:spPr>
      </p:sp>
      <p:sp>
        <p:nvSpPr>
          <p:cNvPr id="28" name="stage name average"/>
          <p:cNvSpPr txBox="1"/>
          <p:nvPr/>
        </p:nvSpPr>
        <p:spPr>
          <a:xfrm>
            <a:off x="6062472"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average</a:t>
            </a:r>
            <a:endParaRPr lang="en-US" sz="1000" dirty="0"/>
          </a:p>
        </p:txBody>
      </p:sp>
      <p:sp>
        <p:nvSpPr>
          <p:cNvPr id="29" name="stage caption average"/>
          <p:cNvSpPr txBox="1"/>
          <p:nvPr/>
        </p:nvSpPr>
        <p:spPr>
          <a:xfrm>
            <a:off x="598932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numbers</a:t>
            </a:r>
            <a:endParaRPr lang="en-US" sz="900" dirty="0"/>
          </a:p>
          <a:p>
            <a:pPr algn="ctr" indent="0" marL="0">
              <a:buNone/>
            </a:pPr>
            <a:r>
              <a:rPr lang="en-US" sz="900" dirty="0">
                <a:solidFill>
                  <a:schemeClr val="tx1"/>
                </a:solidFill>
              </a:rPr>
              <a:t>no weights</a:t>
            </a:r>
            <a:endParaRPr lang="en-US" sz="900" dirty="0"/>
          </a:p>
        </p:txBody>
      </p:sp>
      <p:sp>
        <p:nvSpPr>
          <p:cNvPr id="30" name="stage arrow 7"/>
          <p:cNvSpPr/>
          <p:nvPr/>
        </p:nvSpPr>
        <p:spPr>
          <a:xfrm>
            <a:off x="6839712" y="1874520"/>
            <a:ext cx="128016" cy="0"/>
          </a:xfrm>
          <a:prstGeom prst="line">
            <a:avLst/>
          </a:prstGeom>
          <a:noFill/>
          <a:ln w="19050">
            <a:solidFill>
              <a:srgbClr val="3A3F4B"/>
            </a:solidFill>
            <a:prstDash val="solid"/>
            <a:tailEnd type="triangle"/>
          </a:ln>
        </p:spPr>
      </p:sp>
      <p:sp>
        <p:nvSpPr>
          <p:cNvPr id="31" name="stage linear head"/>
          <p:cNvSpPr/>
          <p:nvPr/>
        </p:nvSpPr>
        <p:spPr>
          <a:xfrm>
            <a:off x="6995160" y="1668780"/>
            <a:ext cx="749808" cy="411480"/>
          </a:xfrm>
          <a:prstGeom prst="roundRect">
            <a:avLst>
              <a:gd name="adj" fmla="val 13333"/>
            </a:avLst>
          </a:prstGeom>
          <a:solidFill>
            <a:schemeClr val="accent1"/>
          </a:solidFill>
          <a:ln w="12700">
            <a:solidFill>
              <a:schemeClr val="accent1"/>
            </a:solidFill>
            <a:prstDash val="solid"/>
          </a:ln>
        </p:spPr>
      </p:sp>
      <p:sp>
        <p:nvSpPr>
          <p:cNvPr id="32" name="stage name linear head"/>
          <p:cNvSpPr txBox="1"/>
          <p:nvPr/>
        </p:nvSpPr>
        <p:spPr>
          <a:xfrm>
            <a:off x="6995160"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linear head</a:t>
            </a:r>
            <a:endParaRPr lang="en-US" sz="1000" dirty="0"/>
          </a:p>
        </p:txBody>
      </p:sp>
      <p:sp>
        <p:nvSpPr>
          <p:cNvPr id="33" name="stage caption linear head"/>
          <p:cNvSpPr txBox="1"/>
          <p:nvPr/>
        </p:nvSpPr>
        <p:spPr>
          <a:xfrm>
            <a:off x="692200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 5</a:t>
            </a:r>
            <a:endParaRPr lang="en-US" sz="900" dirty="0"/>
          </a:p>
          <a:p>
            <a:pPr algn="ctr" indent="0" marL="0">
              <a:buNone/>
            </a:pPr>
            <a:r>
              <a:rPr lang="en-US" sz="900" dirty="0">
                <a:solidFill>
                  <a:schemeClr val="tx1"/>
                </a:solidFill>
              </a:rPr>
              <a:t>2 565 weights</a:t>
            </a:r>
            <a:endParaRPr lang="en-US" sz="900" dirty="0"/>
          </a:p>
        </p:txBody>
      </p:sp>
      <p:sp>
        <p:nvSpPr>
          <p:cNvPr id="34" name="stage arrow 8"/>
          <p:cNvSpPr/>
          <p:nvPr/>
        </p:nvSpPr>
        <p:spPr>
          <a:xfrm>
            <a:off x="7772400" y="1874520"/>
            <a:ext cx="128016" cy="0"/>
          </a:xfrm>
          <a:prstGeom prst="line">
            <a:avLst/>
          </a:prstGeom>
          <a:noFill/>
          <a:ln w="19050">
            <a:solidFill>
              <a:srgbClr val="3A3F4B"/>
            </a:solidFill>
            <a:prstDash val="solid"/>
            <a:tailEnd type="triangle"/>
          </a:ln>
        </p:spPr>
      </p:sp>
      <p:sp>
        <p:nvSpPr>
          <p:cNvPr id="35" name="stage 5 styles"/>
          <p:cNvSpPr/>
          <p:nvPr/>
        </p:nvSpPr>
        <p:spPr>
          <a:xfrm>
            <a:off x="7927848" y="1668780"/>
            <a:ext cx="749808" cy="411480"/>
          </a:xfrm>
          <a:prstGeom prst="roundRect">
            <a:avLst>
              <a:gd name="adj" fmla="val 13333"/>
            </a:avLst>
          </a:prstGeom>
          <a:solidFill>
            <a:schemeClr val="bg2"/>
          </a:solidFill>
          <a:ln w="12700">
            <a:solidFill>
              <a:schemeClr val="bg2"/>
            </a:solidFill>
            <a:prstDash val="solid"/>
          </a:ln>
        </p:spPr>
      </p:sp>
      <p:sp>
        <p:nvSpPr>
          <p:cNvPr id="36" name="stage name 5 styles"/>
          <p:cNvSpPr txBox="1"/>
          <p:nvPr/>
        </p:nvSpPr>
        <p:spPr>
          <a:xfrm>
            <a:off x="7927848"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tx2"/>
                </a:solidFill>
              </a:rPr>
              <a:t>5 styles</a:t>
            </a:r>
            <a:endParaRPr lang="en-US" sz="1000" dirty="0"/>
          </a:p>
        </p:txBody>
      </p:sp>
      <p:sp>
        <p:nvSpPr>
          <p:cNvPr id="37" name="stage caption 5 styles"/>
          <p:cNvSpPr txBox="1"/>
          <p:nvPr/>
        </p:nvSpPr>
        <p:spPr>
          <a:xfrm>
            <a:off x="785469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highest score wins</a:t>
            </a:r>
            <a:endParaRPr lang="en-US" sz="900" dirty="0"/>
          </a:p>
        </p:txBody>
      </p:sp>
      <p:sp>
        <p:nvSpPr>
          <p:cNvPr id="38" name="sees edges, colours"/>
          <p:cNvSpPr txBox="1"/>
          <p:nvPr/>
        </p:nvSpPr>
        <p:spPr>
          <a:xfrm>
            <a:off x="1353312" y="987552"/>
            <a:ext cx="1773936" cy="182880"/>
          </a:xfrm>
          <a:prstGeom prst="rect">
            <a:avLst/>
          </a:prstGeom>
          <a:noFill/>
          <a:ln/>
        </p:spPr>
        <p:txBody>
          <a:bodyPr wrap="square" lIns="0" tIns="0" rIns="0" bIns="0" rtlCol="0" anchor="ctr"/>
          <a:lstStyle/>
          <a:p>
            <a:pPr algn="ctr" indent="0" marL="0">
              <a:buNone/>
            </a:pPr>
            <a:r>
              <a:rPr lang="en-US" sz="900" i="1" dirty="0">
                <a:solidFill>
                  <a:schemeClr val="accent1"/>
                </a:solidFill>
              </a:rPr>
              <a:t>edges, colours</a:t>
            </a:r>
            <a:endParaRPr lang="en-US" sz="900" dirty="0"/>
          </a:p>
        </p:txBody>
      </p:sp>
      <p:sp>
        <p:nvSpPr>
          <p:cNvPr id="39" name="sees textures"/>
          <p:cNvSpPr txBox="1"/>
          <p:nvPr/>
        </p:nvSpPr>
        <p:spPr>
          <a:xfrm>
            <a:off x="3218688"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textures</a:t>
            </a:r>
            <a:endParaRPr lang="en-US" sz="900" dirty="0"/>
          </a:p>
        </p:txBody>
      </p:sp>
      <p:sp>
        <p:nvSpPr>
          <p:cNvPr id="40" name="sees patterns"/>
          <p:cNvSpPr txBox="1"/>
          <p:nvPr/>
        </p:nvSpPr>
        <p:spPr>
          <a:xfrm>
            <a:off x="4151376"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patterns</a:t>
            </a:r>
            <a:endParaRPr lang="en-US" sz="900" dirty="0"/>
          </a:p>
        </p:txBody>
      </p:sp>
      <p:sp>
        <p:nvSpPr>
          <p:cNvPr id="41" name="sees shapes"/>
          <p:cNvSpPr txBox="1"/>
          <p:nvPr/>
        </p:nvSpPr>
        <p:spPr>
          <a:xfrm>
            <a:off x="5084064"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shapes</a:t>
            </a:r>
            <a:endParaRPr lang="en-US" sz="900" dirty="0"/>
          </a:p>
        </p:txBody>
      </p:sp>
      <p:sp>
        <p:nvSpPr>
          <p:cNvPr id="42" name="frozen bar"/>
          <p:cNvSpPr/>
          <p:nvPr/>
        </p:nvSpPr>
        <p:spPr>
          <a:xfrm>
            <a:off x="1399032" y="3218688"/>
            <a:ext cx="3547872" cy="45720"/>
          </a:xfrm>
          <a:prstGeom prst="rect">
            <a:avLst/>
          </a:prstGeom>
          <a:solidFill>
            <a:schemeClr val="tx2"/>
          </a:solidFill>
          <a:ln w="12700">
            <a:solidFill>
              <a:schemeClr val="tx2"/>
            </a:solidFill>
            <a:prstDash val="solid"/>
          </a:ln>
        </p:spPr>
      </p:sp>
      <p:sp>
        <p:nvSpPr>
          <p:cNvPr id="43" name="frozen label"/>
          <p:cNvSpPr txBox="1"/>
          <p:nvPr/>
        </p:nvSpPr>
        <p:spPr>
          <a:xfrm>
            <a:off x="1399032" y="3291840"/>
            <a:ext cx="3547872" cy="201168"/>
          </a:xfrm>
          <a:prstGeom prst="rect">
            <a:avLst/>
          </a:prstGeom>
          <a:noFill/>
          <a:ln/>
        </p:spPr>
        <p:txBody>
          <a:bodyPr wrap="square" lIns="0" tIns="0" rIns="0" bIns="0" rtlCol="0" anchor="ctr"/>
          <a:lstStyle/>
          <a:p>
            <a:pPr algn="ctr" indent="0" marL="0">
              <a:buNone/>
            </a:pPr>
            <a:r>
              <a:rPr lang="en-US" sz="1000" b="1" dirty="0">
                <a:solidFill>
                  <a:schemeClr val="tx2"/>
                </a:solidFill>
              </a:rPr>
              <a:t>Frozen: 2.8 million weights learned on ImageNet</a:t>
            </a:r>
            <a:endParaRPr lang="en-US" sz="1000" dirty="0"/>
          </a:p>
        </p:txBody>
      </p:sp>
      <p:sp>
        <p:nvSpPr>
          <p:cNvPr id="44" name="fine-tuned bar"/>
          <p:cNvSpPr/>
          <p:nvPr/>
        </p:nvSpPr>
        <p:spPr>
          <a:xfrm>
            <a:off x="5129784" y="3218688"/>
            <a:ext cx="749808" cy="45720"/>
          </a:xfrm>
          <a:prstGeom prst="rect">
            <a:avLst/>
          </a:prstGeom>
          <a:solidFill>
            <a:schemeClr val="accent4"/>
          </a:solidFill>
          <a:ln w="12700">
            <a:solidFill>
              <a:schemeClr val="accent4"/>
            </a:solidFill>
            <a:prstDash val="solid"/>
          </a:ln>
        </p:spPr>
      </p:sp>
      <p:sp>
        <p:nvSpPr>
          <p:cNvPr id="45" name="fine-tuned label"/>
          <p:cNvSpPr txBox="1"/>
          <p:nvPr/>
        </p:nvSpPr>
        <p:spPr>
          <a:xfrm>
            <a:off x="5129784"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4"/>
                </a:solidFill>
              </a:rPr>
              <a:t>Fine-tuned</a:t>
            </a:r>
            <a:endParaRPr lang="en-US" sz="1000" dirty="0"/>
          </a:p>
        </p:txBody>
      </p:sp>
      <p:sp>
        <p:nvSpPr>
          <p:cNvPr id="46" name="trained bar"/>
          <p:cNvSpPr/>
          <p:nvPr/>
        </p:nvSpPr>
        <p:spPr>
          <a:xfrm>
            <a:off x="6995160" y="3218688"/>
            <a:ext cx="749808" cy="45720"/>
          </a:xfrm>
          <a:prstGeom prst="rect">
            <a:avLst/>
          </a:prstGeom>
          <a:solidFill>
            <a:schemeClr val="accent1"/>
          </a:solidFill>
          <a:ln w="12700">
            <a:solidFill>
              <a:schemeClr val="accent1"/>
            </a:solidFill>
            <a:prstDash val="solid"/>
          </a:ln>
        </p:spPr>
      </p:sp>
      <p:sp>
        <p:nvSpPr>
          <p:cNvPr id="47" name="trained label"/>
          <p:cNvSpPr txBox="1"/>
          <p:nvPr/>
        </p:nvSpPr>
        <p:spPr>
          <a:xfrm>
            <a:off x="6995160"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1"/>
                </a:solidFill>
              </a:rPr>
              <a:t>Trained by us</a:t>
            </a:r>
            <a:endParaRPr lang="en-US" sz="1000" dirty="0"/>
          </a:p>
        </p:txBody>
      </p:sp>
      <p:sp>
        <p:nvSpPr>
          <p:cNvPr id="48" name="block title"/>
          <p:cNvSpPr txBox="1"/>
          <p:nvPr/>
        </p:nvSpPr>
        <p:spPr>
          <a:xfrm>
            <a:off x="457200" y="3593592"/>
            <a:ext cx="3291840" cy="182880"/>
          </a:xfrm>
          <a:prstGeom prst="rect">
            <a:avLst/>
          </a:prstGeom>
          <a:noFill/>
          <a:ln/>
        </p:spPr>
        <p:txBody>
          <a:bodyPr wrap="square" lIns="0" tIns="0" rIns="0" bIns="0" rtlCol="0" anchor="ctr"/>
          <a:lstStyle/>
          <a:p>
            <a:pPr indent="0" marL="0">
              <a:buNone/>
            </a:pPr>
            <a:r>
              <a:rPr lang="en-US" sz="1100" b="1" dirty="0">
                <a:solidFill>
                  <a:schemeClr val="tx2"/>
                </a:solidFill>
              </a:rPr>
              <a:t>One residual block (2 per layer, 8 in all)</a:t>
            </a:r>
            <a:endParaRPr lang="en-US" sz="1100" dirty="0"/>
          </a:p>
        </p:txBody>
      </p:sp>
      <p:sp>
        <p:nvSpPr>
          <p:cNvPr id="49" name="block text 0 x"/>
          <p:cNvSpPr txBox="1"/>
          <p:nvPr/>
        </p:nvSpPr>
        <p:spPr>
          <a:xfrm>
            <a:off x="457200" y="4224528"/>
            <a:ext cx="274320" cy="310896"/>
          </a:xfrm>
          <a:prstGeom prst="rect">
            <a:avLst/>
          </a:prstGeom>
          <a:noFill/>
          <a:ln/>
        </p:spPr>
        <p:txBody>
          <a:bodyPr wrap="square" lIns="0" tIns="0" rIns="0" bIns="0" rtlCol="0" anchor="ctr"/>
          <a:lstStyle/>
          <a:p>
            <a:pPr algn="ctr" indent="0" marL="0">
              <a:buNone/>
            </a:pPr>
            <a:r>
              <a:rPr lang="en-US" sz="1000" b="1" dirty="0">
                <a:solidFill>
                  <a:schemeClr val="tx2"/>
                </a:solidFill>
              </a:rPr>
              <a:t>x</a:t>
            </a:r>
            <a:endParaRPr lang="en-US" sz="1000" dirty="0"/>
          </a:p>
        </p:txBody>
      </p:sp>
      <p:sp>
        <p:nvSpPr>
          <p:cNvPr id="50" name="block arrow 1"/>
          <p:cNvSpPr/>
          <p:nvPr/>
        </p:nvSpPr>
        <p:spPr>
          <a:xfrm>
            <a:off x="749808" y="4379976"/>
            <a:ext cx="118872" cy="0"/>
          </a:xfrm>
          <a:prstGeom prst="line">
            <a:avLst/>
          </a:prstGeom>
          <a:noFill/>
          <a:ln w="15875">
            <a:solidFill>
              <a:srgbClr val="3A3F4B"/>
            </a:solidFill>
            <a:prstDash val="solid"/>
            <a:tailEnd type="triangle"/>
          </a:ln>
        </p:spPr>
      </p:sp>
      <p:sp>
        <p:nvSpPr>
          <p:cNvPr id="51" name="block 1 conv 3x3"/>
          <p:cNvSpPr/>
          <p:nvPr/>
        </p:nvSpPr>
        <p:spPr>
          <a:xfrm>
            <a:off x="886968" y="4224528"/>
            <a:ext cx="731520" cy="310896"/>
          </a:xfrm>
          <a:prstGeom prst="roundRect">
            <a:avLst>
              <a:gd name="adj" fmla="val 14706"/>
            </a:avLst>
          </a:prstGeom>
          <a:solidFill>
            <a:schemeClr val="tx2"/>
          </a:solidFill>
          <a:ln w="12700">
            <a:solidFill>
              <a:schemeClr val="tx2"/>
            </a:solidFill>
            <a:prstDash val="solid"/>
          </a:ln>
        </p:spPr>
      </p:sp>
      <p:sp>
        <p:nvSpPr>
          <p:cNvPr id="52" name="block text 1 conv 3x3"/>
          <p:cNvSpPr txBox="1"/>
          <p:nvPr/>
        </p:nvSpPr>
        <p:spPr>
          <a:xfrm>
            <a:off x="886968"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3" name="block arrow 2"/>
          <p:cNvSpPr/>
          <p:nvPr/>
        </p:nvSpPr>
        <p:spPr>
          <a:xfrm>
            <a:off x="1636776" y="4379976"/>
            <a:ext cx="118872" cy="0"/>
          </a:xfrm>
          <a:prstGeom prst="line">
            <a:avLst/>
          </a:prstGeom>
          <a:noFill/>
          <a:ln w="15875">
            <a:solidFill>
              <a:srgbClr val="3A3F4B"/>
            </a:solidFill>
            <a:prstDash val="solid"/>
            <a:tailEnd type="triangle"/>
          </a:ln>
        </p:spPr>
      </p:sp>
      <p:sp>
        <p:nvSpPr>
          <p:cNvPr id="54" name="block 2 BN + ReLU"/>
          <p:cNvSpPr/>
          <p:nvPr/>
        </p:nvSpPr>
        <p:spPr>
          <a:xfrm>
            <a:off x="1773936" y="4224528"/>
            <a:ext cx="822960" cy="310896"/>
          </a:xfrm>
          <a:prstGeom prst="roundRect">
            <a:avLst>
              <a:gd name="adj" fmla="val 14706"/>
            </a:avLst>
          </a:prstGeom>
          <a:solidFill>
            <a:schemeClr val="tx2"/>
          </a:solidFill>
          <a:ln w="12700">
            <a:solidFill>
              <a:schemeClr val="tx2"/>
            </a:solidFill>
            <a:prstDash val="solid"/>
          </a:ln>
        </p:spPr>
      </p:sp>
      <p:sp>
        <p:nvSpPr>
          <p:cNvPr id="55" name="block text 2 BN + ReLU"/>
          <p:cNvSpPr txBox="1"/>
          <p:nvPr/>
        </p:nvSpPr>
        <p:spPr>
          <a:xfrm>
            <a:off x="1773936" y="4224528"/>
            <a:ext cx="822960" cy="310896"/>
          </a:xfrm>
          <a:prstGeom prst="rect">
            <a:avLst/>
          </a:prstGeom>
          <a:noFill/>
          <a:ln/>
        </p:spPr>
        <p:txBody>
          <a:bodyPr wrap="square" lIns="0" tIns="0" rIns="0" bIns="0" rtlCol="0" anchor="ctr"/>
          <a:lstStyle/>
          <a:p>
            <a:pPr algn="ctr" indent="0" marL="0">
              <a:buNone/>
            </a:pPr>
            <a:r>
              <a:rPr lang="en-US" sz="1000" b="1" dirty="0">
                <a:solidFill>
                  <a:schemeClr val="bg1"/>
                </a:solidFill>
              </a:rPr>
              <a:t>BN + ReLU</a:t>
            </a:r>
            <a:endParaRPr lang="en-US" sz="1000" dirty="0"/>
          </a:p>
        </p:txBody>
      </p:sp>
      <p:sp>
        <p:nvSpPr>
          <p:cNvPr id="56" name="block arrow 3"/>
          <p:cNvSpPr/>
          <p:nvPr/>
        </p:nvSpPr>
        <p:spPr>
          <a:xfrm>
            <a:off x="2615184" y="4379976"/>
            <a:ext cx="118872" cy="0"/>
          </a:xfrm>
          <a:prstGeom prst="line">
            <a:avLst/>
          </a:prstGeom>
          <a:noFill/>
          <a:ln w="15875">
            <a:solidFill>
              <a:srgbClr val="3A3F4B"/>
            </a:solidFill>
            <a:prstDash val="solid"/>
            <a:tailEnd type="triangle"/>
          </a:ln>
        </p:spPr>
      </p:sp>
      <p:sp>
        <p:nvSpPr>
          <p:cNvPr id="57" name="block 3 conv 3x3"/>
          <p:cNvSpPr/>
          <p:nvPr/>
        </p:nvSpPr>
        <p:spPr>
          <a:xfrm>
            <a:off x="2752344" y="4224528"/>
            <a:ext cx="731520" cy="310896"/>
          </a:xfrm>
          <a:prstGeom prst="roundRect">
            <a:avLst>
              <a:gd name="adj" fmla="val 14706"/>
            </a:avLst>
          </a:prstGeom>
          <a:solidFill>
            <a:schemeClr val="tx2"/>
          </a:solidFill>
          <a:ln w="12700">
            <a:solidFill>
              <a:schemeClr val="tx2"/>
            </a:solidFill>
            <a:prstDash val="solid"/>
          </a:ln>
        </p:spPr>
      </p:sp>
      <p:sp>
        <p:nvSpPr>
          <p:cNvPr id="58" name="block text 3 conv 3x3"/>
          <p:cNvSpPr txBox="1"/>
          <p:nvPr/>
        </p:nvSpPr>
        <p:spPr>
          <a:xfrm>
            <a:off x="2752344"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9" name="block arrow 4"/>
          <p:cNvSpPr/>
          <p:nvPr/>
        </p:nvSpPr>
        <p:spPr>
          <a:xfrm>
            <a:off x="3502152" y="4379976"/>
            <a:ext cx="118872" cy="0"/>
          </a:xfrm>
          <a:prstGeom prst="line">
            <a:avLst/>
          </a:prstGeom>
          <a:noFill/>
          <a:ln w="15875">
            <a:solidFill>
              <a:srgbClr val="3A3F4B"/>
            </a:solidFill>
            <a:prstDash val="solid"/>
            <a:tailEnd type="triangle"/>
          </a:ln>
        </p:spPr>
      </p:sp>
      <p:sp>
        <p:nvSpPr>
          <p:cNvPr id="60" name="block 4 BN"/>
          <p:cNvSpPr/>
          <p:nvPr/>
        </p:nvSpPr>
        <p:spPr>
          <a:xfrm>
            <a:off x="3639312" y="4224528"/>
            <a:ext cx="457200" cy="310896"/>
          </a:xfrm>
          <a:prstGeom prst="roundRect">
            <a:avLst>
              <a:gd name="adj" fmla="val 14706"/>
            </a:avLst>
          </a:prstGeom>
          <a:solidFill>
            <a:schemeClr val="tx2"/>
          </a:solidFill>
          <a:ln w="12700">
            <a:solidFill>
              <a:schemeClr val="tx2"/>
            </a:solidFill>
            <a:prstDash val="solid"/>
          </a:ln>
        </p:spPr>
      </p:sp>
      <p:sp>
        <p:nvSpPr>
          <p:cNvPr id="61" name="block text 4 BN"/>
          <p:cNvSpPr txBox="1"/>
          <p:nvPr/>
        </p:nvSpPr>
        <p:spPr>
          <a:xfrm>
            <a:off x="3639312" y="4224528"/>
            <a:ext cx="457200" cy="310896"/>
          </a:xfrm>
          <a:prstGeom prst="rect">
            <a:avLst/>
          </a:prstGeom>
          <a:noFill/>
          <a:ln/>
        </p:spPr>
        <p:txBody>
          <a:bodyPr wrap="square" lIns="0" tIns="0" rIns="0" bIns="0" rtlCol="0" anchor="ctr"/>
          <a:lstStyle/>
          <a:p>
            <a:pPr algn="ctr" indent="0" marL="0">
              <a:buNone/>
            </a:pPr>
            <a:r>
              <a:rPr lang="en-US" sz="1000" b="1" dirty="0">
                <a:solidFill>
                  <a:schemeClr val="bg1"/>
                </a:solidFill>
              </a:rPr>
              <a:t>BN</a:t>
            </a:r>
            <a:endParaRPr lang="en-US" sz="1000" dirty="0"/>
          </a:p>
        </p:txBody>
      </p:sp>
      <p:sp>
        <p:nvSpPr>
          <p:cNvPr id="62" name="block arrow 5"/>
          <p:cNvSpPr/>
          <p:nvPr/>
        </p:nvSpPr>
        <p:spPr>
          <a:xfrm>
            <a:off x="4114800" y="4379976"/>
            <a:ext cx="118872" cy="0"/>
          </a:xfrm>
          <a:prstGeom prst="line">
            <a:avLst/>
          </a:prstGeom>
          <a:noFill/>
          <a:ln w="15875">
            <a:solidFill>
              <a:srgbClr val="3A3F4B"/>
            </a:solidFill>
            <a:prstDash val="solid"/>
            <a:tailEnd type="triangle"/>
          </a:ln>
        </p:spPr>
      </p:sp>
      <p:sp>
        <p:nvSpPr>
          <p:cNvPr id="63" name="block add"/>
          <p:cNvSpPr/>
          <p:nvPr/>
        </p:nvSpPr>
        <p:spPr>
          <a:xfrm>
            <a:off x="4251960" y="4224528"/>
            <a:ext cx="310896" cy="310896"/>
          </a:xfrm>
          <a:prstGeom prst="ellipse">
            <a:avLst/>
          </a:prstGeom>
          <a:solidFill>
            <a:schemeClr val="accent1"/>
          </a:solidFill>
          <a:ln w="12700">
            <a:solidFill>
              <a:schemeClr val="accent1"/>
            </a:solidFill>
            <a:prstDash val="solid"/>
          </a:ln>
        </p:spPr>
      </p:sp>
      <p:sp>
        <p:nvSpPr>
          <p:cNvPr id="64" name="block text 5 +"/>
          <p:cNvSpPr txBox="1"/>
          <p:nvPr/>
        </p:nvSpPr>
        <p:spPr>
          <a:xfrm>
            <a:off x="4251960" y="422452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5" name="block arrow 6"/>
          <p:cNvSpPr/>
          <p:nvPr/>
        </p:nvSpPr>
        <p:spPr>
          <a:xfrm>
            <a:off x="4581144" y="4379976"/>
            <a:ext cx="118872" cy="0"/>
          </a:xfrm>
          <a:prstGeom prst="line">
            <a:avLst/>
          </a:prstGeom>
          <a:noFill/>
          <a:ln w="15875">
            <a:solidFill>
              <a:srgbClr val="3A3F4B"/>
            </a:solidFill>
            <a:prstDash val="solid"/>
            <a:tailEnd type="triangle"/>
          </a:ln>
        </p:spPr>
      </p:sp>
      <p:sp>
        <p:nvSpPr>
          <p:cNvPr id="66" name="block 6 ReLU"/>
          <p:cNvSpPr/>
          <p:nvPr/>
        </p:nvSpPr>
        <p:spPr>
          <a:xfrm>
            <a:off x="4718304" y="4224528"/>
            <a:ext cx="548640" cy="310896"/>
          </a:xfrm>
          <a:prstGeom prst="roundRect">
            <a:avLst>
              <a:gd name="adj" fmla="val 14706"/>
            </a:avLst>
          </a:prstGeom>
          <a:solidFill>
            <a:schemeClr val="tx2"/>
          </a:solidFill>
          <a:ln w="12700">
            <a:solidFill>
              <a:schemeClr val="tx2"/>
            </a:solidFill>
            <a:prstDash val="solid"/>
          </a:ln>
        </p:spPr>
      </p:sp>
      <p:sp>
        <p:nvSpPr>
          <p:cNvPr id="67" name="block text 6 ReLU"/>
          <p:cNvSpPr txBox="1"/>
          <p:nvPr/>
        </p:nvSpPr>
        <p:spPr>
          <a:xfrm>
            <a:off x="4718304" y="4224528"/>
            <a:ext cx="548640" cy="310896"/>
          </a:xfrm>
          <a:prstGeom prst="rect">
            <a:avLst/>
          </a:prstGeom>
          <a:noFill/>
          <a:ln/>
        </p:spPr>
        <p:txBody>
          <a:bodyPr wrap="square" lIns="0" tIns="0" rIns="0" bIns="0" rtlCol="0" anchor="ctr"/>
          <a:lstStyle/>
          <a:p>
            <a:pPr algn="ctr" indent="0" marL="0">
              <a:buNone/>
            </a:pPr>
            <a:r>
              <a:rPr lang="en-US" sz="1000" b="1" dirty="0">
                <a:solidFill>
                  <a:schemeClr val="bg1"/>
                </a:solidFill>
              </a:rPr>
              <a:t>ReLU</a:t>
            </a:r>
            <a:endParaRPr lang="en-US" sz="1000" dirty="0"/>
          </a:p>
        </p:txBody>
      </p:sp>
      <p:sp>
        <p:nvSpPr>
          <p:cNvPr id="68" name="block arrow 7"/>
          <p:cNvSpPr/>
          <p:nvPr/>
        </p:nvSpPr>
        <p:spPr>
          <a:xfrm>
            <a:off x="5285232" y="4379976"/>
            <a:ext cx="118872" cy="0"/>
          </a:xfrm>
          <a:prstGeom prst="line">
            <a:avLst/>
          </a:prstGeom>
          <a:noFill/>
          <a:ln w="15875">
            <a:solidFill>
              <a:srgbClr val="3A3F4B"/>
            </a:solidFill>
            <a:prstDash val="solid"/>
            <a:tailEnd type="triangle"/>
          </a:ln>
        </p:spPr>
      </p:sp>
      <p:sp>
        <p:nvSpPr>
          <p:cNvPr id="69" name="block text 7 out"/>
          <p:cNvSpPr txBox="1"/>
          <p:nvPr/>
        </p:nvSpPr>
        <p:spPr>
          <a:xfrm>
            <a:off x="5422392" y="4224528"/>
            <a:ext cx="320040" cy="310896"/>
          </a:xfrm>
          <a:prstGeom prst="rect">
            <a:avLst/>
          </a:prstGeom>
          <a:noFill/>
          <a:ln/>
        </p:spPr>
        <p:txBody>
          <a:bodyPr wrap="square" lIns="0" tIns="0" rIns="0" bIns="0" rtlCol="0" anchor="ctr"/>
          <a:lstStyle/>
          <a:p>
            <a:pPr algn="ctr" indent="0" marL="0">
              <a:buNone/>
            </a:pPr>
            <a:r>
              <a:rPr lang="en-US" sz="1000" b="1" dirty="0">
                <a:solidFill>
                  <a:schemeClr val="tx2"/>
                </a:solidFill>
              </a:rPr>
              <a:t>out</a:t>
            </a:r>
            <a:endParaRPr lang="en-US" sz="1000" dirty="0"/>
          </a:p>
        </p:txBody>
      </p:sp>
      <p:sp>
        <p:nvSpPr>
          <p:cNvPr id="70" name="shortcut up"/>
          <p:cNvSpPr/>
          <p:nvPr/>
        </p:nvSpPr>
        <p:spPr>
          <a:xfrm>
            <a:off x="594360" y="3959352"/>
            <a:ext cx="0" cy="265176"/>
          </a:xfrm>
          <a:prstGeom prst="line">
            <a:avLst/>
          </a:prstGeom>
          <a:noFill/>
          <a:ln w="19050">
            <a:solidFill>
              <a:schemeClr val="accent1"/>
            </a:solidFill>
            <a:prstDash val="solid"/>
          </a:ln>
        </p:spPr>
      </p:sp>
      <p:sp>
        <p:nvSpPr>
          <p:cNvPr id="71" name="shortcut across"/>
          <p:cNvSpPr/>
          <p:nvPr/>
        </p:nvSpPr>
        <p:spPr>
          <a:xfrm>
            <a:off x="594360" y="3959352"/>
            <a:ext cx="3813048" cy="0"/>
          </a:xfrm>
          <a:prstGeom prst="line">
            <a:avLst/>
          </a:prstGeom>
          <a:noFill/>
          <a:ln w="19050">
            <a:solidFill>
              <a:schemeClr val="accent1"/>
            </a:solidFill>
            <a:prstDash val="solid"/>
          </a:ln>
        </p:spPr>
      </p:sp>
      <p:sp>
        <p:nvSpPr>
          <p:cNvPr id="72" name="shortcut down"/>
          <p:cNvSpPr/>
          <p:nvPr/>
        </p:nvSpPr>
        <p:spPr>
          <a:xfrm>
            <a:off x="4407408" y="3959352"/>
            <a:ext cx="0" cy="265176"/>
          </a:xfrm>
          <a:prstGeom prst="line">
            <a:avLst/>
          </a:prstGeom>
          <a:noFill/>
          <a:ln w="19050">
            <a:solidFill>
              <a:schemeClr val="accent1"/>
            </a:solidFill>
            <a:prstDash val="solid"/>
            <a:tailEnd type="triangle"/>
          </a:ln>
        </p:spPr>
      </p:sp>
      <p:sp>
        <p:nvSpPr>
          <p:cNvPr id="73" name="shortcut label"/>
          <p:cNvSpPr txBox="1"/>
          <p:nvPr/>
        </p:nvSpPr>
        <p:spPr>
          <a:xfrm>
            <a:off x="594360" y="3758184"/>
            <a:ext cx="38130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shortcut: the input x is added back</a:t>
            </a:r>
            <a:endParaRPr lang="en-US" sz="900" dirty="0"/>
          </a:p>
        </p:txBody>
      </p:sp>
      <p:sp>
        <p:nvSpPr>
          <p:cNvPr id="74" name="residual text"/>
          <p:cNvSpPr txBox="1"/>
          <p:nvPr/>
        </p:nvSpPr>
        <p:spPr>
          <a:xfrm>
            <a:off x="5897880" y="3593592"/>
            <a:ext cx="2788920" cy="1051560"/>
          </a:xfrm>
          <a:prstGeom prst="rect">
            <a:avLst/>
          </a:prstGeom>
          <a:noFill/>
          <a:ln/>
        </p:spPr>
        <p:txBody>
          <a:bodyPr wrap="square" lIns="0" tIns="0" rIns="0" bIns="0" rtlCol="0" anchor="t"/>
          <a:lstStyle/>
          <a:p>
            <a:pPr indent="0" marL="0">
              <a:buNone/>
            </a:pPr>
            <a:r>
              <a:rPr lang="en-US" sz="1100" b="1" dirty="0">
                <a:solidFill>
                  <a:schemeClr val="tx2"/>
                </a:solidFill>
              </a:rPr>
              <a:t>Why "Res" (residual): </a:t>
            </a:r>
            <a:pPr indent="0" marL="0">
              <a:buNone/>
            </a:pPr>
            <a:r>
              <a:rPr lang="en-US" sz="1100" dirty="0">
                <a:solidFill>
                  <a:schemeClr val="tx1"/>
                </a:solidFill>
              </a:rPr>
              <a:t>each block only learns a correction added to its input. The gradient flows back through the shortcuts, so all the layers learn. 18 layers = conv1 + 16 convolutions in the blocks + the last layer.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pretrained? ResNet18 from zero</a:t>
            </a:r>
            <a:endParaRPr lang="en-US" sz="3000" dirty="0"/>
          </a:p>
        </p:txBody>
      </p:sp>
      <p:graphicFrame>
        <p:nvGraphicFramePr>
          <p:cNvPr id="3" name="chart from zero"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card -26.5"/>
          <p:cNvSpPr/>
          <p:nvPr/>
        </p:nvSpPr>
        <p:spPr>
          <a:xfrm>
            <a:off x="5532120" y="1051560"/>
            <a:ext cx="3154680" cy="1417320"/>
          </a:xfrm>
          <a:prstGeom prst="roundRect">
            <a:avLst>
              <a:gd name="adj" fmla="val 5161"/>
            </a:avLst>
          </a:prstGeom>
          <a:solidFill>
            <a:schemeClr val="accent1"/>
          </a:solidFill>
          <a:ln w="12700">
            <a:solidFill>
              <a:schemeClr val="accent1"/>
            </a:solidFill>
            <a:prstDash val="solid"/>
          </a:ln>
        </p:spPr>
      </p:sp>
      <p:sp>
        <p:nvSpPr>
          <p:cNvPr id="5" name="value -26.5"/>
          <p:cNvSpPr txBox="1"/>
          <p:nvPr/>
        </p:nvSpPr>
        <p:spPr>
          <a:xfrm>
            <a:off x="5715000" y="1188720"/>
            <a:ext cx="278892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-26.5</a:t>
            </a:r>
            <a:endParaRPr lang="en-US" sz="3600" dirty="0"/>
          </a:p>
        </p:txBody>
      </p:sp>
      <p:sp>
        <p:nvSpPr>
          <p:cNvPr id="6" name="caption -26.5"/>
          <p:cNvSpPr txBox="1"/>
          <p:nvPr/>
        </p:nvSpPr>
        <p:spPr>
          <a:xfrm>
            <a:off x="5715000" y="1965960"/>
            <a:ext cx="2788920" cy="365760"/>
          </a:xfrm>
          <a:prstGeom prst="rect">
            <a:avLst/>
          </a:prstGeom>
          <a:noFill/>
          <a:ln/>
        </p:spPr>
        <p:txBody>
          <a:bodyPr wrap="square" lIns="0" tIns="0" rIns="0" bIns="0" rtlCol="0" anchor="t"/>
          <a:lstStyle/>
          <a:p>
            <a:pPr indent="0" marL="0">
              <a:buNone/>
            </a:pPr>
            <a:r>
              <a:rPr lang="en-US" sz="1200" dirty="0">
                <a:solidFill>
                  <a:schemeClr val="bg1"/>
                </a:solidFill>
              </a:rPr>
              <a:t>points without the pretraining: same network, same paintings</a:t>
            </a:r>
            <a:endParaRPr lang="en-US" sz="1200" dirty="0"/>
          </a:p>
        </p:txBody>
      </p:sp>
      <p:sp>
        <p:nvSpPr>
          <p:cNvPr id="7" name="note How we trained it"/>
          <p:cNvSpPr/>
          <p:nvPr/>
        </p:nvSpPr>
        <p:spPr>
          <a:xfrm>
            <a:off x="5532120" y="2606040"/>
            <a:ext cx="3154680" cy="960120"/>
          </a:xfrm>
          <a:prstGeom prst="roundRect">
            <a:avLst>
              <a:gd name="adj" fmla="val 7619"/>
            </a:avLst>
          </a:prstGeom>
          <a:solidFill>
            <a:schemeClr val="bg2"/>
          </a:solidFill>
          <a:ln w="12700">
            <a:solidFill>
              <a:schemeClr val="bg2"/>
            </a:solidFill>
            <a:prstDash val="solid"/>
          </a:ln>
        </p:spPr>
      </p:sp>
      <p:sp>
        <p:nvSpPr>
          <p:cNvPr id="8" name="text How we trained it"/>
          <p:cNvSpPr txBox="1"/>
          <p:nvPr/>
        </p:nvSpPr>
        <p:spPr>
          <a:xfrm>
            <a:off x="5696712" y="271576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How we trained it</a:t>
            </a:r>
            <a:endParaRPr lang="en-US" sz="1300" dirty="0"/>
          </a:p>
          <a:p>
            <a:pPr indent="0" marL="0">
              <a:spcAft>
                <a:spcPts val="400"/>
              </a:spcAft>
              <a:buNone/>
            </a:pPr>
            <a:r>
              <a:rPr lang="en-US" sz="1100" dirty="0">
                <a:solidFill>
                  <a:schemeClr val="tx1"/>
                </a:solidFill>
              </a:rPr>
              <a:t>Random weights, every layer learns (11.2 M). Crop + flip, AdamW, 30 epochs, 24 min. One seed.</a:t>
            </a:r>
            <a:endParaRPr lang="en-US" sz="1300" dirty="0"/>
          </a:p>
        </p:txBody>
      </p:sp>
      <p:sp>
        <p:nvSpPr>
          <p:cNvPr id="9" name="note What it shows"/>
          <p:cNvSpPr/>
          <p:nvPr/>
        </p:nvSpPr>
        <p:spPr>
          <a:xfrm>
            <a:off x="5532120" y="3657600"/>
            <a:ext cx="3154680" cy="960120"/>
          </a:xfrm>
          <a:prstGeom prst="roundRect">
            <a:avLst>
              <a:gd name="adj" fmla="val 7619"/>
            </a:avLst>
          </a:prstGeom>
          <a:solidFill>
            <a:schemeClr val="bg2"/>
          </a:solidFill>
          <a:ln w="12700">
            <a:solidFill>
              <a:schemeClr val="bg2"/>
            </a:solidFill>
            <a:prstDash val="solid"/>
          </a:ln>
        </p:spPr>
      </p:sp>
      <p:sp>
        <p:nvSpPr>
          <p:cNvPr id="10" name="text What it shows"/>
          <p:cNvSpPr txBox="1"/>
          <p:nvPr/>
        </p:nvSpPr>
        <p:spPr>
          <a:xfrm>
            <a:off x="5696712" y="376732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What it shows</a:t>
            </a:r>
            <a:endParaRPr lang="en-US" sz="1300" dirty="0"/>
          </a:p>
          <a:p>
            <a:pPr indent="0" marL="0">
              <a:spcAft>
                <a:spcPts val="400"/>
              </a:spcAft>
              <a:buNone/>
            </a:pPr>
            <a:r>
              <a:rPr lang="en-US" sz="1100" dirty="0">
                <a:solidFill>
                  <a:schemeClr val="tx1"/>
                </a:solidFill>
              </a:rPr>
              <a:t>Better than our MLP, but only like the random forest: the 1.2 million ImageNet photos make the difference.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2026-10-21T19:06:16Z</dcterms:created>
  <dcterms:modified xsi:type="dcterms:W3CDTF">2026-10-21T19:06:16Z</dcterms:modified>
</cp:coreProperties>
</file>