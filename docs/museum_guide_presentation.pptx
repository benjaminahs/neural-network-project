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b5153d7f-de66-c0dd-f51d-50bfe7c49577}">
          <p14:sldIdLst>
            <p14:sldId id="256"/>
            <p14:sldId id="257"/>
            <p14:sldId id="258"/>
          </p14:sldIdLst>
        </p14:section>
        <p14:section name="Our MLP" id="{f412b7f4-db50-4e82-fb80-ace0e5049c2d}">
          <p14:sldIdLst>
            <p14:sldId id="259"/>
            <p14:sldId id="260"/>
            <p14:sldId id="261"/>
          </p14:sldIdLst>
        </p14:section>
        <p14:section name="Pretrained ResNet" id="{cb7485ac-c1e9-97df-6b2f-7d05d4f2cedd}">
          <p14:sldIdLst>
            <p14:sldId id="262"/>
            <p14:sldId id="263"/>
          </p14:sldIdLst>
        </p14:section>
        <p14:section name="The answer" id="{8a88959c-610a-9931-d11b-434e0d73433c}">
          <p14:sldIdLst>
            <p14:sldId id="264"/>
            <p14:sldId id="265"/>
            <p14:sldId id="266"/>
          </p14:sldIdLst>
        </p14:section>
        <p14:section name="Backup" id="{670931b6-0e94-28f6-7bdc-03a40ae2c03f}">
          <p14:sldIdLst>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Baseline</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Sheet1!$B$2:$B$9</c:f>
              <c:numCache>
                <c:formatCode>General</c:formatCode>
                <c:ptCount val="8"/>
                <c:pt idx="0">
                  <c:v>191</c:v>
                </c:pt>
                <c:pt idx="1">
                  <c:v>0</c:v>
                </c:pt>
                <c:pt idx="2">
                  <c:v>0</c:v>
                </c:pt>
                <c:pt idx="3">
                  <c:v>0</c:v>
                </c:pt>
                <c:pt idx="4">
                  <c:v>0</c:v>
                </c:pt>
                <c:pt idx="5">
                  <c:v>0</c:v>
                </c:pt>
                <c:pt idx="6">
                  <c:v>0</c:v>
                </c:pt>
                <c:pt idx="7">
                  <c:v>0</c:v>
                </c:pt>
              </c:numCache>
            </c:numRef>
          </c:val>
        </c:ser>
        <c:ser>
          <c:idx val="1"/>
          <c:order val="1"/>
          <c:tx>
            <c:strRef>
              <c:f>Sheet1!$C$1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Sheet1!$C$2:$C$9</c:f>
              <c:numCache>
                <c:formatCode>General</c:formatCode>
                <c:ptCount val="8"/>
                <c:pt idx="0">
                  <c:v>0</c:v>
                </c:pt>
                <c:pt idx="1">
                  <c:v>327</c:v>
                </c:pt>
                <c:pt idx="2">
                  <c:v>0</c:v>
                </c:pt>
                <c:pt idx="3">
                  <c:v>614</c:v>
                </c:pt>
                <c:pt idx="4">
                  <c:v>673</c:v>
                </c:pt>
                <c:pt idx="5">
                  <c:v>0</c:v>
                </c:pt>
                <c:pt idx="6">
                  <c:v>0</c:v>
                </c:pt>
                <c:pt idx="7">
                  <c:v>0</c:v>
                </c:pt>
              </c:numCache>
            </c:numRef>
          </c:val>
        </c:ser>
        <c:ser>
          <c:idx val="2"/>
          <c:order val="2"/>
          <c:tx>
            <c:strRef>
              <c:f>Sheet1!$D$1</c:f>
              <c:strCache>
                <c:ptCount val="1"/>
                <c:pt idx="0">
                  <c:v>Hybrid</c:v>
                </c:pt>
              </c:strCache>
            </c:strRef>
          </c:tx>
          <c:spPr>
            <a:solidFill>
              <a:srgbClr val="1BAF7A"/>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Sheet1!$D$2:$D$9</c:f>
              <c:numCache>
                <c:formatCode>General</c:formatCode>
                <c:ptCount val="8"/>
                <c:pt idx="0">
                  <c:v>0</c:v>
                </c:pt>
                <c:pt idx="1">
                  <c:v>0</c:v>
                </c:pt>
                <c:pt idx="2">
                  <c:v>0</c:v>
                </c:pt>
                <c:pt idx="3">
                  <c:v>0</c:v>
                </c:pt>
                <c:pt idx="4">
                  <c:v>0</c:v>
                </c:pt>
                <c:pt idx="5">
                  <c:v>0</c:v>
                </c:pt>
                <c:pt idx="6">
                  <c:v>845</c:v>
                </c:pt>
                <c:pt idx="7">
                  <c:v>0</c:v>
                </c:pt>
              </c:numCache>
            </c:numRef>
          </c:val>
        </c:ser>
        <c:ser>
          <c:idx val="3"/>
          <c:order val="3"/>
          <c:tx>
            <c:strRef>
              <c:f>Sheet1!$E$1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Sheet1!$E$2:$E$9</c:f>
              <c:numCache>
                <c:formatCode>General</c:formatCode>
                <c:ptCount val="8"/>
                <c:pt idx="0">
                  <c:v>0</c:v>
                </c:pt>
                <c:pt idx="1">
                  <c:v>0</c:v>
                </c:pt>
                <c:pt idx="2">
                  <c:v>414</c:v>
                </c:pt>
                <c:pt idx="3">
                  <c:v>0</c:v>
                </c:pt>
                <c:pt idx="4">
                  <c:v>0</c:v>
                </c:pt>
                <c:pt idx="5">
                  <c:v>830</c:v>
                </c:pt>
                <c:pt idx="6">
                  <c:v>0</c:v>
                </c:pt>
                <c:pt idx="7">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are in a museum. You point your phone at a painting, and a guide tells you its style and the story of that movement. Our museum wants exactly this, on visitors' phones and on kiosks in the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answer first. We tested every model on 220 paintings that no model had seen before. A pretrained ResNet18, frozen, with only one linear layer trained on top, recognises the style 83 percent of the time. The best classical model, a random forest on colour and texture features made by hand, reaches 67 percent. Our own network, an MLP trained from zero on the pixels, reaches 41 percent. And the ResNet is affordable: 53 milliseconds per photo on one CPU thread, a 45 megabyte file, 17 seconds of training on a laptop, and no GPU. So yes, a neural network is worth it, but a pretrained one that we reuse. In the next minutes, I will show how we got these numbers, and why you can trust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data. We took 1 500 paintings from WikiArt, 300 per style. We used the course script with a fixed seed, so anyone can download exactly the same images.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I will come back to this, because we measured its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network of the course: a multi-layer perceptron built from nn.Linear layers and ReLU, with our own training loop.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and the validation loss goes up after epoch 3. This is overfitting: the network learns the paintings by heart.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looked inside the network during training, not only at the loss. The gradient reaches every layer and only 4 percent of the neurons are dead: the training is healthy, the problem is overfitting. We also tried 8 learning rates and kept 0.0001. Then we tested the tools of session 6, each with 3 seeds, because one run on 219 images is noisy. Alone, each tool helps a little. All together, weight decay, dropout, batch norm, flips, early stopping and a cosine schedule take the MLP from 38.8 to 45.5 percent, and the gap between train and validation from 0.61 to 0.12. But one number shows the real limit: the MLP finds only 7 percent of the Cubist paintings. It sees colours, not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ready for problems in production, we broke the training four times on purpose, and diagnosed each run. A learning rate 100 times too big killed 99.6 percent of the neurons of layer 2. A forgotten zero_grad made the gradients pile up: 26 times bigger after two epochs. Raw pixels, without standardisation, gave a first loss of 16 instead of 1.6. And eight sigmoid layers gave a vanishing gradient: the first layer received less than a millionth of the gradient of the last one. The lesson: two of these bugs show the same symptom, a loss stuck at ln 5. Only the monitoring, dead neurons or the gradient per layer, can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see shapes, we need a convolutional network. With only 1 061 images we cannot train one from zero, so we reuse ResNet18, already trained on 1.2 million ImageNet photos. We freeze it: each painting becomes 512 numbers, and we train only one linear layer, 2 565 weights, in less than a second. Result: 88.1 percent on validation, almost twice our best MLP. We also fine-tuned the last block: 8.4 million weights for 1 061 images. It overfits: 85.4 percent. And we measured two silent bugs: forgetting model.eval() drops the score to 12.8 percent, and forgetting the ImageNet normalisation costs 6 points. Nothing crashes: only measuring shows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painter rule from the beginning. To measure it fairly, we scored the same images twice with cross-validation, and changed only one thing: whether the model had seen other paintings by the same painter. On images by known painters: 83.7 percent when the painter was seen, 72.3 when not. 11 points of flattery. On the control group, the unknown painters, nothing changes. So the model partly recognises painters, and a random split would have given the director a score that is too good. Our split protects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test, measured once, on 220 new paintings. The pretrained models are at the top, from 83 to 88 percent. The best classical model reaches 67, our MLP 41. Is the gap real? A paired bootstrap, 5 000 redraws of the same test paintings, gives our model a lead of 16.4 points over the random forest, between 9 and 24 points: it is not luck. One honest note: the fine-tuned model is first on the test, but it was second on validation. With about 220 images, a score moves by about 5 points by chance, so we keep the model we chose before the test. Choosing a model on the test would make the test useless.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it affordable on a kiosk? We timed one photo at a time, from the image to the answer. The ResNet needs 53 milliseconds on one CPU thread, 26 with four threads: faster than a blink. Even on a kiosk four times slower, it answers in a fifth of a second. The model file is 45 megabytes. And when the collection changes, we only recompute the features and retrain one layer,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recommendation to the director: deploy a frozen ResNet18 with a linear head. Why? It is accurate: one visitor in six gets a wrong style, against one in three with the best classical model. It is fast enough for a modest CPU. And it is cheap for a small team: no GPU, no big training, one small layer retrained in seconds. We do not recommend our MLP on pixels, a classical model alone, or fine-tuning for now: it is slower and not proven better. Before the launch, we must test a few hundred real photos taken at the kiosks, add more styles, and measure the real hardware. Everything is reproducible in our Git repository.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answer: yes, a pretrained network</a:t>
            </a:r>
            <a:endParaRPr lang="en-US" sz="3000" dirty="0"/>
          </a:p>
        </p:txBody>
      </p:sp>
      <p:sp>
        <p:nvSpPr>
          <p:cNvPr id="3" name="subtitle answer"/>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dirty="0">
                <a:solidFill>
                  <a:srgbClr val="5F6473"/>
                </a:solidFill>
              </a:rPr>
              <a:t>Accuracy on 220 paintings that no model saw before (test set, measured once)</a:t>
            </a:r>
            <a:endParaRPr lang="en-US" sz="1400" dirty="0"/>
          </a:p>
        </p:txBody>
      </p:sp>
      <p:sp>
        <p:nvSpPr>
          <p:cNvPr id="4" name="card 83.0 %"/>
          <p:cNvSpPr/>
          <p:nvPr/>
        </p:nvSpPr>
        <p:spPr>
          <a:xfrm>
            <a:off x="457200" y="1417320"/>
            <a:ext cx="2606040" cy="2011680"/>
          </a:xfrm>
          <a:prstGeom prst="roundRect">
            <a:avLst>
              <a:gd name="adj" fmla="val 3636"/>
            </a:avLst>
          </a:prstGeom>
          <a:solidFill>
            <a:schemeClr val="accent1"/>
          </a:solidFill>
          <a:ln w="12700">
            <a:solidFill>
              <a:schemeClr val="accent1"/>
            </a:solidFill>
            <a:prstDash val="solid"/>
          </a:ln>
        </p:spPr>
      </p:sp>
      <p:sp>
        <p:nvSpPr>
          <p:cNvPr id="5" name="value 83.0 %"/>
          <p:cNvSpPr txBox="1"/>
          <p:nvPr/>
        </p:nvSpPr>
        <p:spPr>
          <a:xfrm>
            <a:off x="640080" y="1554480"/>
            <a:ext cx="2240280" cy="73152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83.0 %</a:t>
            </a:r>
            <a:endParaRPr lang="en-US" sz="4400" dirty="0"/>
          </a:p>
        </p:txBody>
      </p:sp>
      <p:sp>
        <p:nvSpPr>
          <p:cNvPr id="6" name="caption 83.0 %"/>
          <p:cNvSpPr txBox="1"/>
          <p:nvPr/>
        </p:nvSpPr>
        <p:spPr>
          <a:xfrm>
            <a:off x="640080" y="2331720"/>
            <a:ext cx="2240280" cy="960120"/>
          </a:xfrm>
          <a:prstGeom prst="rect">
            <a:avLst/>
          </a:prstGeom>
          <a:noFill/>
          <a:ln/>
        </p:spPr>
        <p:txBody>
          <a:bodyPr wrap="square" lIns="0" tIns="0" rIns="0" bIns="0" rtlCol="0" anchor="t"/>
          <a:lstStyle/>
          <a:p>
            <a:pPr indent="0" marL="0">
              <a:buNone/>
            </a:pPr>
            <a:r>
              <a:rPr lang="en-US" sz="1400" dirty="0">
                <a:solidFill>
                  <a:schemeClr val="bg1"/>
                </a:solidFill>
              </a:rPr>
              <a:t>Pretrained ResNet18, frozen, one trained linear layer</a:t>
            </a:r>
            <a:endParaRPr lang="en-US" sz="1400" dirty="0"/>
          </a:p>
        </p:txBody>
      </p:sp>
      <p:sp>
        <p:nvSpPr>
          <p:cNvPr id="7" name="card 67.3 %"/>
          <p:cNvSpPr/>
          <p:nvPr/>
        </p:nvSpPr>
        <p:spPr>
          <a:xfrm>
            <a:off x="3268980" y="1417320"/>
            <a:ext cx="2606040" cy="2011680"/>
          </a:xfrm>
          <a:prstGeom prst="roundRect">
            <a:avLst>
              <a:gd name="adj" fmla="val 3636"/>
            </a:avLst>
          </a:prstGeom>
          <a:solidFill>
            <a:schemeClr val="bg2"/>
          </a:solidFill>
          <a:ln w="12700">
            <a:solidFill>
              <a:schemeClr val="bg2"/>
            </a:solidFill>
            <a:prstDash val="solid"/>
          </a:ln>
        </p:spPr>
      </p:sp>
      <p:sp>
        <p:nvSpPr>
          <p:cNvPr id="8" name="value 67.3 %"/>
          <p:cNvSpPr txBox="1"/>
          <p:nvPr/>
        </p:nvSpPr>
        <p:spPr>
          <a:xfrm>
            <a:off x="3451860" y="1554480"/>
            <a:ext cx="2240280" cy="73152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67.3 %</a:t>
            </a:r>
            <a:endParaRPr lang="en-US" sz="4400" dirty="0"/>
          </a:p>
        </p:txBody>
      </p:sp>
      <p:sp>
        <p:nvSpPr>
          <p:cNvPr id="9" name="caption 67.3 %"/>
          <p:cNvSpPr txBox="1"/>
          <p:nvPr/>
        </p:nvSpPr>
        <p:spPr>
          <a:xfrm>
            <a:off x="3451860" y="2331720"/>
            <a:ext cx="2240280" cy="960120"/>
          </a:xfrm>
          <a:prstGeom prst="rect">
            <a:avLst/>
          </a:prstGeom>
          <a:noFill/>
          <a:ln/>
        </p:spPr>
        <p:txBody>
          <a:bodyPr wrap="square" lIns="0" tIns="0" rIns="0" bIns="0" rtlCol="0" anchor="t"/>
          <a:lstStyle/>
          <a:p>
            <a:pPr indent="0" marL="0">
              <a:buNone/>
            </a:pPr>
            <a:r>
              <a:rPr lang="en-US" sz="1400" dirty="0">
                <a:solidFill>
                  <a:schemeClr val="tx1"/>
                </a:solidFill>
              </a:rPr>
              <a:t>Best classical model: random forest on colour and texture features</a:t>
            </a:r>
            <a:endParaRPr lang="en-US" sz="1400" dirty="0"/>
          </a:p>
        </p:txBody>
      </p:sp>
      <p:sp>
        <p:nvSpPr>
          <p:cNvPr id="10" name="card 41.4 %"/>
          <p:cNvSpPr/>
          <p:nvPr/>
        </p:nvSpPr>
        <p:spPr>
          <a:xfrm>
            <a:off x="6080760" y="1417320"/>
            <a:ext cx="2606040" cy="2011680"/>
          </a:xfrm>
          <a:prstGeom prst="roundRect">
            <a:avLst>
              <a:gd name="adj" fmla="val 3636"/>
            </a:avLst>
          </a:prstGeom>
          <a:solidFill>
            <a:schemeClr val="bg2"/>
          </a:solidFill>
          <a:ln w="12700">
            <a:solidFill>
              <a:schemeClr val="bg2"/>
            </a:solidFill>
            <a:prstDash val="solid"/>
          </a:ln>
        </p:spPr>
      </p:sp>
      <p:sp>
        <p:nvSpPr>
          <p:cNvPr id="11" name="value 41.4 %"/>
          <p:cNvSpPr txBox="1"/>
          <p:nvPr/>
        </p:nvSpPr>
        <p:spPr>
          <a:xfrm>
            <a:off x="6263640" y="1554480"/>
            <a:ext cx="2240280" cy="73152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41.4 %</a:t>
            </a:r>
            <a:endParaRPr lang="en-US" sz="4400" dirty="0"/>
          </a:p>
        </p:txBody>
      </p:sp>
      <p:sp>
        <p:nvSpPr>
          <p:cNvPr id="12" name="caption 41.4 %"/>
          <p:cNvSpPr txBox="1"/>
          <p:nvPr/>
        </p:nvSpPr>
        <p:spPr>
          <a:xfrm>
            <a:off x="6263640" y="2331720"/>
            <a:ext cx="2240280" cy="960120"/>
          </a:xfrm>
          <a:prstGeom prst="rect">
            <a:avLst/>
          </a:prstGeom>
          <a:noFill/>
          <a:ln/>
        </p:spPr>
        <p:txBody>
          <a:bodyPr wrap="square" lIns="0" tIns="0" rIns="0" bIns="0" rtlCol="0" anchor="t"/>
          <a:lstStyle/>
          <a:p>
            <a:pPr indent="0" marL="0">
              <a:buNone/>
            </a:pPr>
            <a:r>
              <a:rPr lang="en-US" sz="1400" dirty="0">
                <a:solidFill>
                  <a:schemeClr val="tx1"/>
                </a:solidFill>
              </a:rPr>
              <a:t>Our MLP, trained from zero on the pixels</a:t>
            </a:r>
            <a:endParaRPr lang="en-US" sz="1400" dirty="0"/>
          </a:p>
        </p:txBody>
      </p:sp>
      <p:sp>
        <p:nvSpPr>
          <p:cNvPr id="13" name="note And it is affordable"/>
          <p:cNvSpPr/>
          <p:nvPr/>
        </p:nvSpPr>
        <p:spPr>
          <a:xfrm>
            <a:off x="457200" y="3611880"/>
            <a:ext cx="8229600" cy="960120"/>
          </a:xfrm>
          <a:prstGeom prst="roundRect">
            <a:avLst>
              <a:gd name="adj" fmla="val 7619"/>
            </a:avLst>
          </a:prstGeom>
          <a:solidFill>
            <a:schemeClr val="bg2"/>
          </a:solidFill>
          <a:ln w="12700">
            <a:solidFill>
              <a:schemeClr val="bg2"/>
            </a:solidFill>
            <a:prstDash val="solid"/>
          </a:ln>
        </p:spPr>
      </p:sp>
      <p:sp>
        <p:nvSpPr>
          <p:cNvPr id="14" name="text And it is affordable"/>
          <p:cNvSpPr txBox="1"/>
          <p:nvPr/>
        </p:nvSpPr>
        <p:spPr>
          <a:xfrm>
            <a:off x="621792" y="3721608"/>
            <a:ext cx="790041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And it is affordable</a:t>
            </a:r>
            <a:endParaRPr lang="en-US" sz="1500" dirty="0"/>
          </a:p>
          <a:p>
            <a:pPr indent="0" marL="0">
              <a:spcAft>
                <a:spcPts val="400"/>
              </a:spcAft>
              <a:buNone/>
            </a:pPr>
            <a:r>
              <a:rPr lang="en-US" sz="1400" dirty="0">
                <a:solidFill>
                  <a:schemeClr val="tx1"/>
                </a:solidFill>
              </a:rPr>
              <a:t>53 ms per photo on one CPU thread · 45 MB · 17 s of training on a laptop · no GPU</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4"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5"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6"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7"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8"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9"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0"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1"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2"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3"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4"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(measured later: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pic>
        <p:nvPicPr>
          <p:cNvPr id="3"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4"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5"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6"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7"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8"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9"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graphicFrame>
        <p:nvGraphicFramePr>
          <p:cNvPr id="3"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Four broken runs, four signatures</a:t>
            </a:r>
            <a:endParaRPr lang="en-US" sz="3000" dirty="0"/>
          </a:p>
        </p:txBody>
      </p:sp>
      <p:graphicFrame>
        <p:nvGraphicFramePr>
          <p:cNvPr id="7"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graphicFrame>
        <p:nvGraphicFramePr>
          <p:cNvPr id="3"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4" name="note Frozen featur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5" name="text Frozen featur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Frozen features</a:t>
            </a:r>
            <a:endParaRPr lang="en-US" sz="1500" dirty="0"/>
          </a:p>
          <a:p>
            <a:pPr indent="0" marL="0">
              <a:spcAft>
                <a:spcPts val="400"/>
              </a:spcAft>
              <a:buNone/>
            </a:pPr>
            <a:r>
              <a:rPr lang="en-US" sz="1400" dirty="0">
                <a:solidFill>
                  <a:schemeClr val="tx1"/>
                </a:solidFill>
              </a:rPr>
              <a:t>Each painting → 512 numbers (15.5 ms). Only one linear layer is trained: 2 565 weights, 0.4 s.</a:t>
            </a:r>
            <a:endParaRPr lang="en-US" sz="1500" dirty="0"/>
          </a:p>
        </p:txBody>
      </p:sp>
      <p:sp>
        <p:nvSpPr>
          <p:cNvPr id="6"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7"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8.4 M weights for 1 061 images: 99.9 % on train, 85.4 % on validation. It overfits.</a:t>
            </a:r>
            <a:endParaRPr lang="en-US" sz="1500" dirty="0"/>
          </a:p>
        </p:txBody>
      </p:sp>
      <p:sp>
        <p:nvSpPr>
          <p:cNvPr id="8" name="note Two silent bugs"/>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9" name="text Two silent bugs"/>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Two silent bugs</a:t>
            </a:r>
            <a:endParaRPr lang="en-US" sz="1500" dirty="0"/>
          </a:p>
          <a:p>
            <a:pPr indent="0" marL="0">
              <a:spcAft>
                <a:spcPts val="400"/>
              </a:spcAft>
              <a:buNone/>
            </a:pPr>
            <a:r>
              <a:rPr lang="en-US" sz="1400" dirty="0">
                <a:solidFill>
                  <a:schemeClr val="tx1"/>
                </a:solidFill>
              </a:rPr>
              <a:t>No model.eval(): 12.8 %. No ImageNet normalisation: 81.7 %.</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graphicFrame>
        <p:nvGraphicFramePr>
          <p:cNvPr id="3"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4"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5"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6"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7"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8"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4"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5"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6"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7"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8"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9"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0"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1"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2"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3"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4"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5"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6"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Deploy a frozen ResNet18 + linear head</a:t>
            </a:r>
            <a:endParaRPr lang="en-US" sz="3000" dirty="0"/>
          </a:p>
        </p:txBody>
      </p:sp>
      <p:sp>
        <p:nvSpPr>
          <p:cNvPr id="3" name="column Why"/>
          <p:cNvSpPr/>
          <p:nvPr/>
        </p:nvSpPr>
        <p:spPr>
          <a:xfrm>
            <a:off x="457200" y="1143000"/>
            <a:ext cx="2560320" cy="3154680"/>
          </a:xfrm>
          <a:prstGeom prst="roundRect">
            <a:avLst>
              <a:gd name="adj" fmla="val 2857"/>
            </a:avLst>
          </a:prstGeom>
          <a:solidFill>
            <a:srgbClr val="2A3448"/>
          </a:solidFill>
          <a:ln w="12700">
            <a:solidFill>
              <a:srgbClr val="2A3448"/>
            </a:solidFill>
            <a:prstDash val="solid"/>
          </a:ln>
        </p:spPr>
      </p:sp>
      <p:sp>
        <p:nvSpPr>
          <p:cNvPr id="4" name="head Why"/>
          <p:cNvSpPr txBox="1"/>
          <p:nvPr/>
        </p:nvSpPr>
        <p:spPr>
          <a:xfrm>
            <a:off x="640080" y="1280160"/>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5" name="items Why"/>
          <p:cNvSpPr txBox="1"/>
          <p:nvPr/>
        </p:nvSpPr>
        <p:spPr>
          <a:xfrm>
            <a:off x="64008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6" name="column Not now"/>
          <p:cNvSpPr/>
          <p:nvPr/>
        </p:nvSpPr>
        <p:spPr>
          <a:xfrm>
            <a:off x="3291840" y="1143000"/>
            <a:ext cx="2560320" cy="3154680"/>
          </a:xfrm>
          <a:prstGeom prst="roundRect">
            <a:avLst>
              <a:gd name="adj" fmla="val 2857"/>
            </a:avLst>
          </a:prstGeom>
          <a:solidFill>
            <a:srgbClr val="2A3448"/>
          </a:solidFill>
          <a:ln w="12700">
            <a:solidFill>
              <a:srgbClr val="2A3448"/>
            </a:solidFill>
            <a:prstDash val="solid"/>
          </a:ln>
        </p:spPr>
      </p:sp>
      <p:sp>
        <p:nvSpPr>
          <p:cNvPr id="7" name="head Not now"/>
          <p:cNvSpPr txBox="1"/>
          <p:nvPr/>
        </p:nvSpPr>
        <p:spPr>
          <a:xfrm>
            <a:off x="3474720" y="1280160"/>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8" name="items Not now"/>
          <p:cNvSpPr txBox="1"/>
          <p:nvPr/>
        </p:nvSpPr>
        <p:spPr>
          <a:xfrm>
            <a:off x="347472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A classical model alone: 61 to 67 %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9" name="column Before launch"/>
          <p:cNvSpPr/>
          <p:nvPr/>
        </p:nvSpPr>
        <p:spPr>
          <a:xfrm>
            <a:off x="6126480" y="1143000"/>
            <a:ext cx="2560320" cy="3154680"/>
          </a:xfrm>
          <a:prstGeom prst="roundRect">
            <a:avLst>
              <a:gd name="adj" fmla="val 2857"/>
            </a:avLst>
          </a:prstGeom>
          <a:solidFill>
            <a:srgbClr val="2A3448"/>
          </a:solidFill>
          <a:ln w="12700">
            <a:solidFill>
              <a:srgbClr val="2A3448"/>
            </a:solidFill>
            <a:prstDash val="solid"/>
          </a:ln>
        </p:spPr>
      </p:sp>
      <p:sp>
        <p:nvSpPr>
          <p:cNvPr id="10" name="head Before launch"/>
          <p:cNvSpPr txBox="1"/>
          <p:nvPr/>
        </p:nvSpPr>
        <p:spPr>
          <a:xfrm>
            <a:off x="6309360" y="1280160"/>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1" name="items Before launch"/>
          <p:cNvSpPr txBox="1"/>
          <p:nvPr/>
        </p:nvSpPr>
        <p:spPr>
          <a:xfrm>
            <a:off x="630936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3"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5"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17"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2026-10-20T15:39:54Z</dcterms:created>
  <dcterms:modified xsi:type="dcterms:W3CDTF">2026-10-20T15:39:54Z</dcterms:modified>
</cp:coreProperties>
</file>