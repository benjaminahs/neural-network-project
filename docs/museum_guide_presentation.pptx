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6.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7.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0e764249-c4a2-7c5e-58c6-8b5b303dea06}">
          <p14:sldIdLst>
            <p14:sldId id="256"/>
            <p14:sldId id="257"/>
            <p14:sldId id="258"/>
          </p14:sldIdLst>
        </p14:section>
        <p14:section name="Our MLP" id="{e503cfdf-7b20-dbf0-f4fe-b42b6211847e}">
          <p14:sldIdLst>
            <p14:sldId id="259"/>
            <p14:sldId id="260"/>
          </p14:sldIdLst>
        </p14:section>
        <p14:section name="Pretrained ResNet" id="{ae8c777f-05e4-9318-3412-89db81906245}">
          <p14:sldIdLst>
            <p14:sldId id="261"/>
            <p14:sldId id="262"/>
          </p14:sldIdLst>
        </p14:section>
        <p14:section name="The answer" id="{ffc4b98b-c872-eb59-63fc-1ba48d798600}">
          <p14:sldIdLst>
            <p14:sldId id="263"/>
            <p14:sldId id="264"/>
            <p14:sldId id="265"/>
            <p14:sldId id="266"/>
            <p14:sldId id="267"/>
          </p14:sldIdLst>
        </p14:section>
        <p14:section name="Backup" id="{31e2f479-e148-8b7b-93f2-d73a1ab4db3d}">
          <p14:sldIdLst>
            <p14:sldId id="268"/>
            <p14:sldId id="269"/>
            <p14:sldId id="270"/>
            <p14:sldId id="271"/>
            <p14:sldId id="272"/>
            <p14:sldId id="273"/>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one tool</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Sheet1!$B$2:$B$8</c:f>
              <c:numCache>
                <c:formatCode>General</c:formatCode>
                <c:ptCount val="7"/>
                <c:pt idx="0">
                  <c:v>388</c:v>
                </c:pt>
                <c:pt idx="1">
                  <c:v>397</c:v>
                </c:pt>
                <c:pt idx="2">
                  <c:v>393</c:v>
                </c:pt>
                <c:pt idx="3">
                  <c:v>417</c:v>
                </c:pt>
                <c:pt idx="4">
                  <c:v>419</c:v>
                </c:pt>
                <c:pt idx="5">
                  <c:v>428</c:v>
                </c:pt>
                <c:pt idx="6">
                  <c:v>0</c:v>
                </c:pt>
              </c:numCache>
            </c:numRef>
          </c:val>
        </c:ser>
        <c:ser>
          <c:idx val="1"/>
          <c:order val="1"/>
          <c:tx>
            <c:strRef>
              <c:f>Sheet1!$C$1</c:f>
              <c:strCache>
                <c:ptCount val="1"/>
                <c:pt idx="0">
                  <c:v>all together</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Sheet1!$C$2:$C$8</c:f>
              <c:numCache>
                <c:formatCode>General</c:formatCode>
                <c:ptCount val="7"/>
                <c:pt idx="0">
                  <c:v>0</c:v>
                </c:pt>
                <c:pt idx="1">
                  <c:v>0</c:v>
                </c:pt>
                <c:pt idx="2">
                  <c:v>0</c:v>
                </c:pt>
                <c:pt idx="3">
                  <c:v>0</c:v>
                </c:pt>
                <c:pt idx="4">
                  <c:v>0</c:v>
                </c:pt>
                <c:pt idx="5">
                  <c:v>0</c:v>
                </c:pt>
                <c:pt idx="6">
                  <c:v>455</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5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other</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Sheet1!$B$2:$B$4</c:f>
              <c:numCache>
                <c:formatCode>General</c:formatCode>
                <c:ptCount val="3"/>
                <c:pt idx="0">
                  <c:v>455</c:v>
                </c:pt>
                <c:pt idx="1">
                  <c:v>854</c:v>
                </c:pt>
                <c:pt idx="2">
                  <c:v>0</c:v>
                </c:pt>
              </c:numCache>
            </c:numRef>
          </c:val>
        </c:ser>
        <c:ser>
          <c:idx val="1"/>
          <c:order val="1"/>
          <c:tx>
            <c:strRef>
              <c:f>Sheet1!$C$1</c:f>
              <c:strCache>
                <c:ptCount val="1"/>
                <c:pt idx="0">
                  <c:v>chosen</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Sheet1!$C$2:$C$4</c:f>
              <c:numCache>
                <c:formatCode>General</c:formatCode>
                <c:ptCount val="3"/>
                <c:pt idx="0">
                  <c:v>0</c:v>
                </c:pt>
                <c:pt idx="1">
                  <c:v>0</c:v>
                </c:pt>
                <c:pt idx="2">
                  <c:v>881</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Test accuracy, 220 new paintings</a:t>
            </a:r>
          </a:p>
        </c:rich>
      </c:tx>
      <c:layout/>
      <c:overlay val="0"/>
    </c:title>
    <c:autoTitleDeleted val="0"/>
    <c:plotArea>
      <c:layout/>
      <c:barChart>
        <c:barDir val="bar"/>
        <c:grouping val="stacked"/>
        <c:varyColors val="0"/>
        <c:ser>
          <c:idx val="0"/>
          <c:order val="0"/>
          <c:tx>
            <c:strRef>
              <c:f>Sheet1!$B$1</c:f>
              <c:strCache>
                <c:ptCount val="1"/>
                <c:pt idx="0">
                  <c:v>Classical</c:v>
                </c:pt>
              </c:strCache>
            </c:strRef>
          </c:tx>
          <c:spPr>
            <a:solidFill>
              <a:srgbClr val="EB6834"/>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hand-made numbers</c:v>
                  </c:pt>
                  <c:pt idx="2">
                    <c:v>ResNet18 frozen + linear head</c:v>
                  </c:pt>
                  <c:pt idx="3">
                    <c:v>ResNet18, layer4 fine-tuned</c:v>
                  </c:pt>
                </c:lvl>
              </c:multiLvlStrCache>
            </c:multiLvlStrRef>
          </c:cat>
          <c:val>
            <c:numRef>
              <c:f>Sheet1!$B$2:$B$5</c:f>
              <c:numCache>
                <c:formatCode>General</c:formatCode>
                <c:ptCount val="4"/>
                <c:pt idx="0">
                  <c:v>0</c:v>
                </c:pt>
                <c:pt idx="1">
                  <c:v>673</c:v>
                </c:pt>
                <c:pt idx="2">
                  <c:v>0</c:v>
                </c:pt>
                <c:pt idx="3">
                  <c:v>0</c:v>
                </c:pt>
              </c:numCache>
            </c:numRef>
          </c:val>
        </c:ser>
        <c:ser>
          <c:idx val="1"/>
          <c:order val="1"/>
          <c:tx>
            <c:strRef>
              <c:f>Sheet1!$C$1</c:f>
              <c:strCache>
                <c:ptCount val="1"/>
                <c:pt idx="0">
                  <c:v>Neural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hand-made numbers</c:v>
                  </c:pt>
                  <c:pt idx="2">
                    <c:v>ResNet18 frozen + linear head</c:v>
                  </c:pt>
                  <c:pt idx="3">
                    <c:v>ResNet18, layer4 fine-tuned</c:v>
                  </c:pt>
                </c:lvl>
              </c:multiLvlStrCache>
            </c:multiLvlStrRef>
          </c:cat>
          <c:val>
            <c:numRef>
              <c:f>Sheet1!$C$2:$C$5</c:f>
              <c:numCache>
                <c:formatCode>General</c:formatCode>
                <c:ptCount val="4"/>
                <c:pt idx="0">
                  <c:v>414</c:v>
                </c:pt>
                <c:pt idx="1">
                  <c:v>0</c:v>
                </c:pt>
                <c:pt idx="2">
                  <c:v>830</c:v>
                </c:pt>
                <c:pt idx="3">
                  <c:v>879</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Test accuracy, mean of 3 seeds</a:t>
            </a:r>
          </a:p>
        </c:rich>
      </c:tx>
      <c:layout/>
      <c:overlay val="0"/>
    </c:title>
    <c:autoTitleDeleted val="0"/>
    <c:plotArea>
      <c:layout/>
      <c:barChart>
        <c:barDir val="bar"/>
        <c:grouping val="clustered"/>
        <c:varyColors val="0"/>
        <c:ser>
          <c:idx val="0"/>
          <c:order val="0"/>
          <c:tx>
            <c:strRef>
              <c:f>Sheet1!$B$1</c:f>
              <c:strCache>
                <c:ptCount val="1"/>
                <c:pt idx="0">
                  <c:v>Test 1 (220 paintings)</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numbers</c:v>
                  </c:pt>
                  <c:pt idx="2">
                    <c:v>ResNet18 frozen + linear head</c:v>
                  </c:pt>
                  <c:pt idx="3">
                    <c:v>ResNet18, layer4 fine-tuned</c:v>
                  </c:pt>
                </c:lvl>
              </c:multiLvlStrCache>
            </c:multiLvlStrRef>
          </c:cat>
          <c:val>
            <c:numRef>
              <c:f>Sheet1!$B$2:$B$5</c:f>
              <c:numCache>
                <c:formatCode>General</c:formatCode>
                <c:ptCount val="4"/>
                <c:pt idx="0">
                  <c:v>414</c:v>
                </c:pt>
                <c:pt idx="1">
                  <c:v>673</c:v>
                </c:pt>
                <c:pt idx="2">
                  <c:v>830</c:v>
                </c:pt>
                <c:pt idx="3">
                  <c:v>879</c:v>
                </c:pt>
              </c:numCache>
            </c:numRef>
          </c:val>
        </c:ser>
        <c:ser>
          <c:idx val="1"/>
          <c:order val="1"/>
          <c:tx>
            <c:strRef>
              <c:f>Sheet1!$C$1</c:f>
              <c:strCache>
                <c:ptCount val="1"/>
                <c:pt idx="0">
                  <c:v>Test 2 (220 new paintings)</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numbers</c:v>
                  </c:pt>
                  <c:pt idx="2">
                    <c:v>ResNet18 frozen + linear head</c:v>
                  </c:pt>
                  <c:pt idx="3">
                    <c:v>ResNet18, layer4 fine-tuned</c:v>
                  </c:pt>
                </c:lvl>
              </c:multiLvlStrCache>
            </c:multiLvlStrRef>
          </c:cat>
          <c:val>
            <c:numRef>
              <c:f>Sheet1!$C$2:$C$5</c:f>
              <c:numCache>
                <c:formatCode>General</c:formatCode>
                <c:ptCount val="4"/>
                <c:pt idx="0">
                  <c:v>418</c:v>
                </c:pt>
                <c:pt idx="1">
                  <c:v>636</c:v>
                </c:pt>
                <c:pt idx="2">
                  <c:v>841</c:v>
                </c:pt>
                <c:pt idx="3">
                  <c:v>877</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folds: the painter was seen in training</c:v>
                </c:pt>
              </c:strCache>
            </c:strRef>
          </c:tx>
          <c:spPr>
            <a:solidFill>
              <a:srgbClr val="2A78D6"/>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Sheet1!$B$2:$B$3</c:f>
              <c:numCache>
                <c:formatCode>General</c:formatCode>
                <c:ptCount val="2"/>
                <c:pt idx="0">
                  <c:v>837</c:v>
                </c:pt>
                <c:pt idx="1">
                  <c:v>846</c:v>
                </c:pt>
              </c:numCache>
            </c:numRef>
          </c:val>
        </c:ser>
        <c:ser>
          <c:idx val="1"/>
          <c:order val="1"/>
          <c:tx>
            <c:strRef>
              <c:f>Sheet1!$C$1</c:f>
              <c:strCache>
                <c:ptCount val="1"/>
                <c:pt idx="0">
                  <c:v>Painter folds: the painter was never seen</c:v>
                </c:pt>
              </c:strCache>
            </c:strRef>
          </c:tx>
          <c:spPr>
            <a:solidFill>
              <a:srgbClr val="EB6834"/>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Sheet1!$C$2:$C$3</c:f>
              <c:numCache>
                <c:formatCode>General</c:formatCode>
                <c:ptCount val="2"/>
                <c:pt idx="0">
                  <c:v>723</c:v>
                </c:pt>
                <c:pt idx="1">
                  <c:v>844</c:v>
                </c:pt>
              </c:numCache>
            </c:numRef>
          </c:val>
        </c:ser>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950"/>
          <c:min val="5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Fine-tuned ResNet18: share of each style found, both tests (seed 0)</a:t>
            </a:r>
          </a:p>
        </c:rich>
      </c:tx>
      <c:layout/>
      <c:overlay val="0"/>
    </c:title>
    <c:autoTitleDeleted val="0"/>
    <c:plotArea>
      <c:layout/>
      <c:barChart>
        <c:barDir val="bar"/>
        <c:grouping val="clustered"/>
        <c:varyColors val="0"/>
        <c:ser>
          <c:idx val="0"/>
          <c:order val="0"/>
          <c:tx>
            <c:strRef>
              <c:f>Sheet1!$B$1</c:f>
              <c:strCache>
                <c:ptCount val="1"/>
                <c:pt idx="0">
                  <c:v>recall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Pop Art</c:v>
                  </c:pt>
                  <c:pt idx="1">
                    <c:v>Impressionism</c:v>
                  </c:pt>
                  <c:pt idx="2">
                    <c:v>Cubism</c:v>
                  </c:pt>
                  <c:pt idx="3">
                    <c:v>Baroque</c:v>
                  </c:pt>
                  <c:pt idx="4">
                    <c:v>Ukiyo-e</c:v>
                  </c:pt>
                </c:lvl>
              </c:multiLvlStrCache>
            </c:multiLvlStrRef>
          </c:cat>
          <c:val>
            <c:numRef>
              <c:f>Sheet1!$B$2:$B$6</c:f>
              <c:numCache>
                <c:formatCode>General</c:formatCode>
                <c:ptCount val="5"/>
                <c:pt idx="0">
                  <c:v>816</c:v>
                </c:pt>
                <c:pt idx="1">
                  <c:v>819</c:v>
                </c:pt>
                <c:pt idx="2">
                  <c:v>849</c:v>
                </c:pt>
                <c:pt idx="3">
                  <c:v>942</c:v>
                </c:pt>
                <c:pt idx="4">
                  <c:v>1000</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(219 paintings)</a:t>
            </a:r>
          </a:p>
        </c:rich>
      </c:tx>
      <c:layout/>
      <c:overlay val="0"/>
    </c:title>
    <c:autoTitleDeleted val="0"/>
    <c:plotArea>
      <c:layout/>
      <c:barChart>
        <c:barDir val="bar"/>
        <c:grouping val="stacked"/>
        <c:varyColors val="0"/>
        <c:ser>
          <c:idx val="0"/>
          <c:order val="0"/>
          <c:tx>
            <c:strRef>
              <c:f>Sheet1!$B$1</c:f>
              <c:strCache>
                <c:ptCount val="1"/>
                <c:pt idx="0">
                  <c:v>other</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Our best MLP (pixels)</c:v>
                  </c:pt>
                  <c:pt idx="1">
                    <c:v>ResNet18 from zero</c:v>
                  </c:pt>
                  <c:pt idx="2">
                    <c:v>Random forest, 102 numbers</c:v>
                  </c:pt>
                  <c:pt idx="3">
                    <c:v>ResNet18, layer4 fine-tuned</c:v>
                  </c:pt>
                  <c:pt idx="4">
                    <c:v>ResNet18 frozen + linear head</c:v>
                  </c:pt>
                </c:lvl>
              </c:multiLvlStrCache>
            </c:multiLvlStrRef>
          </c:cat>
          <c:val>
            <c:numRef>
              <c:f>Sheet1!$B$2:$B$6</c:f>
              <c:numCache>
                <c:formatCode>General</c:formatCode>
                <c:ptCount val="5"/>
                <c:pt idx="0">
                  <c:v>455</c:v>
                </c:pt>
                <c:pt idx="1">
                  <c:v>0</c:v>
                </c:pt>
                <c:pt idx="2">
                  <c:v>635</c:v>
                </c:pt>
                <c:pt idx="3">
                  <c:v>854</c:v>
                </c:pt>
                <c:pt idx="4">
                  <c:v>0</c:v>
                </c:pt>
              </c:numCache>
            </c:numRef>
          </c:val>
        </c:ser>
        <c:ser>
          <c:idx val="1"/>
          <c:order val="1"/>
          <c:tx>
            <c:strRef>
              <c:f>Sheet1!$C$1</c:f>
              <c:strCache>
                <c:ptCount val="1"/>
                <c:pt idx="0">
                  <c:v>from zero</c:v>
                </c:pt>
              </c:strCache>
            </c:strRef>
          </c:tx>
          <c:spPr>
            <a:solidFill>
              <a:srgbClr val="EDA100"/>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Our best MLP (pixels)</c:v>
                  </c:pt>
                  <c:pt idx="1">
                    <c:v>ResNet18 from zero</c:v>
                  </c:pt>
                  <c:pt idx="2">
                    <c:v>Random forest, 102 numbers</c:v>
                  </c:pt>
                  <c:pt idx="3">
                    <c:v>ResNet18, layer4 fine-tuned</c:v>
                  </c:pt>
                  <c:pt idx="4">
                    <c:v>ResNet18 frozen + linear head</c:v>
                  </c:pt>
                </c:lvl>
              </c:multiLvlStrCache>
            </c:multiLvlStrRef>
          </c:cat>
          <c:val>
            <c:numRef>
              <c:f>Sheet1!$C$2:$C$6</c:f>
              <c:numCache>
                <c:formatCode>General</c:formatCode>
                <c:ptCount val="5"/>
                <c:pt idx="0">
                  <c:v>0</c:v>
                </c:pt>
                <c:pt idx="1">
                  <c:v>616</c:v>
                </c:pt>
                <c:pt idx="2">
                  <c:v>0</c:v>
                </c:pt>
                <c:pt idx="3">
                  <c:v>0</c:v>
                </c:pt>
                <c:pt idx="4">
                  <c:v>0</c:v>
                </c:pt>
              </c:numCache>
            </c:numRef>
          </c:val>
        </c:ser>
        <c:ser>
          <c:idx val="2"/>
          <c:order val="2"/>
          <c:tx>
            <c:strRef>
              <c:f>Sheet1!$D$1</c:f>
              <c:strCache>
                <c:ptCount val="1"/>
                <c:pt idx="0">
                  <c:v>chosen</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Our best MLP (pixels)</c:v>
                  </c:pt>
                  <c:pt idx="1">
                    <c:v>ResNet18 from zero</c:v>
                  </c:pt>
                  <c:pt idx="2">
                    <c:v>Random forest, 102 numbers</c:v>
                  </c:pt>
                  <c:pt idx="3">
                    <c:v>ResNet18, layer4 fine-tuned</c:v>
                  </c:pt>
                  <c:pt idx="4">
                    <c:v>ResNet18 frozen + linear head</c:v>
                  </c:pt>
                </c:lvl>
              </c:multiLvlStrCache>
            </c:multiLvlStrRef>
          </c:cat>
          <c:val>
            <c:numRef>
              <c:f>Sheet1!$D$2:$D$6</c:f>
              <c:numCache>
                <c:formatCode>General</c:formatCode>
                <c:ptCount val="5"/>
                <c:pt idx="0">
                  <c:v>0</c:v>
                </c:pt>
                <c:pt idx="1">
                  <c:v>0</c:v>
                </c:pt>
                <c:pt idx="2">
                  <c:v>0</c:v>
                </c:pt>
                <c:pt idx="3">
                  <c:v>0</c:v>
                </c:pt>
                <c:pt idx="4">
                  <c:v>881</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Our museum wants kiosks that recognise the style of a painting from a photo. We worked on five styles: Baroque, Cubism, Impressionism, Pop Art and Ukiyo-e. The kiosks have small CPUs, the team is small and the budget is limited. So the director asks one question: is a neural network worth it in production, or would a simpler classical model do the job?</a:t>
            </a:r>
          </a:p>
          <a:p>
            <a:pPr>
              <a:spcBef>
                <a:spcPts val="900"/>
              </a:spcBef>
            </a:pPr>
            <a:r>
              <a:rPr lang="en-US" b="1" dirty="0"/>
              <a:t>TRANSITION: To answer it, we did not jump straight to a model. So now, here is our path: six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data, and a fair test. Step two: our own neural network. Step three: we monitor its training and fix it. Step four: a pretrained ResNet18. Step five: the final tests, against a classical model. Step six: the cost on a kiosk. Each step told us what to try next.</a:t>
            </a:r>
          </a:p>
          <a:p>
            <a:pPr>
              <a:spcBef>
                <a:spcPts val="900"/>
              </a:spcBef>
            </a:pPr>
            <a:r>
              <a:rPr lang="en-US" b="1" dirty="0"/>
              <a:t>TRANSITION: So now, let's start with step one: the data, and how we made the test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took 1 500 paintings from WikiArt, 300 per style. We cut them into three piles: 1 061 to train, 219 to validate, that is, to choose our settings, and 220 to test, only once, at the end. One rule matters a lot: all the paintings of a known painter go to the same pile. With a random split, 23 of our 32 known painters would be in two piles, and a model could learn to recognise Monet instead of Impressionism. With our split: zero.</a:t>
            </a:r>
          </a:p>
          <a:p>
            <a:pPr>
              <a:spcBef>
                <a:spcPts val="900"/>
              </a:spcBef>
            </a:pPr>
            <a:r>
              <a:rPr lang="en-US" b="1" dirty="0"/>
              <a:t>TRANSITION: Our data is ready and our test is fair. So now, step two: our first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model is the simplest neural network of the course: a multi-layer perceptron built from nn.Linear layers and ReLU. Before trusting it, we ran two checks. First, a model that knows nothing should have a loss of ln 5, about 1.61. Ours started at 1.99, too confident, so we made its last layer smaller and got 1.59. Second, it must be able to learn one small batch by heart: it does, 100 percent. The training accuracy goes to 99.7 percent, but the validation accuracy stays around 40 percent. This is overfitting: the network learns the paintings by heart.</a:t>
            </a:r>
          </a:p>
          <a:p>
            <a:pPr>
              <a:spcBef>
                <a:spcPts val="900"/>
              </a:spcBef>
            </a:pPr>
            <a:r>
              <a:rPr lang="en-US" b="1" dirty="0"/>
              <a:t>TRANSITION: We saw that our MLP is overfitting. So now, step three: we try to fix this overfitting.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fixing it, we looked inside the network to check that the training itself was healthy: the gradient reaches every layer and only 4 percent of the neurons are dead. So the problem really is overfitting. Then we attacked it with the tools of session 6. Together, weight decay, dropout, batch norm, flips and early stopping take the MLP from 38.8 to 45.5 percent, and the gap from 0.61 to 0.12. But one number shows a deeper limit: the MLP finds only 7 percent of the Cubist paintings. It sees colours, not shapes.</a:t>
            </a:r>
          </a:p>
          <a:p>
            <a:pPr>
              <a:spcBef>
                <a:spcPts val="900"/>
              </a:spcBef>
            </a:pPr>
            <a:r>
              <a:rPr lang="en-US" b="1" dirty="0"/>
              <a:t>TRANSITION: We saw that the overfitting is under control. But our MLP still sees colours, not shapes. So now, step four: we need a network that sees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type of network made for images, which recognises shapes: the convolutional network. We used ResNet18, the smallest ResNet. Its 18 layers slide small filters over the picture: the first layers find edges and colours, the next ones textures, the last ones shapes. Our MLP saw 12 288 separate pixels. ResNet18 already learned this on 1.2 million ImageNet photos, so we keep it frozen. It turns each painting into 512 numbers. We replace its last layer, made for ImageNet, by our own: from these 512 numbers to our 5 styles, 2 565 weights, the only ones we train. Like hiring an experienced art expert, and only teaching them our five style names.</a:t>
            </a:r>
          </a:p>
          <a:p>
            <a:pPr>
              <a:spcBef>
                <a:spcPts val="900"/>
              </a:spcBef>
            </a:pPr>
            <a:r>
              <a:rPr lang="en-US" b="1" dirty="0"/>
              <a:t>TRANSITION: We saw how ResNet18 works. So now, let's see what it gives on our paintings.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this last layer takes less than a second, and gives 88.1 percent on validation, almost twice our best MLP. And it does see shapes: it finds 71 percent of the Cubist paintings, against 7 for our MLP. We also tried fine-tuning: we unfreeze its last block, 8.4 million weights instead of 2 565, so that it also learns from our paintings. On validation it looked less convincing, 85.4 percent, so we chose the frozen version. Keep this in mind. We monitored it like the MLP: the gap between train and validation is only 0.09, against 0.61 for our first MLP.</a:t>
            </a:r>
          </a:p>
          <a:p>
            <a:pPr>
              <a:spcBef>
                <a:spcPts val="900"/>
              </a:spcBef>
            </a:pPr>
            <a:r>
              <a:rPr lang="en-US" b="1" dirty="0"/>
              <a:t>TRANSITION: But to answer the director, we also need a challenger without any neural network. So now, step five: our classical challenger, then the final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classical model cannot read raw pixels well. So we first describe each painting with 102 hand-made numbers: 82 for its colours, and 20 for the direction and strength of its brush strokes. Then a random forest: 500 decision trees. Each tree asks yes or no questions on these numbers, like "many dark colours?", until it names a style. Each one learns from a random draw of the paintings, so they make different mistakes. They vote, and the vote cancels the mistakes. Like every model, we chose its settings on validation: 63.5 percent.</a:t>
            </a:r>
          </a:p>
          <a:p>
            <a:pPr>
              <a:spcBef>
                <a:spcPts val="900"/>
              </a:spcBef>
            </a:pPr>
            <a:r>
              <a:rPr lang="en-US" b="1" dirty="0"/>
              <a:t>TRANSITION: We saw how our challenger works. So now, the final test: every model, on 220 paintings never seen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opened the 220 test paintings only once, for every model. The pretrained models are at the top, from 83 to 88 percent. The random forest reaches 67; our MLP 41. Is the gap real? A paired bootstrap gives our frozen model a lead of 16 points over the random forest, between 9 and 24: it is not luck. But here is the surprise: the fine-tuned model is first on the test, while it was second on validation.</a:t>
            </a:r>
          </a:p>
          <a:p>
            <a:pPr>
              <a:spcBef>
                <a:spcPts val="900"/>
              </a:spcBef>
            </a:pPr>
            <a:r>
              <a:rPr lang="en-US" b="1" dirty="0"/>
              <a:t>TRANSITION: We saw that the test and the validation disagree. So now, we check if the fine-tuned win was luck, with 220 new paintings.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drew 220 new paintings from parts of WikiArt we had never opened, by painters our models never saw, and tested the same models once more. Same ranking: fine-tuned 87.7 percent, frozen 84.1, random forest 64, our MLP 42. On the 440 test paintings together, fine-tuning wins by 5 points, between 2 and 8: it is not luck. Our 219 validation paintings were simply too few to separate the two versions.</a:t>
            </a:r>
          </a:p>
          <a:p>
            <a:pPr>
              <a:spcBef>
                <a:spcPts val="900"/>
              </a:spcBef>
            </a:pPr>
            <a:r>
              <a:rPr lang="en-US" b="1" dirty="0"/>
              <a:t>TRANSITION: Accuracy is only half of the director's question. So now, step six: what does it cost on a kiosk?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timed one photo at a time, from the image to the answer. The fine-tuned ResNet needs 53 milliseconds on one CPU thread, 27 with four threads: faster than a blink. Even on a kiosk four times slower, it answers in a fifth of a second. The model file is 45 megabytes, and training takes two and a half minutes on a laptop, without a GPU.</a:t>
            </a:r>
          </a:p>
          <a:p>
            <a:pPr>
              <a:spcBef>
                <a:spcPts val="900"/>
              </a:spcBef>
            </a:pPr>
            <a:r>
              <a:rPr lang="en-US" b="1" dirty="0"/>
              <a:t>TRANSITION: We saw that it is accurate, fast and cheap. So now, we have everything we need to answer the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440 test paintings, our own MLP reached 42 percent, the random forest 65, and the fine-tuned ResNet18 88. So, our answer to the director: yes, a neural network is worth it, but a pretrained one that we reuse. We recommend ResNet18, pretrained on ImageNet, with its last block fine-tuned on our paintings. Why? It is accurate: one visitor in eight gets a wrong style, against one in three. It is fast enough for a modest CPU, and cheap for a small team: retrained in a few minutes. Before the launch, we must test real photos taken at the kiosks, add more styles, and measure the real hardware.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random forest: it is our best model without any neural network, the "classical model" of the director's question. A classical model cannot read raw pixels well, so we describe each painting with 102 hand-made numbers: its colours and the directions of its brush strokes. A random forest is 500 decision trees: each one learns from a random draw of the paintings and sees a random part of the numbers at each question, and they vote. Settings chosen on validation. On the first test: 67.3 %, 20.6 points below the fine-tuned ResNet18. The same logistic regression goes from 61.4 % on our numbers to 84.5 % on the ResNet features: the features matter more than the model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split by painter: we scored the same images twice with cross-validation, changing only one thing: whether the model saw other paintings by the same painter. On images by known painters, seeing the painter gives 83.7 percent instead of 72.3: 11 points of flattery. On the control group, unknown painters, nothing changes. So a random split would have given the director a score that is too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changed our choice after the test: validation chose the frozen model, the first test said the opposite, so we drew a second test of 220 new paintings to check, used once. It confirms the fine-tuned model, by 5 points on the 440 test paintings, so it was not luck. Because both tests helped this choice, the fine-tuned scores are slightly optimistic; with more data, we would choose with cross-validation and keep a third set for the final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work can be checked: everything runs again from the repository with two commands, and the final notebook re-trains every neural model and finds exactly the same validation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hyperparameters: all of them were chosen on the validation set (learning-rate sweep, 3 seeds per setting), and they are written once in src/museum_guide/recipes.py.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our monitoring tools really detect problems: in notebook 04 we broke the MLP training four times on purpose, and each bug left its own signature. Two of them give the same loss stuck at ln 5; only the dead neurons or the gradient per layer tell them apart. For the ResNet, two silent bugs: forgetting model.eval() gives 12.8 %, forgetting the ImageNet normalisation 81.7 %.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errors: on the 440 test paintings, the fine-tuned ResNet finds every Ukiyo-e painting and at least 82 % of every style; the hardest are Pop Art and Impressionism.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BERT or transformers: BERT reads text, so it cannot classify paintings alone. Its image cousin ViT gives the same accuracy as ResNet18 but is about 9 times slower. CLIP, trained on images with captions, reaches about 89 percent with no training at all and about 95 percent with our linear head, on validation. Two cautions: it probably saw WikiArt during its training, and we did not reopen the test set. It is our first next step, and it would also answer visitors' questions in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ResNet18 is built: the painting (224 by 224 pixels, 3 colours) goes through a first convolution and four layers of residual blocks. At each layer the picture gets smaller (56, 28, 14, 7 pixels) but the number of channels grows (64 to 512): from edges and colours to textures, patterns and shapes. The average of the last 512 maps gives 512 numbers. In our final model, conv1 to layer3 stay frozen (2.8 million weights learned on ImageNet), layer4 is fine-tuned on our paintings (8.4 million), and our linear head turns the 512 numbers into 5 scores, one per style (2 565 weights). In the frozen version, layer4 stays frozen too. Residual means each block adds its input back through a shortcut, so the gradient reaches every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did not train ResNet18 from zero: we measured it. With random weights and every layer learning, the same network reaches only 61.6 % on validation at best, against 88.1 % for the frozen pretrained one: about the level of the random forest. It is better than our MLP, because convolutions see shapes, but 1 061 paintings are far too few to learn 11 million weights. It also took 24 minutes of CPU, against less than a second for our linear head. One seed, validation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rtlCol="0"/>
          <a:lstStyle>
            <a:lvl1pPr algn="l" indent="0" marL="0">
              <a:buNone/>
              <a:defRPr lang="en-US" sz="1700" dirty="0">
                <a:solidFill>
                  <a:schemeClr val="bg1"/>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5F6473"/>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C9CED8"/>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lIns="0" tIns="0" rIns="0" bIns="0" rtlCol="0" anchor="t"/>
          <a:lstStyle/>
          <a:p>
            <a:pPr algn="l" indent="0" marL="0">
              <a:buNone/>
            </a:pPr>
            <a:r>
              <a:rPr lang="en-US" sz="3400" b="1" dirty="0">
                <a:solidFill>
                  <a:schemeClr val="bg1"/>
                </a:solidFill>
              </a:rPr>
              <a:t>Is a neural network worth it on a museum kiosk?</a:t>
            </a: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lIns="0" tIns="0" rIns="0" bIns="0" rtlCol="0" anchor="t"/>
          <a:lstStyle/>
          <a:p>
            <a:pPr algn="l" indent="0" marL="0">
              <a:buNone/>
            </a:pPr>
            <a:r>
              <a:rPr lang="en-US" sz="1700" dirty="0">
                <a:solidFill>
                  <a:schemeClr val="bg1"/>
                </a:solidFill>
              </a:rPr>
              <a:t>Recognising painting styles with an MLP and a pretrained ResNet18</a:t>
            </a:r>
            <a:endParaRPr lang="en-US" sz="1700" dirty="0"/>
          </a:p>
        </p:txBody>
      </p:sp>
      <p:sp>
        <p:nvSpPr>
          <p:cNvPr id="4" name="frame Baroque"/>
          <p:cNvSpPr/>
          <p:nvPr/>
        </p:nvSpPr>
        <p:spPr>
          <a:xfrm>
            <a:off x="662940" y="2331720"/>
            <a:ext cx="1417320" cy="1417320"/>
          </a:xfrm>
          <a:prstGeom prst="rect">
            <a:avLst/>
          </a:prstGeom>
          <a:solidFill>
            <a:schemeClr val="bg1"/>
          </a:solidFill>
          <a:ln w="12700">
            <a:solidFill>
              <a:schemeClr val="bg1"/>
            </a:solidFill>
            <a:prstDash val="solid"/>
          </a:ln>
        </p:spPr>
      </p:sp>
      <p:sp>
        <p:nvSpPr>
          <p:cNvPr id="5" name="colour Baroque"/>
          <p:cNvSpPr/>
          <p:nvPr/>
        </p:nvSpPr>
        <p:spPr>
          <a:xfrm>
            <a:off x="708660" y="2377440"/>
            <a:ext cx="1325880" cy="1325880"/>
          </a:xfrm>
          <a:prstGeom prst="rect">
            <a:avLst/>
          </a:prstGeom>
          <a:solidFill>
            <a:srgbClr val="2A78D6"/>
          </a:solidFill>
          <a:ln w="12700">
            <a:solidFill>
              <a:srgbClr val="2A78D6"/>
            </a:solidFill>
            <a:prstDash val="solid"/>
          </a:ln>
        </p:spPr>
      </p:sp>
      <p:sp>
        <p:nvSpPr>
          <p:cNvPr id="6" name="label Baroque"/>
          <p:cNvSpPr txBox="1"/>
          <p:nvPr/>
        </p:nvSpPr>
        <p:spPr>
          <a:xfrm>
            <a:off x="6172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Baroque</a:t>
            </a:r>
            <a:endParaRPr lang="en-US" sz="1300" dirty="0"/>
          </a:p>
        </p:txBody>
      </p:sp>
      <p:sp>
        <p:nvSpPr>
          <p:cNvPr id="7" name="frame Cubism"/>
          <p:cNvSpPr/>
          <p:nvPr/>
        </p:nvSpPr>
        <p:spPr>
          <a:xfrm>
            <a:off x="2263140" y="2331720"/>
            <a:ext cx="1417320" cy="1417320"/>
          </a:xfrm>
          <a:prstGeom prst="rect">
            <a:avLst/>
          </a:prstGeom>
          <a:solidFill>
            <a:schemeClr val="bg1"/>
          </a:solidFill>
          <a:ln w="12700">
            <a:solidFill>
              <a:schemeClr val="bg1"/>
            </a:solidFill>
            <a:prstDash val="solid"/>
          </a:ln>
        </p:spPr>
      </p:sp>
      <p:sp>
        <p:nvSpPr>
          <p:cNvPr id="8" name="colour Cubism"/>
          <p:cNvSpPr/>
          <p:nvPr/>
        </p:nvSpPr>
        <p:spPr>
          <a:xfrm>
            <a:off x="2308860" y="2377440"/>
            <a:ext cx="1325880" cy="1325880"/>
          </a:xfrm>
          <a:prstGeom prst="rect">
            <a:avLst/>
          </a:prstGeom>
          <a:solidFill>
            <a:srgbClr val="EB6834"/>
          </a:solidFill>
          <a:ln w="12700">
            <a:solidFill>
              <a:srgbClr val="EB6834"/>
            </a:solidFill>
            <a:prstDash val="solid"/>
          </a:ln>
        </p:spPr>
      </p:sp>
      <p:sp>
        <p:nvSpPr>
          <p:cNvPr id="9" name="label Cubism"/>
          <p:cNvSpPr txBox="1"/>
          <p:nvPr/>
        </p:nvSpPr>
        <p:spPr>
          <a:xfrm>
            <a:off x="22174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Cubism</a:t>
            </a:r>
            <a:endParaRPr lang="en-US" sz="1300" dirty="0"/>
          </a:p>
        </p:txBody>
      </p:sp>
      <p:sp>
        <p:nvSpPr>
          <p:cNvPr id="10" name="frame Impressionism"/>
          <p:cNvSpPr/>
          <p:nvPr/>
        </p:nvSpPr>
        <p:spPr>
          <a:xfrm>
            <a:off x="3863340" y="2331720"/>
            <a:ext cx="1417320" cy="1417320"/>
          </a:xfrm>
          <a:prstGeom prst="rect">
            <a:avLst/>
          </a:prstGeom>
          <a:solidFill>
            <a:schemeClr val="bg1"/>
          </a:solidFill>
          <a:ln w="12700">
            <a:solidFill>
              <a:schemeClr val="bg1"/>
            </a:solidFill>
            <a:prstDash val="solid"/>
          </a:ln>
        </p:spPr>
      </p:sp>
      <p:sp>
        <p:nvSpPr>
          <p:cNvPr id="11" name="colour Impressionism"/>
          <p:cNvSpPr/>
          <p:nvPr/>
        </p:nvSpPr>
        <p:spPr>
          <a:xfrm>
            <a:off x="3909060" y="2377440"/>
            <a:ext cx="1325880" cy="1325880"/>
          </a:xfrm>
          <a:prstGeom prst="rect">
            <a:avLst/>
          </a:prstGeom>
          <a:solidFill>
            <a:srgbClr val="1BAF7A"/>
          </a:solidFill>
          <a:ln w="12700">
            <a:solidFill>
              <a:srgbClr val="1BAF7A"/>
            </a:solidFill>
            <a:prstDash val="solid"/>
          </a:ln>
        </p:spPr>
      </p:sp>
      <p:sp>
        <p:nvSpPr>
          <p:cNvPr id="12" name="label Impressionism"/>
          <p:cNvSpPr txBox="1"/>
          <p:nvPr/>
        </p:nvSpPr>
        <p:spPr>
          <a:xfrm>
            <a:off x="38176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Impressionism</a:t>
            </a:r>
            <a:endParaRPr lang="en-US" sz="1300" dirty="0"/>
          </a:p>
        </p:txBody>
      </p:sp>
      <p:sp>
        <p:nvSpPr>
          <p:cNvPr id="13" name="frame Pop Art"/>
          <p:cNvSpPr/>
          <p:nvPr/>
        </p:nvSpPr>
        <p:spPr>
          <a:xfrm>
            <a:off x="5463540" y="2331720"/>
            <a:ext cx="1417320" cy="1417320"/>
          </a:xfrm>
          <a:prstGeom prst="rect">
            <a:avLst/>
          </a:prstGeom>
          <a:solidFill>
            <a:schemeClr val="bg1"/>
          </a:solidFill>
          <a:ln w="12700">
            <a:solidFill>
              <a:schemeClr val="bg1"/>
            </a:solidFill>
            <a:prstDash val="solid"/>
          </a:ln>
        </p:spPr>
      </p:sp>
      <p:sp>
        <p:nvSpPr>
          <p:cNvPr id="14" name="colour Pop Art"/>
          <p:cNvSpPr/>
          <p:nvPr/>
        </p:nvSpPr>
        <p:spPr>
          <a:xfrm>
            <a:off x="5509260" y="2377440"/>
            <a:ext cx="1325880" cy="1325880"/>
          </a:xfrm>
          <a:prstGeom prst="rect">
            <a:avLst/>
          </a:prstGeom>
          <a:solidFill>
            <a:srgbClr val="EDA100"/>
          </a:solidFill>
          <a:ln w="12700">
            <a:solidFill>
              <a:srgbClr val="EDA100"/>
            </a:solidFill>
            <a:prstDash val="solid"/>
          </a:ln>
        </p:spPr>
      </p:sp>
      <p:sp>
        <p:nvSpPr>
          <p:cNvPr id="15" name="label Pop Art"/>
          <p:cNvSpPr txBox="1"/>
          <p:nvPr/>
        </p:nvSpPr>
        <p:spPr>
          <a:xfrm>
            <a:off x="54178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Pop Art</a:t>
            </a:r>
            <a:endParaRPr lang="en-US" sz="1300" dirty="0"/>
          </a:p>
        </p:txBody>
      </p:sp>
      <p:sp>
        <p:nvSpPr>
          <p:cNvPr id="16" name="frame Ukiyo-e"/>
          <p:cNvSpPr/>
          <p:nvPr/>
        </p:nvSpPr>
        <p:spPr>
          <a:xfrm>
            <a:off x="7063740" y="2331720"/>
            <a:ext cx="1417320" cy="1417320"/>
          </a:xfrm>
          <a:prstGeom prst="rect">
            <a:avLst/>
          </a:prstGeom>
          <a:solidFill>
            <a:schemeClr val="bg1"/>
          </a:solidFill>
          <a:ln w="12700">
            <a:solidFill>
              <a:schemeClr val="bg1"/>
            </a:solidFill>
            <a:prstDash val="solid"/>
          </a:ln>
        </p:spPr>
      </p:sp>
      <p:sp>
        <p:nvSpPr>
          <p:cNvPr id="17" name="colour Ukiyo-e"/>
          <p:cNvSpPr/>
          <p:nvPr/>
        </p:nvSpPr>
        <p:spPr>
          <a:xfrm>
            <a:off x="7109460" y="2377440"/>
            <a:ext cx="1325880" cy="1325880"/>
          </a:xfrm>
          <a:prstGeom prst="rect">
            <a:avLst/>
          </a:prstGeom>
          <a:solidFill>
            <a:srgbClr val="E87BA4"/>
          </a:solidFill>
          <a:ln w="12700">
            <a:solidFill>
              <a:srgbClr val="E87BA4"/>
            </a:solidFill>
            <a:prstDash val="solid"/>
          </a:ln>
        </p:spPr>
      </p:sp>
      <p:sp>
        <p:nvSpPr>
          <p:cNvPr id="18" name="label Ukiyo-e"/>
          <p:cNvSpPr txBox="1"/>
          <p:nvPr/>
        </p:nvSpPr>
        <p:spPr>
          <a:xfrm>
            <a:off x="70180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Ukiyo-e</a:t>
            </a:r>
            <a:endParaRPr lang="en-US" sz="1300" dirty="0"/>
          </a:p>
        </p:txBody>
      </p:sp>
      <p:sp>
        <p:nvSpPr>
          <p:cNvPr id="19" name="byline"/>
          <p:cNvSpPr txBox="1"/>
          <p:nvPr/>
        </p:nvSpPr>
        <p:spPr>
          <a:xfrm>
            <a:off x="548640" y="4434840"/>
            <a:ext cx="8046720" cy="320040"/>
          </a:xfrm>
          <a:prstGeom prst="rect">
            <a:avLst/>
          </a:prstGeom>
          <a:noFill/>
          <a:ln/>
        </p:spPr>
        <p:txBody>
          <a:bodyPr wrap="square" lIns="0" tIns="0" rIns="0" bIns="0" rtlCol="0" anchor="ctr"/>
          <a:lstStyle/>
          <a:p>
            <a:pPr indent="0" marL="0">
              <a:buNone/>
            </a:pPr>
            <a:r>
              <a:rPr lang="en-US" sz="1300" dirty="0">
                <a:solidFill>
                  <a:srgbClr val="C9CED8"/>
                </a:solidFill>
              </a:rPr>
              <a:t>MSA-DATB09-03 · Final project · Benjamin Caujolle · paintings not shown in this public copy (WikiArt licence)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Six steps to answer the director</a:t>
            </a:r>
            <a:endParaRPr lang="en-US" sz="3000" dirty="0"/>
          </a:p>
        </p:txBody>
      </p:sp>
      <p:sp>
        <p:nvSpPr>
          <p:cNvPr id="3" name="note The question"/>
          <p:cNvSpPr/>
          <p:nvPr/>
        </p:nvSpPr>
        <p:spPr>
          <a:xfrm>
            <a:off x="457200" y="960120"/>
            <a:ext cx="8229600" cy="914400"/>
          </a:xfrm>
          <a:prstGeom prst="roundRect">
            <a:avLst>
              <a:gd name="adj" fmla="val 8000"/>
            </a:avLst>
          </a:prstGeom>
          <a:solidFill>
            <a:schemeClr val="bg2"/>
          </a:solidFill>
          <a:ln w="12700">
            <a:solidFill>
              <a:schemeClr val="bg2"/>
            </a:solidFill>
            <a:prstDash val="solid"/>
          </a:ln>
        </p:spPr>
      </p:sp>
      <p:sp>
        <p:nvSpPr>
          <p:cNvPr id="4" name="text The question"/>
          <p:cNvSpPr txBox="1"/>
          <p:nvPr/>
        </p:nvSpPr>
        <p:spPr>
          <a:xfrm>
            <a:off x="621792" y="1069848"/>
            <a:ext cx="7900416" cy="69494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The question</a:t>
            </a:r>
            <a:endParaRPr lang="en-US" sz="1400" dirty="0"/>
          </a:p>
          <a:p>
            <a:pPr indent="0" marL="0">
              <a:spcAft>
                <a:spcPts val="400"/>
              </a:spcAft>
              <a:buNone/>
            </a:pPr>
            <a:r>
              <a:rPr lang="en-US" sz="1400" dirty="0">
                <a:solidFill>
                  <a:schemeClr val="tx1"/>
                </a:solidFill>
              </a:rPr>
              <a:t>Is a neural network worth it on a kiosk with a small CPU and a small team, or would a simpler classical model do the job?</a:t>
            </a:r>
            <a:endParaRPr lang="en-US" sz="1400" dirty="0"/>
          </a:p>
        </p:txBody>
      </p:sp>
      <p:sp>
        <p:nvSpPr>
          <p:cNvPr id="5" name="step 1"/>
          <p:cNvSpPr/>
          <p:nvPr/>
        </p:nvSpPr>
        <p:spPr>
          <a:xfrm>
            <a:off x="457200" y="2011680"/>
            <a:ext cx="2560320" cy="1188720"/>
          </a:xfrm>
          <a:prstGeom prst="roundRect">
            <a:avLst>
              <a:gd name="adj" fmla="val 6154"/>
            </a:avLst>
          </a:prstGeom>
          <a:solidFill>
            <a:schemeClr val="bg2"/>
          </a:solidFill>
          <a:ln w="12700">
            <a:solidFill>
              <a:schemeClr val="bg2"/>
            </a:solidFill>
            <a:prstDash val="solid"/>
          </a:ln>
        </p:spPr>
      </p:sp>
      <p:sp>
        <p:nvSpPr>
          <p:cNvPr id="6" name="step circle 1"/>
          <p:cNvSpPr/>
          <p:nvPr/>
        </p:nvSpPr>
        <p:spPr>
          <a:xfrm>
            <a:off x="621792" y="2194560"/>
            <a:ext cx="457200" cy="457200"/>
          </a:xfrm>
          <a:prstGeom prst="ellipse">
            <a:avLst/>
          </a:prstGeom>
          <a:solidFill>
            <a:schemeClr val="accent1"/>
          </a:solidFill>
          <a:ln w="12700">
            <a:solidFill>
              <a:schemeClr val="accent1"/>
            </a:solidFill>
            <a:prstDash val="solid"/>
          </a:ln>
        </p:spPr>
      </p:sp>
      <p:sp>
        <p:nvSpPr>
          <p:cNvPr id="7" name="step number 1"/>
          <p:cNvSpPr txBox="1"/>
          <p:nvPr/>
        </p:nvSpPr>
        <p:spPr>
          <a:xfrm>
            <a:off x="62179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step text 1"/>
          <p:cNvSpPr txBox="1"/>
          <p:nvPr/>
        </p:nvSpPr>
        <p:spPr>
          <a:xfrm>
            <a:off x="120700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Data and a fair split</a:t>
            </a:r>
            <a:endParaRPr lang="en-US" sz="1400" dirty="0"/>
          </a:p>
          <a:p>
            <a:pPr indent="0" marL="0">
              <a:buNone/>
            </a:pPr>
            <a:r>
              <a:rPr lang="en-US" sz="1200" dirty="0">
                <a:solidFill>
                  <a:schemeClr val="tx1"/>
                </a:solidFill>
              </a:rPr>
              <a:t>1 500 WikiArt paintings, 5 styles, split by painter</a:t>
            </a:r>
            <a:endParaRPr lang="en-US" sz="1400" dirty="0"/>
          </a:p>
        </p:txBody>
      </p:sp>
      <p:sp>
        <p:nvSpPr>
          <p:cNvPr id="9" name="step 2"/>
          <p:cNvSpPr/>
          <p:nvPr/>
        </p:nvSpPr>
        <p:spPr>
          <a:xfrm>
            <a:off x="3291840" y="2011680"/>
            <a:ext cx="2560320" cy="1188720"/>
          </a:xfrm>
          <a:prstGeom prst="roundRect">
            <a:avLst>
              <a:gd name="adj" fmla="val 6154"/>
            </a:avLst>
          </a:prstGeom>
          <a:solidFill>
            <a:schemeClr val="bg2"/>
          </a:solidFill>
          <a:ln w="12700">
            <a:solidFill>
              <a:schemeClr val="bg2"/>
            </a:solidFill>
            <a:prstDash val="solid"/>
          </a:ln>
        </p:spPr>
      </p:sp>
      <p:sp>
        <p:nvSpPr>
          <p:cNvPr id="10" name="step circle 2"/>
          <p:cNvSpPr/>
          <p:nvPr/>
        </p:nvSpPr>
        <p:spPr>
          <a:xfrm>
            <a:off x="3456432" y="2194560"/>
            <a:ext cx="457200" cy="457200"/>
          </a:xfrm>
          <a:prstGeom prst="ellipse">
            <a:avLst/>
          </a:prstGeom>
          <a:solidFill>
            <a:schemeClr val="accent1"/>
          </a:solidFill>
          <a:ln w="12700">
            <a:solidFill>
              <a:schemeClr val="accent1"/>
            </a:solidFill>
            <a:prstDash val="solid"/>
          </a:ln>
        </p:spPr>
      </p:sp>
      <p:sp>
        <p:nvSpPr>
          <p:cNvPr id="11" name="step number 2"/>
          <p:cNvSpPr txBox="1"/>
          <p:nvPr/>
        </p:nvSpPr>
        <p:spPr>
          <a:xfrm>
            <a:off x="345643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step text 2"/>
          <p:cNvSpPr txBox="1"/>
          <p:nvPr/>
        </p:nvSpPr>
        <p:spPr>
          <a:xfrm>
            <a:off x="404164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Our own network (MLP)</a:t>
            </a:r>
            <a:endParaRPr lang="en-US" sz="1400" dirty="0"/>
          </a:p>
          <a:p>
            <a:pPr indent="0" marL="0">
              <a:buNone/>
            </a:pPr>
            <a:r>
              <a:rPr lang="en-US" sz="1200" dirty="0">
                <a:solidFill>
                  <a:schemeClr val="tx1"/>
                </a:solidFill>
              </a:rPr>
              <a:t>built from nn.Linear, trained on the pixels</a:t>
            </a:r>
            <a:endParaRPr lang="en-US" sz="1400" dirty="0"/>
          </a:p>
        </p:txBody>
      </p:sp>
      <p:sp>
        <p:nvSpPr>
          <p:cNvPr id="13" name="step 3"/>
          <p:cNvSpPr/>
          <p:nvPr/>
        </p:nvSpPr>
        <p:spPr>
          <a:xfrm>
            <a:off x="6126480" y="2011680"/>
            <a:ext cx="2560320" cy="1188720"/>
          </a:xfrm>
          <a:prstGeom prst="roundRect">
            <a:avLst>
              <a:gd name="adj" fmla="val 6154"/>
            </a:avLst>
          </a:prstGeom>
          <a:solidFill>
            <a:schemeClr val="bg2"/>
          </a:solidFill>
          <a:ln w="12700">
            <a:solidFill>
              <a:schemeClr val="bg2"/>
            </a:solidFill>
            <a:prstDash val="solid"/>
          </a:ln>
        </p:spPr>
      </p:sp>
      <p:sp>
        <p:nvSpPr>
          <p:cNvPr id="14" name="step circle 3"/>
          <p:cNvSpPr/>
          <p:nvPr/>
        </p:nvSpPr>
        <p:spPr>
          <a:xfrm>
            <a:off x="6291072" y="2194560"/>
            <a:ext cx="457200" cy="457200"/>
          </a:xfrm>
          <a:prstGeom prst="ellipse">
            <a:avLst/>
          </a:prstGeom>
          <a:solidFill>
            <a:schemeClr val="accent1"/>
          </a:solidFill>
          <a:ln w="12700">
            <a:solidFill>
              <a:schemeClr val="accent1"/>
            </a:solidFill>
            <a:prstDash val="solid"/>
          </a:ln>
        </p:spPr>
      </p:sp>
      <p:sp>
        <p:nvSpPr>
          <p:cNvPr id="15" name="step number 3"/>
          <p:cNvSpPr txBox="1"/>
          <p:nvPr/>
        </p:nvSpPr>
        <p:spPr>
          <a:xfrm>
            <a:off x="629107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step text 3"/>
          <p:cNvSpPr txBox="1"/>
          <p:nvPr/>
        </p:nvSpPr>
        <p:spPr>
          <a:xfrm>
            <a:off x="687628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Monitoring and diagnosis</a:t>
            </a:r>
            <a:endParaRPr lang="en-US" sz="1400" dirty="0"/>
          </a:p>
          <a:p>
            <a:pPr indent="0" marL="0">
              <a:buNone/>
            </a:pPr>
            <a:r>
              <a:rPr lang="en-US" sz="1200" dirty="0">
                <a:solidFill>
                  <a:schemeClr val="tx1"/>
                </a:solidFill>
              </a:rPr>
              <a:t>look inside the training, diagnose it, fix it</a:t>
            </a:r>
            <a:endParaRPr lang="en-US" sz="1400" dirty="0"/>
          </a:p>
        </p:txBody>
      </p:sp>
      <p:sp>
        <p:nvSpPr>
          <p:cNvPr id="17" name="step 4"/>
          <p:cNvSpPr/>
          <p:nvPr/>
        </p:nvSpPr>
        <p:spPr>
          <a:xfrm>
            <a:off x="457200" y="3355848"/>
            <a:ext cx="2560320" cy="1188720"/>
          </a:xfrm>
          <a:prstGeom prst="roundRect">
            <a:avLst>
              <a:gd name="adj" fmla="val 6154"/>
            </a:avLst>
          </a:prstGeom>
          <a:solidFill>
            <a:schemeClr val="bg2"/>
          </a:solidFill>
          <a:ln w="12700">
            <a:solidFill>
              <a:schemeClr val="bg2"/>
            </a:solidFill>
            <a:prstDash val="solid"/>
          </a:ln>
        </p:spPr>
      </p:sp>
      <p:sp>
        <p:nvSpPr>
          <p:cNvPr id="18" name="step circle 4"/>
          <p:cNvSpPr/>
          <p:nvPr/>
        </p:nvSpPr>
        <p:spPr>
          <a:xfrm>
            <a:off x="621792" y="3538728"/>
            <a:ext cx="457200" cy="457200"/>
          </a:xfrm>
          <a:prstGeom prst="ellipse">
            <a:avLst/>
          </a:prstGeom>
          <a:solidFill>
            <a:schemeClr val="accent1"/>
          </a:solidFill>
          <a:ln w="12700">
            <a:solidFill>
              <a:schemeClr val="accent1"/>
            </a:solidFill>
            <a:prstDash val="solid"/>
          </a:ln>
        </p:spPr>
      </p:sp>
      <p:sp>
        <p:nvSpPr>
          <p:cNvPr id="19" name="step number 4"/>
          <p:cNvSpPr txBox="1"/>
          <p:nvPr/>
        </p:nvSpPr>
        <p:spPr>
          <a:xfrm>
            <a:off x="62179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text 4"/>
          <p:cNvSpPr txBox="1"/>
          <p:nvPr/>
        </p:nvSpPr>
        <p:spPr>
          <a:xfrm>
            <a:off x="120700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A pretrained ResNet18</a:t>
            </a:r>
            <a:endParaRPr lang="en-US" sz="1400" dirty="0"/>
          </a:p>
          <a:p>
            <a:pPr indent="0" marL="0">
              <a:buNone/>
            </a:pPr>
            <a:r>
              <a:rPr lang="en-US" sz="1200" dirty="0">
                <a:solidFill>
                  <a:schemeClr val="tx1"/>
                </a:solidFill>
              </a:rPr>
              <a:t>reuse a network trained on 1.2 million photos</a:t>
            </a:r>
            <a:endParaRPr lang="en-US" sz="1400" dirty="0"/>
          </a:p>
        </p:txBody>
      </p:sp>
      <p:sp>
        <p:nvSpPr>
          <p:cNvPr id="21" name="step 5"/>
          <p:cNvSpPr/>
          <p:nvPr/>
        </p:nvSpPr>
        <p:spPr>
          <a:xfrm>
            <a:off x="3291840" y="3355848"/>
            <a:ext cx="2560320" cy="1188720"/>
          </a:xfrm>
          <a:prstGeom prst="roundRect">
            <a:avLst>
              <a:gd name="adj" fmla="val 6154"/>
            </a:avLst>
          </a:prstGeom>
          <a:solidFill>
            <a:schemeClr val="bg2"/>
          </a:solidFill>
          <a:ln w="12700">
            <a:solidFill>
              <a:schemeClr val="bg2"/>
            </a:solidFill>
            <a:prstDash val="solid"/>
          </a:ln>
        </p:spPr>
      </p:sp>
      <p:sp>
        <p:nvSpPr>
          <p:cNvPr id="22" name="step circle 5"/>
          <p:cNvSpPr/>
          <p:nvPr/>
        </p:nvSpPr>
        <p:spPr>
          <a:xfrm>
            <a:off x="3456432" y="3538728"/>
            <a:ext cx="457200" cy="457200"/>
          </a:xfrm>
          <a:prstGeom prst="ellipse">
            <a:avLst/>
          </a:prstGeom>
          <a:solidFill>
            <a:schemeClr val="accent1"/>
          </a:solidFill>
          <a:ln w="12700">
            <a:solidFill>
              <a:schemeClr val="accent1"/>
            </a:solidFill>
            <a:prstDash val="solid"/>
          </a:ln>
        </p:spPr>
      </p:sp>
      <p:sp>
        <p:nvSpPr>
          <p:cNvPr id="23" name="step number 5"/>
          <p:cNvSpPr txBox="1"/>
          <p:nvPr/>
        </p:nvSpPr>
        <p:spPr>
          <a:xfrm>
            <a:off x="345643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text 5"/>
          <p:cNvSpPr txBox="1"/>
          <p:nvPr/>
        </p:nvSpPr>
        <p:spPr>
          <a:xfrm>
            <a:off x="404164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final test</a:t>
            </a:r>
            <a:endParaRPr lang="en-US" sz="1400" dirty="0"/>
          </a:p>
          <a:p>
            <a:pPr indent="0" marL="0">
              <a:buNone/>
            </a:pPr>
            <a:r>
              <a:rPr lang="en-US" sz="1200" dirty="0">
                <a:solidFill>
                  <a:schemeClr val="tx1"/>
                </a:solidFill>
              </a:rPr>
              <a:t>every model once on 220 new paintings, classical models too</a:t>
            </a:r>
            <a:endParaRPr lang="en-US" sz="1400" dirty="0"/>
          </a:p>
        </p:txBody>
      </p:sp>
      <p:sp>
        <p:nvSpPr>
          <p:cNvPr id="25" name="step 6"/>
          <p:cNvSpPr/>
          <p:nvPr/>
        </p:nvSpPr>
        <p:spPr>
          <a:xfrm>
            <a:off x="6126480" y="3355848"/>
            <a:ext cx="2560320" cy="1188720"/>
          </a:xfrm>
          <a:prstGeom prst="roundRect">
            <a:avLst>
              <a:gd name="adj" fmla="val 6154"/>
            </a:avLst>
          </a:prstGeom>
          <a:solidFill>
            <a:schemeClr val="bg2"/>
          </a:solidFill>
          <a:ln w="12700">
            <a:solidFill>
              <a:schemeClr val="bg2"/>
            </a:solidFill>
            <a:prstDash val="solid"/>
          </a:ln>
        </p:spPr>
      </p:sp>
      <p:sp>
        <p:nvSpPr>
          <p:cNvPr id="26" name="step circle 6"/>
          <p:cNvSpPr/>
          <p:nvPr/>
        </p:nvSpPr>
        <p:spPr>
          <a:xfrm>
            <a:off x="6291072" y="3538728"/>
            <a:ext cx="457200" cy="457200"/>
          </a:xfrm>
          <a:prstGeom prst="ellipse">
            <a:avLst/>
          </a:prstGeom>
          <a:solidFill>
            <a:schemeClr val="accent1"/>
          </a:solidFill>
          <a:ln w="12700">
            <a:solidFill>
              <a:schemeClr val="accent1"/>
            </a:solidFill>
            <a:prstDash val="solid"/>
          </a:ln>
        </p:spPr>
      </p:sp>
      <p:sp>
        <p:nvSpPr>
          <p:cNvPr id="27" name="step number 6"/>
          <p:cNvSpPr txBox="1"/>
          <p:nvPr/>
        </p:nvSpPr>
        <p:spPr>
          <a:xfrm>
            <a:off x="629107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8" name="step text 6"/>
          <p:cNvSpPr txBox="1"/>
          <p:nvPr/>
        </p:nvSpPr>
        <p:spPr>
          <a:xfrm>
            <a:off x="687628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cost on a kiosk</a:t>
            </a:r>
            <a:endParaRPr lang="en-US" sz="1400" dirty="0"/>
          </a:p>
          <a:p>
            <a:pPr indent="0" marL="0">
              <a:buNone/>
            </a:pPr>
            <a:r>
              <a:rPr lang="en-US" sz="1200" dirty="0">
                <a:solidFill>
                  <a:schemeClr val="tx1"/>
                </a:solidFill>
              </a:rPr>
              <a:t>time per photo, size, training time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fair test: one painter, one part</a:t>
            </a:r>
            <a:endParaRPr lang="en-US" sz="3000" dirty="0"/>
          </a:p>
        </p:txBody>
      </p:sp>
      <p:sp>
        <p:nvSpPr>
          <p:cNvPr id="3" name="step tag 1"/>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1 OF 6 · DATA</a:t>
            </a:r>
            <a:endParaRPr lang="en-US" sz="1100" dirty="0"/>
          </a:p>
        </p:txBody>
      </p:sp>
      <p:sp>
        <p:nvSpPr>
          <p:cNvPr id="4" name="split bullets"/>
          <p:cNvSpPr txBox="1"/>
          <p:nvPr/>
        </p:nvSpPr>
        <p:spPr>
          <a:xfrm>
            <a:off x="457200" y="1143000"/>
            <a:ext cx="4023360" cy="3383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1 500 WikiArt paintings: 5 styles, 300 per style</a:t>
            </a:r>
            <a:endParaRPr lang="en-US" sz="1500" dirty="0"/>
          </a:p>
          <a:p>
            <a:pPr marL="342900" indent="-342900">
              <a:spcAft>
                <a:spcPts val="800"/>
              </a:spcAft>
              <a:buSzPct val="100000"/>
              <a:buChar char="•"/>
            </a:pPr>
            <a:r>
              <a:rPr lang="en-US" sz="1500" dirty="0">
                <a:solidFill>
                  <a:schemeClr val="tx1"/>
                </a:solidFill>
              </a:rPr>
              <a:t>Same share of each style in every part</a:t>
            </a:r>
            <a:endParaRPr lang="en-US" sz="1500" dirty="0"/>
          </a:p>
          <a:p>
            <a:pPr marL="342900" indent="-342900">
              <a:spcAft>
                <a:spcPts val="800"/>
              </a:spcAft>
              <a:buSzPct val="100000"/>
              <a:buChar char="•"/>
            </a:pPr>
            <a:r>
              <a:rPr lang="en-US" sz="1500" dirty="0">
                <a:solidFill>
                  <a:schemeClr val="tx1"/>
                </a:solidFill>
              </a:rPr>
              <a:t>All the paintings of a known painter go to the same part</a:t>
            </a:r>
            <a:endParaRPr lang="en-US" sz="1500" dirty="0"/>
          </a:p>
          <a:p>
            <a:pPr marL="342900" indent="-342900">
              <a:spcAft>
                <a:spcPts val="800"/>
              </a:spcAft>
              <a:buSzPct val="100000"/>
              <a:buChar char="•"/>
            </a:pPr>
            <a:r>
              <a:rPr lang="en-US" sz="1500" dirty="0">
                <a:solidFill>
                  <a:schemeClr val="tx1"/>
                </a:solidFill>
              </a:rPr>
              <a:t>Test set locked until the very end, then used once</a:t>
            </a:r>
            <a:endParaRPr lang="en-US" sz="1500" dirty="0"/>
          </a:p>
        </p:txBody>
      </p:sp>
      <p:sp>
        <p:nvSpPr>
          <p:cNvPr id="5" name="split panel"/>
          <p:cNvSpPr/>
          <p:nvPr/>
        </p:nvSpPr>
        <p:spPr>
          <a:xfrm>
            <a:off x="4754880" y="1097280"/>
            <a:ext cx="3931920" cy="3474720"/>
          </a:xfrm>
          <a:prstGeom prst="roundRect">
            <a:avLst>
              <a:gd name="adj" fmla="val 2105"/>
            </a:avLst>
          </a:prstGeom>
          <a:solidFill>
            <a:schemeClr val="bg2"/>
          </a:solidFill>
          <a:ln w="12700">
            <a:solidFill>
              <a:schemeClr val="bg2"/>
            </a:solidFill>
            <a:prstDash val="solid"/>
          </a:ln>
        </p:spPr>
      </p:sp>
      <p:sp>
        <p:nvSpPr>
          <p:cNvPr id="6" name="split caption"/>
          <p:cNvSpPr txBox="1"/>
          <p:nvPr/>
        </p:nvSpPr>
        <p:spPr>
          <a:xfrm>
            <a:off x="4983480" y="1234440"/>
            <a:ext cx="3474720" cy="274320"/>
          </a:xfrm>
          <a:prstGeom prst="rect">
            <a:avLst/>
          </a:prstGeom>
          <a:noFill/>
          <a:ln/>
        </p:spPr>
        <p:txBody>
          <a:bodyPr wrap="square" lIns="0" tIns="0" rIns="0" bIns="0" rtlCol="0" anchor="ctr"/>
          <a:lstStyle/>
          <a:p>
            <a:pPr indent="0" marL="0">
              <a:buNone/>
            </a:pPr>
            <a:r>
              <a:rPr lang="en-US" sz="1300" b="1" dirty="0">
                <a:solidFill>
                  <a:schemeClr val="tx2"/>
                </a:solidFill>
              </a:rPr>
              <a:t>How the paintings are split</a:t>
            </a:r>
            <a:endParaRPr lang="en-US" sz="1300" dirty="0"/>
          </a:p>
        </p:txBody>
      </p:sp>
      <p:sp>
        <p:nvSpPr>
          <p:cNvPr id="7" name="bar train"/>
          <p:cNvSpPr/>
          <p:nvPr/>
        </p:nvSpPr>
        <p:spPr>
          <a:xfrm>
            <a:off x="4983480" y="1645920"/>
            <a:ext cx="2457785" cy="411480"/>
          </a:xfrm>
          <a:prstGeom prst="rect">
            <a:avLst/>
          </a:prstGeom>
          <a:solidFill>
            <a:schemeClr val="accent1"/>
          </a:solidFill>
          <a:ln w="19050">
            <a:solidFill>
              <a:schemeClr val="bg2"/>
            </a:solidFill>
            <a:prstDash val="solid"/>
          </a:ln>
        </p:spPr>
      </p:sp>
      <p:sp>
        <p:nvSpPr>
          <p:cNvPr id="8" name="label train"/>
          <p:cNvSpPr txBox="1"/>
          <p:nvPr/>
        </p:nvSpPr>
        <p:spPr>
          <a:xfrm>
            <a:off x="4983480" y="2103120"/>
            <a:ext cx="2457785" cy="457200"/>
          </a:xfrm>
          <a:prstGeom prst="rect">
            <a:avLst/>
          </a:prstGeom>
          <a:noFill/>
          <a:ln/>
        </p:spPr>
        <p:txBody>
          <a:bodyPr wrap="square" lIns="0" tIns="0" rIns="0" bIns="0" rtlCol="0" anchor="ctr"/>
          <a:lstStyle/>
          <a:p>
            <a:pPr algn="ctr" indent="0" marL="0">
              <a:buNone/>
            </a:pPr>
            <a:r>
              <a:rPr lang="en-US" sz="1200" dirty="0">
                <a:solidFill>
                  <a:schemeClr val="tx1"/>
                </a:solidFill>
              </a:rPr>
              <a:t>1 061</a:t>
            </a:r>
            <a:endParaRPr lang="en-US" sz="1200" dirty="0"/>
          </a:p>
          <a:p>
            <a:pPr algn="ctr" indent="0" marL="0">
              <a:buNone/>
            </a:pPr>
            <a:r>
              <a:rPr lang="en-US" sz="1200" dirty="0">
                <a:solidFill>
                  <a:schemeClr val="tx1"/>
                </a:solidFill>
              </a:rPr>
              <a:t>train</a:t>
            </a:r>
            <a:endParaRPr lang="en-US" sz="1200" dirty="0"/>
          </a:p>
        </p:txBody>
      </p:sp>
      <p:sp>
        <p:nvSpPr>
          <p:cNvPr id="9" name="bar validation"/>
          <p:cNvSpPr/>
          <p:nvPr/>
        </p:nvSpPr>
        <p:spPr>
          <a:xfrm>
            <a:off x="7441265" y="1645920"/>
            <a:ext cx="507309" cy="411480"/>
          </a:xfrm>
          <a:prstGeom prst="rect">
            <a:avLst/>
          </a:prstGeom>
          <a:solidFill>
            <a:schemeClr val="accent4"/>
          </a:solidFill>
          <a:ln w="19050">
            <a:solidFill>
              <a:schemeClr val="bg2"/>
            </a:solidFill>
            <a:prstDash val="solid"/>
          </a:ln>
        </p:spPr>
      </p:sp>
      <p:sp>
        <p:nvSpPr>
          <p:cNvPr id="10" name="label validation"/>
          <p:cNvSpPr txBox="1"/>
          <p:nvPr/>
        </p:nvSpPr>
        <p:spPr>
          <a:xfrm>
            <a:off x="7349825" y="2103120"/>
            <a:ext cx="690189" cy="457200"/>
          </a:xfrm>
          <a:prstGeom prst="rect">
            <a:avLst/>
          </a:prstGeom>
          <a:noFill/>
          <a:ln/>
        </p:spPr>
        <p:txBody>
          <a:bodyPr wrap="square" lIns="0" tIns="0" rIns="0" bIns="0" rtlCol="0" anchor="ctr"/>
          <a:lstStyle/>
          <a:p>
            <a:pPr algn="ctr" indent="0" marL="0">
              <a:buNone/>
            </a:pPr>
            <a:r>
              <a:rPr lang="en-US" sz="1200" dirty="0">
                <a:solidFill>
                  <a:schemeClr val="tx1"/>
                </a:solidFill>
              </a:rPr>
              <a:t>219</a:t>
            </a:r>
            <a:endParaRPr lang="en-US" sz="1200" dirty="0"/>
          </a:p>
          <a:p>
            <a:pPr algn="ctr" indent="0" marL="0">
              <a:buNone/>
            </a:pPr>
            <a:r>
              <a:rPr lang="en-US" sz="1200" dirty="0">
                <a:solidFill>
                  <a:schemeClr val="tx1"/>
                </a:solidFill>
              </a:rPr>
              <a:t>validation</a:t>
            </a:r>
            <a:endParaRPr lang="en-US" sz="1200" dirty="0"/>
          </a:p>
        </p:txBody>
      </p:sp>
      <p:sp>
        <p:nvSpPr>
          <p:cNvPr id="11" name="bar test"/>
          <p:cNvSpPr/>
          <p:nvPr/>
        </p:nvSpPr>
        <p:spPr>
          <a:xfrm>
            <a:off x="7948574" y="1645920"/>
            <a:ext cx="509626" cy="411480"/>
          </a:xfrm>
          <a:prstGeom prst="rect">
            <a:avLst/>
          </a:prstGeom>
          <a:solidFill>
            <a:schemeClr val="tx2"/>
          </a:solidFill>
          <a:ln w="19050">
            <a:solidFill>
              <a:schemeClr val="bg2"/>
            </a:solidFill>
            <a:prstDash val="solid"/>
          </a:ln>
        </p:spPr>
      </p:sp>
      <p:sp>
        <p:nvSpPr>
          <p:cNvPr id="12" name="label test"/>
          <p:cNvSpPr txBox="1"/>
          <p:nvPr/>
        </p:nvSpPr>
        <p:spPr>
          <a:xfrm>
            <a:off x="7857134" y="2103120"/>
            <a:ext cx="692506" cy="457200"/>
          </a:xfrm>
          <a:prstGeom prst="rect">
            <a:avLst/>
          </a:prstGeom>
          <a:noFill/>
          <a:ln/>
        </p:spPr>
        <p:txBody>
          <a:bodyPr wrap="square" lIns="0" tIns="0" rIns="0" bIns="0" rtlCol="0" anchor="ctr"/>
          <a:lstStyle/>
          <a:p>
            <a:pPr algn="ctr" indent="0" marL="0">
              <a:buNone/>
            </a:pPr>
            <a:r>
              <a:rPr lang="en-US" sz="1200" dirty="0">
                <a:solidFill>
                  <a:schemeClr val="tx1"/>
                </a:solidFill>
              </a:rPr>
              <a:t>220</a:t>
            </a:r>
            <a:endParaRPr lang="en-US" sz="1200" dirty="0"/>
          </a:p>
          <a:p>
            <a:pPr algn="ctr" indent="0" marL="0">
              <a:buNone/>
            </a:pPr>
            <a:r>
              <a:rPr lang="en-US" sz="1200" dirty="0">
                <a:solidFill>
                  <a:schemeClr val="tx1"/>
                </a:solidFill>
              </a:rPr>
              <a:t>test</a:t>
            </a:r>
            <a:endParaRPr lang="en-US" sz="1200" dirty="0"/>
          </a:p>
        </p:txBody>
      </p:sp>
      <p:sp>
        <p:nvSpPr>
          <p:cNvPr id="13" name="zero shared"/>
          <p:cNvSpPr txBox="1"/>
          <p:nvPr/>
        </p:nvSpPr>
        <p:spPr>
          <a:xfrm>
            <a:off x="4983480" y="2743200"/>
            <a:ext cx="822960" cy="91440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0</a:t>
            </a:r>
            <a:endParaRPr lang="en-US" sz="6000" dirty="0"/>
          </a:p>
        </p:txBody>
      </p:sp>
      <p:sp>
        <p:nvSpPr>
          <p:cNvPr id="14" name="zero caption"/>
          <p:cNvSpPr txBox="1"/>
          <p:nvPr/>
        </p:nvSpPr>
        <p:spPr>
          <a:xfrm>
            <a:off x="5852160" y="2788920"/>
            <a:ext cx="2697480" cy="868680"/>
          </a:xfrm>
          <a:prstGeom prst="rect">
            <a:avLst/>
          </a:prstGeom>
          <a:noFill/>
          <a:ln/>
        </p:spPr>
        <p:txBody>
          <a:bodyPr wrap="square" lIns="0" tIns="0" rIns="0" bIns="0" rtlCol="0" anchor="ctr"/>
          <a:lstStyle/>
          <a:p>
            <a:pPr indent="0" marL="0">
              <a:buNone/>
            </a:pPr>
            <a:r>
              <a:rPr lang="en-US" sz="1500" b="1" dirty="0">
                <a:solidFill>
                  <a:schemeClr val="tx2"/>
                </a:solidFill>
              </a:rPr>
              <a:t>known painters in two parts</a:t>
            </a:r>
            <a:endParaRPr lang="en-US" sz="1500" dirty="0"/>
          </a:p>
          <a:p>
            <a:pPr indent="0" marL="0">
              <a:buNone/>
            </a:pPr>
            <a:r>
              <a:rPr lang="en-US" sz="1400" dirty="0">
                <a:solidFill>
                  <a:schemeClr val="tx1"/>
                </a:solidFill>
              </a:rPr>
              <a:t>a random split would share 23 of 32</a:t>
            </a:r>
            <a:endParaRPr lang="en-US" sz="1500" dirty="0"/>
          </a:p>
        </p:txBody>
      </p:sp>
      <p:sp>
        <p:nvSpPr>
          <p:cNvPr id="15" name="split note"/>
          <p:cNvSpPr txBox="1"/>
          <p:nvPr/>
        </p:nvSpPr>
        <p:spPr>
          <a:xfrm>
            <a:off x="4983480" y="3794760"/>
            <a:ext cx="3520440" cy="640080"/>
          </a:xfrm>
          <a:prstGeom prst="rect">
            <a:avLst/>
          </a:prstGeom>
          <a:noFill/>
          <a:ln/>
        </p:spPr>
        <p:txBody>
          <a:bodyPr wrap="square" lIns="0" tIns="0" rIns="0" bIns="0" rtlCol="0" anchor="t"/>
          <a:lstStyle/>
          <a:p>
            <a:pPr indent="0" marL="0">
              <a:buNone/>
            </a:pPr>
            <a:r>
              <a:rPr lang="en-US" sz="1200" dirty="0">
                <a:solidFill>
                  <a:srgbClr val="5F6473"/>
                </a:solidFill>
              </a:rPr>
              <a:t>Otherwise a model can recognise the painter instead of the style (we measured it: +11 points).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MLP learns the paintings by heart</a:t>
            </a:r>
            <a:endParaRPr lang="en-US" sz="3000" dirty="0"/>
          </a:p>
        </p:txBody>
      </p:sp>
      <p:sp>
        <p:nvSpPr>
          <p:cNvPr id="3" name="step tag 2"/>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2 OF 6 · OUR MLP</a:t>
            </a:r>
            <a:endParaRPr lang="en-US" sz="1100" dirty="0"/>
          </a:p>
        </p:txBody>
      </p:sp>
      <p:pic>
        <p:nvPicPr>
          <p:cNvPr id="4" name="baseline curves" descr="Training and validation loss and accuracy of the MLP baseline: training accuracy reaches 99.7 % while validation stays near 40 %">    </p:cNvPr>
          <p:cNvPicPr>
            <a:picLocks noChangeAspect="1"/>
          </p:cNvPicPr>
          <p:nvPr/>
        </p:nvPicPr>
        <p:blipFill>
          <a:blip r:embed="rId1"/>
          <a:stretch>
            <a:fillRect/>
          </a:stretch>
        </p:blipFill>
        <p:spPr>
          <a:xfrm>
            <a:off x="1397096" y="960120"/>
            <a:ext cx="6349808" cy="2560320"/>
          </a:xfrm>
          <a:prstGeom prst="rect">
            <a:avLst/>
          </a:prstGeom>
        </p:spPr>
      </p:pic>
      <p:sp>
        <p:nvSpPr>
          <p:cNvPr id="5" name="note The network"/>
          <p:cNvSpPr/>
          <p:nvPr/>
        </p:nvSpPr>
        <p:spPr>
          <a:xfrm>
            <a:off x="457200" y="3657600"/>
            <a:ext cx="2606040" cy="960120"/>
          </a:xfrm>
          <a:prstGeom prst="roundRect">
            <a:avLst>
              <a:gd name="adj" fmla="val 7619"/>
            </a:avLst>
          </a:prstGeom>
          <a:solidFill>
            <a:schemeClr val="bg2"/>
          </a:solidFill>
          <a:ln w="12700">
            <a:solidFill>
              <a:schemeClr val="bg2"/>
            </a:solidFill>
            <a:prstDash val="solid"/>
          </a:ln>
        </p:spPr>
      </p:sp>
      <p:sp>
        <p:nvSpPr>
          <p:cNvPr id="6" name="text The network"/>
          <p:cNvSpPr txBox="1"/>
          <p:nvPr/>
        </p:nvSpPr>
        <p:spPr>
          <a:xfrm>
            <a:off x="62179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network</a:t>
            </a:r>
            <a:endParaRPr lang="en-US" sz="1500" dirty="0"/>
          </a:p>
          <a:p>
            <a:pPr indent="0" marL="0">
              <a:spcAft>
                <a:spcPts val="400"/>
              </a:spcAft>
              <a:buNone/>
            </a:pPr>
            <a:r>
              <a:rPr lang="en-US" sz="1400" dirty="0">
                <a:solidFill>
                  <a:schemeClr val="tx1"/>
                </a:solidFill>
              </a:rPr>
              <a:t>nn.Linear layers, 12 288 → 512 → 256 → 5, 6.4 M parameters</a:t>
            </a:r>
            <a:endParaRPr lang="en-US" sz="1500" dirty="0"/>
          </a:p>
        </p:txBody>
      </p:sp>
      <p:sp>
        <p:nvSpPr>
          <p:cNvPr id="7" name="note Two checks first"/>
          <p:cNvSpPr/>
          <p:nvPr/>
        </p:nvSpPr>
        <p:spPr>
          <a:xfrm>
            <a:off x="3268980" y="3657600"/>
            <a:ext cx="2606040" cy="960120"/>
          </a:xfrm>
          <a:prstGeom prst="roundRect">
            <a:avLst>
              <a:gd name="adj" fmla="val 7619"/>
            </a:avLst>
          </a:prstGeom>
          <a:solidFill>
            <a:schemeClr val="bg2"/>
          </a:solidFill>
          <a:ln w="12700">
            <a:solidFill>
              <a:schemeClr val="bg2"/>
            </a:solidFill>
            <a:prstDash val="solid"/>
          </a:ln>
        </p:spPr>
      </p:sp>
      <p:sp>
        <p:nvSpPr>
          <p:cNvPr id="8" name="text Two checks first"/>
          <p:cNvSpPr txBox="1"/>
          <p:nvPr/>
        </p:nvSpPr>
        <p:spPr>
          <a:xfrm>
            <a:off x="343357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Two checks first</a:t>
            </a:r>
            <a:endParaRPr lang="en-US" sz="1500" dirty="0"/>
          </a:p>
          <a:p>
            <a:pPr indent="0" marL="0">
              <a:spcAft>
                <a:spcPts val="400"/>
              </a:spcAft>
              <a:buNone/>
            </a:pPr>
            <a:r>
              <a:rPr lang="en-US" sz="1400" dirty="0">
                <a:solidFill>
                  <a:schemeClr val="tx1"/>
                </a:solidFill>
              </a:rPr>
              <a:t>first loss 1.59 ≈ ln 5; one batch learned 100 %</a:t>
            </a:r>
            <a:endParaRPr lang="en-US" sz="1500" dirty="0"/>
          </a:p>
        </p:txBody>
      </p:sp>
      <p:sp>
        <p:nvSpPr>
          <p:cNvPr id="9" name="note The problem"/>
          <p:cNvSpPr/>
          <p:nvPr/>
        </p:nvSpPr>
        <p:spPr>
          <a:xfrm>
            <a:off x="6080760" y="3657600"/>
            <a:ext cx="2606040" cy="960120"/>
          </a:xfrm>
          <a:prstGeom prst="roundRect">
            <a:avLst>
              <a:gd name="adj" fmla="val 7619"/>
            </a:avLst>
          </a:prstGeom>
          <a:solidFill>
            <a:schemeClr val="bg2"/>
          </a:solidFill>
          <a:ln w="12700">
            <a:solidFill>
              <a:schemeClr val="bg2"/>
            </a:solidFill>
            <a:prstDash val="solid"/>
          </a:ln>
        </p:spPr>
      </p:sp>
      <p:sp>
        <p:nvSpPr>
          <p:cNvPr id="10" name="text The problem"/>
          <p:cNvSpPr txBox="1"/>
          <p:nvPr/>
        </p:nvSpPr>
        <p:spPr>
          <a:xfrm>
            <a:off x="624535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The problem</a:t>
            </a:r>
            <a:endParaRPr lang="en-US" sz="1500" dirty="0"/>
          </a:p>
          <a:p>
            <a:pPr indent="0" marL="0">
              <a:spcAft>
                <a:spcPts val="400"/>
              </a:spcAft>
              <a:buNone/>
            </a:pPr>
            <a:r>
              <a:rPr lang="en-US" sz="1400" dirty="0">
                <a:solidFill>
                  <a:schemeClr val="tx1"/>
                </a:solidFill>
              </a:rPr>
              <a:t>99.7 % on train, 40.6 % on validation</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Healthy training, but the MLP overfits</a:t>
            </a:r>
            <a:endParaRPr lang="en-US" sz="3000" dirty="0"/>
          </a:p>
        </p:txBody>
      </p:sp>
      <p:sp>
        <p:nvSpPr>
          <p:cNvPr id="3" name="step tag 3"/>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3 OF 6 · MONITORING</a:t>
            </a:r>
            <a:endParaRPr lang="en-US" sz="1100" dirty="0"/>
          </a:p>
        </p:txBody>
      </p:sp>
      <p:graphicFrame>
        <p:nvGraphicFramePr>
          <p:cNvPr id="4" name="chart regularisation"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5" name="monitoring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Gradients reach every layer and only 4 % of neurons are dead: the training is healthy</a:t>
            </a:r>
            <a:endParaRPr lang="en-US" sz="1400" dirty="0"/>
          </a:p>
          <a:p>
            <a:pPr marL="342900" indent="-342900">
              <a:spcAft>
                <a:spcPts val="800"/>
              </a:spcAft>
              <a:buSzPct val="100000"/>
              <a:buChar char="•"/>
            </a:pPr>
            <a:r>
              <a:rPr lang="en-US" sz="1400" dirty="0">
                <a:solidFill>
                  <a:schemeClr val="tx1"/>
                </a:solidFill>
              </a:rPr>
              <a:t>Learning-rate sweep: 0.0001 is best; 0.001 overfits after 2 epochs</a:t>
            </a:r>
            <a:endParaRPr lang="en-US" sz="1400" dirty="0"/>
          </a:p>
          <a:p>
            <a:pPr marL="342900" indent="-342900">
              <a:spcAft>
                <a:spcPts val="800"/>
              </a:spcAft>
              <a:buSzPct val="100000"/>
              <a:buChar char="•"/>
            </a:pPr>
            <a:r>
              <a:rPr lang="en-US" sz="1400" dirty="0">
                <a:solidFill>
                  <a:schemeClr val="tx1"/>
                </a:solidFill>
              </a:rPr>
              <a:t>All tools together: gap train - validation 0.61 → 0.12</a:t>
            </a:r>
            <a:endParaRPr lang="en-US" sz="1400" dirty="0"/>
          </a:p>
          <a:p>
            <a:pPr marL="342900" indent="-342900">
              <a:spcAft>
                <a:spcPts val="800"/>
              </a:spcAft>
              <a:buSzPct val="100000"/>
              <a:buChar char="•"/>
            </a:pPr>
            <a:r>
              <a:rPr lang="en-US" sz="1400" dirty="0">
                <a:solidFill>
                  <a:schemeClr val="tx1"/>
                </a:solidFill>
              </a:rPr>
              <a:t>But only 7 % of Cubist paintings are found: the MLP sees colours, not shapes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ResNet18: a network made for images</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sp>
        <p:nvSpPr>
          <p:cNvPr id="4" name="box painting"/>
          <p:cNvSpPr/>
          <p:nvPr/>
        </p:nvSpPr>
        <p:spPr>
          <a:xfrm>
            <a:off x="457200" y="1051560"/>
            <a:ext cx="1188720" cy="1645920"/>
          </a:xfrm>
          <a:prstGeom prst="roundRect">
            <a:avLst>
              <a:gd name="adj" fmla="val 6154"/>
            </a:avLst>
          </a:prstGeom>
          <a:solidFill>
            <a:schemeClr val="bg2"/>
          </a:solidFill>
          <a:ln w="12700">
            <a:solidFill>
              <a:schemeClr val="bg2"/>
            </a:solidFill>
            <a:prstDash val="solid"/>
          </a:ln>
        </p:spPr>
      </p:sp>
      <p:sp>
        <p:nvSpPr>
          <p:cNvPr id="5" name="colour Impressionism"/>
          <p:cNvSpPr/>
          <p:nvPr/>
        </p:nvSpPr>
        <p:spPr>
          <a:xfrm>
            <a:off x="640080" y="1161288"/>
            <a:ext cx="822960" cy="822960"/>
          </a:xfrm>
          <a:prstGeom prst="rect">
            <a:avLst/>
          </a:prstGeom>
          <a:solidFill>
            <a:srgbClr val="1BAF7A"/>
          </a:solidFill>
          <a:ln w="12700">
            <a:solidFill>
              <a:srgbClr val="1BAF7A"/>
            </a:solidFill>
            <a:prstDash val="solid"/>
          </a:ln>
        </p:spPr>
      </p:sp>
      <p:sp>
        <p:nvSpPr>
          <p:cNvPr id="6" name="painting caption"/>
          <p:cNvSpPr txBox="1"/>
          <p:nvPr/>
        </p:nvSpPr>
        <p:spPr>
          <a:xfrm>
            <a:off x="502920" y="2029968"/>
            <a:ext cx="1097280" cy="621792"/>
          </a:xfrm>
          <a:prstGeom prst="rect">
            <a:avLst/>
          </a:prstGeom>
          <a:noFill/>
          <a:ln/>
        </p:spPr>
        <p:txBody>
          <a:bodyPr wrap="square" lIns="0" tIns="0" rIns="0" bIns="0" rtlCol="0" anchor="t"/>
          <a:lstStyle/>
          <a:p>
            <a:pPr algn="ctr" indent="0" marL="0">
              <a:buNone/>
            </a:pPr>
            <a:r>
              <a:rPr lang="en-US" sz="1300" b="1" dirty="0">
                <a:solidFill>
                  <a:schemeClr val="tx2"/>
                </a:solidFill>
              </a:rPr>
              <a:t>1 painting</a:t>
            </a:r>
            <a:endParaRPr lang="en-US" sz="1300" dirty="0"/>
          </a:p>
          <a:p>
            <a:pPr algn="ctr" indent="0" marL="0">
              <a:buNone/>
            </a:pPr>
            <a:r>
              <a:rPr lang="en-US" sz="1100" dirty="0">
                <a:solidFill>
                  <a:schemeClr val="tx1"/>
                </a:solidFill>
              </a:rPr>
              <a:t>224 x 224 pixels</a:t>
            </a:r>
            <a:endParaRPr lang="en-US" sz="1300" dirty="0"/>
          </a:p>
        </p:txBody>
      </p:sp>
      <p:sp>
        <p:nvSpPr>
          <p:cNvPr id="7" name="arrow 1"/>
          <p:cNvSpPr/>
          <p:nvPr/>
        </p:nvSpPr>
        <p:spPr>
          <a:xfrm>
            <a:off x="1691640" y="1773936"/>
            <a:ext cx="182880" cy="201168"/>
          </a:xfrm>
          <a:prstGeom prst="rightArrow">
            <a:avLst/>
          </a:prstGeom>
          <a:solidFill>
            <a:schemeClr val="tx2"/>
          </a:solidFill>
          <a:ln w="12700">
            <a:solidFill>
              <a:schemeClr val="tx2"/>
            </a:solidFill>
            <a:prstDash val="solid"/>
          </a:ln>
        </p:spPr>
      </p:sp>
      <p:sp>
        <p:nvSpPr>
          <p:cNvPr id="8" name="box resnet"/>
          <p:cNvSpPr/>
          <p:nvPr/>
        </p:nvSpPr>
        <p:spPr>
          <a:xfrm>
            <a:off x="1920240" y="1051560"/>
            <a:ext cx="3200400" cy="1645920"/>
          </a:xfrm>
          <a:prstGeom prst="roundRect">
            <a:avLst>
              <a:gd name="adj" fmla="val 4444"/>
            </a:avLst>
          </a:prstGeom>
          <a:solidFill>
            <a:schemeClr val="tx2"/>
          </a:solidFill>
          <a:ln w="12700">
            <a:solidFill>
              <a:schemeClr val="tx2"/>
            </a:solidFill>
            <a:prstDash val="solid"/>
          </a:ln>
        </p:spPr>
      </p:sp>
      <p:sp>
        <p:nvSpPr>
          <p:cNvPr id="9" name="resnet text"/>
          <p:cNvSpPr txBox="1"/>
          <p:nvPr/>
        </p:nvSpPr>
        <p:spPr>
          <a:xfrm>
            <a:off x="2057400" y="1143000"/>
            <a:ext cx="2926080" cy="777240"/>
          </a:xfrm>
          <a:prstGeom prst="rect">
            <a:avLst/>
          </a:prstGeom>
          <a:noFill/>
          <a:ln/>
        </p:spPr>
        <p:txBody>
          <a:bodyPr wrap="square" lIns="0" tIns="0" rIns="0" bIns="0" rtlCol="0" anchor="t"/>
          <a:lstStyle/>
          <a:p>
            <a:pPr indent="0" marL="0">
              <a:buNone/>
            </a:pPr>
            <a:r>
              <a:rPr lang="en-US" sz="1400" b="1" dirty="0">
                <a:solidFill>
                  <a:schemeClr val="bg1"/>
                </a:solidFill>
              </a:rPr>
              <a:t>ResNet18, pretrained and frozen</a:t>
            </a:r>
            <a:endParaRPr lang="en-US" sz="1400" dirty="0"/>
          </a:p>
          <a:p>
            <a:pPr indent="0" marL="0">
              <a:buNone/>
            </a:pPr>
            <a:r>
              <a:rPr lang="en-US" sz="1100" dirty="0">
                <a:solidFill>
                  <a:srgbClr val="C9CED8"/>
                </a:solidFill>
              </a:rPr>
              <a:t>18 layers, 11 million weights learned on 1.2 million ImageNet photos. We do not change them.</a:t>
            </a:r>
            <a:endParaRPr lang="en-US" sz="1400" dirty="0"/>
          </a:p>
        </p:txBody>
      </p:sp>
      <p:sp>
        <p:nvSpPr>
          <p:cNvPr id="10" name="level 1"/>
          <p:cNvSpPr/>
          <p:nvPr/>
        </p:nvSpPr>
        <p:spPr>
          <a:xfrm>
            <a:off x="2057400" y="2011680"/>
            <a:ext cx="896112" cy="548640"/>
          </a:xfrm>
          <a:prstGeom prst="roundRect">
            <a:avLst>
              <a:gd name="adj" fmla="val 10000"/>
            </a:avLst>
          </a:prstGeom>
          <a:solidFill>
            <a:srgbClr val="2A3448"/>
          </a:solidFill>
          <a:ln w="12700">
            <a:solidFill>
              <a:srgbClr val="2A3448"/>
            </a:solidFill>
            <a:prstDash val="solid"/>
          </a:ln>
        </p:spPr>
      </p:sp>
      <p:sp>
        <p:nvSpPr>
          <p:cNvPr id="11" name="level text 1"/>
          <p:cNvSpPr txBox="1"/>
          <p:nvPr/>
        </p:nvSpPr>
        <p:spPr>
          <a:xfrm>
            <a:off x="2057400" y="2011680"/>
            <a:ext cx="896112" cy="548640"/>
          </a:xfrm>
          <a:prstGeom prst="rect">
            <a:avLst/>
          </a:prstGeom>
          <a:noFill/>
          <a:ln/>
        </p:spPr>
        <p:txBody>
          <a:bodyPr wrap="square" lIns="0" tIns="0" rIns="0" bIns="0" rtlCol="0" anchor="ctr"/>
          <a:lstStyle/>
          <a:p>
            <a:pPr algn="ctr" indent="0" marL="0">
              <a:buNone/>
            </a:pPr>
            <a:r>
              <a:rPr lang="en-US" sz="900" dirty="0">
                <a:solidFill>
                  <a:srgbClr val="C9CED8"/>
                </a:solidFill>
              </a:rPr>
              <a:t>first layers</a:t>
            </a:r>
            <a:endParaRPr lang="en-US" sz="900" dirty="0"/>
          </a:p>
          <a:p>
            <a:pPr algn="ctr" indent="0" marL="0">
              <a:buNone/>
            </a:pPr>
            <a:r>
              <a:rPr lang="en-US" sz="1100" b="1" dirty="0">
                <a:solidFill>
                  <a:schemeClr val="bg1"/>
                </a:solidFill>
              </a:rPr>
              <a:t>edges, colours</a:t>
            </a:r>
            <a:endParaRPr lang="en-US" sz="900" dirty="0"/>
          </a:p>
        </p:txBody>
      </p:sp>
      <p:sp>
        <p:nvSpPr>
          <p:cNvPr id="12" name="level 2"/>
          <p:cNvSpPr/>
          <p:nvPr/>
        </p:nvSpPr>
        <p:spPr>
          <a:xfrm>
            <a:off x="3063240" y="2011680"/>
            <a:ext cx="896112" cy="548640"/>
          </a:xfrm>
          <a:prstGeom prst="roundRect">
            <a:avLst>
              <a:gd name="adj" fmla="val 10000"/>
            </a:avLst>
          </a:prstGeom>
          <a:solidFill>
            <a:srgbClr val="2A3448"/>
          </a:solidFill>
          <a:ln w="12700">
            <a:solidFill>
              <a:srgbClr val="2A3448"/>
            </a:solidFill>
            <a:prstDash val="solid"/>
          </a:ln>
        </p:spPr>
      </p:sp>
      <p:sp>
        <p:nvSpPr>
          <p:cNvPr id="13" name="level text 2"/>
          <p:cNvSpPr txBox="1"/>
          <p:nvPr/>
        </p:nvSpPr>
        <p:spPr>
          <a:xfrm>
            <a:off x="3063240" y="2011680"/>
            <a:ext cx="896112" cy="548640"/>
          </a:xfrm>
          <a:prstGeom prst="rect">
            <a:avLst/>
          </a:prstGeom>
          <a:noFill/>
          <a:ln/>
        </p:spPr>
        <p:txBody>
          <a:bodyPr wrap="square" lIns="0" tIns="0" rIns="0" bIns="0" rtlCol="0" anchor="ctr"/>
          <a:lstStyle/>
          <a:p>
            <a:pPr algn="ctr" indent="0" marL="0">
              <a:buNone/>
            </a:pPr>
            <a:r>
              <a:rPr lang="en-US" sz="900" dirty="0">
                <a:solidFill>
                  <a:srgbClr val="C9CED8"/>
                </a:solidFill>
              </a:rPr>
              <a:t>middle layers</a:t>
            </a:r>
            <a:endParaRPr lang="en-US" sz="900" dirty="0"/>
          </a:p>
          <a:p>
            <a:pPr algn="ctr" indent="0" marL="0">
              <a:buNone/>
            </a:pPr>
            <a:r>
              <a:rPr lang="en-US" sz="1100" b="1" dirty="0">
                <a:solidFill>
                  <a:schemeClr val="bg1"/>
                </a:solidFill>
              </a:rPr>
              <a:t>textures</a:t>
            </a:r>
            <a:endParaRPr lang="en-US" sz="900" dirty="0"/>
          </a:p>
        </p:txBody>
      </p:sp>
      <p:sp>
        <p:nvSpPr>
          <p:cNvPr id="14" name="level 3"/>
          <p:cNvSpPr/>
          <p:nvPr/>
        </p:nvSpPr>
        <p:spPr>
          <a:xfrm>
            <a:off x="4069080" y="2011680"/>
            <a:ext cx="896112" cy="548640"/>
          </a:xfrm>
          <a:prstGeom prst="roundRect">
            <a:avLst>
              <a:gd name="adj" fmla="val 10000"/>
            </a:avLst>
          </a:prstGeom>
          <a:solidFill>
            <a:srgbClr val="2A3448"/>
          </a:solidFill>
          <a:ln w="12700">
            <a:solidFill>
              <a:srgbClr val="2A3448"/>
            </a:solidFill>
            <a:prstDash val="solid"/>
          </a:ln>
        </p:spPr>
      </p:sp>
      <p:sp>
        <p:nvSpPr>
          <p:cNvPr id="15" name="level text 3"/>
          <p:cNvSpPr txBox="1"/>
          <p:nvPr/>
        </p:nvSpPr>
        <p:spPr>
          <a:xfrm>
            <a:off x="4069080" y="2011680"/>
            <a:ext cx="896112" cy="548640"/>
          </a:xfrm>
          <a:prstGeom prst="rect">
            <a:avLst/>
          </a:prstGeom>
          <a:noFill/>
          <a:ln/>
        </p:spPr>
        <p:txBody>
          <a:bodyPr wrap="square" lIns="0" tIns="0" rIns="0" bIns="0" rtlCol="0" anchor="ctr"/>
          <a:lstStyle/>
          <a:p>
            <a:pPr algn="ctr" indent="0" marL="0">
              <a:buNone/>
            </a:pPr>
            <a:r>
              <a:rPr lang="en-US" sz="900" dirty="0">
                <a:solidFill>
                  <a:srgbClr val="C9CED8"/>
                </a:solidFill>
              </a:rPr>
              <a:t>last layers</a:t>
            </a:r>
            <a:endParaRPr lang="en-US" sz="900" dirty="0"/>
          </a:p>
          <a:p>
            <a:pPr algn="ctr" indent="0" marL="0">
              <a:buNone/>
            </a:pPr>
            <a:r>
              <a:rPr lang="en-US" sz="1100" b="1" dirty="0">
                <a:solidFill>
                  <a:schemeClr val="bg1"/>
                </a:solidFill>
              </a:rPr>
              <a:t>shapes</a:t>
            </a:r>
            <a:endParaRPr lang="en-US" sz="900" dirty="0"/>
          </a:p>
        </p:txBody>
      </p:sp>
      <p:sp>
        <p:nvSpPr>
          <p:cNvPr id="16" name="arrow 2"/>
          <p:cNvSpPr/>
          <p:nvPr/>
        </p:nvSpPr>
        <p:spPr>
          <a:xfrm>
            <a:off x="5166360" y="1773936"/>
            <a:ext cx="182880" cy="201168"/>
          </a:xfrm>
          <a:prstGeom prst="rightArrow">
            <a:avLst/>
          </a:prstGeom>
          <a:solidFill>
            <a:schemeClr val="tx2"/>
          </a:solidFill>
          <a:ln w="12700">
            <a:solidFill>
              <a:schemeClr val="tx2"/>
            </a:solidFill>
            <a:prstDash val="solid"/>
          </a:ln>
        </p:spPr>
      </p:sp>
      <p:sp>
        <p:nvSpPr>
          <p:cNvPr id="17" name="box 512 numbers"/>
          <p:cNvSpPr/>
          <p:nvPr/>
        </p:nvSpPr>
        <p:spPr>
          <a:xfrm>
            <a:off x="5394960" y="1051560"/>
            <a:ext cx="1188720" cy="1645920"/>
          </a:xfrm>
          <a:prstGeom prst="roundRect">
            <a:avLst>
              <a:gd name="adj" fmla="val 6154"/>
            </a:avLst>
          </a:prstGeom>
          <a:solidFill>
            <a:schemeClr val="bg2"/>
          </a:solidFill>
          <a:ln w="12700">
            <a:solidFill>
              <a:schemeClr val="bg2"/>
            </a:solidFill>
            <a:prstDash val="solid"/>
          </a:ln>
        </p:spPr>
      </p:sp>
      <p:sp>
        <p:nvSpPr>
          <p:cNvPr id="18" name="box text 512 numbers"/>
          <p:cNvSpPr txBox="1"/>
          <p:nvPr/>
        </p:nvSpPr>
        <p:spPr>
          <a:xfrm>
            <a:off x="5486400" y="1124712"/>
            <a:ext cx="1005840" cy="1499616"/>
          </a:xfrm>
          <a:prstGeom prst="rect">
            <a:avLst/>
          </a:prstGeom>
          <a:noFill/>
          <a:ln/>
        </p:spPr>
        <p:txBody>
          <a:bodyPr wrap="square" lIns="0" tIns="0" rIns="0" bIns="0" rtlCol="0" anchor="ctr"/>
          <a:lstStyle/>
          <a:p>
            <a:pPr algn="ctr" indent="0" marL="0">
              <a:spcAft>
                <a:spcPts val="300"/>
              </a:spcAft>
              <a:buNone/>
            </a:pPr>
            <a:r>
              <a:rPr lang="en-US" sz="1400" b="1" dirty="0">
                <a:solidFill>
                  <a:schemeClr val="tx2"/>
                </a:solidFill>
              </a:rPr>
              <a:t>512 numbers</a:t>
            </a:r>
            <a:endParaRPr lang="en-US" sz="1400" dirty="0"/>
          </a:p>
          <a:p>
            <a:pPr algn="ctr" indent="0" marL="0">
              <a:spcAft>
                <a:spcPts val="300"/>
              </a:spcAft>
              <a:buNone/>
            </a:pPr>
            <a:r>
              <a:rPr lang="en-US" sz="1100" dirty="0">
                <a:solidFill>
                  <a:schemeClr val="tx1"/>
                </a:solidFill>
              </a:rPr>
              <a:t>a summary of the painting</a:t>
            </a:r>
            <a:endParaRPr lang="en-US" sz="1400" dirty="0"/>
          </a:p>
        </p:txBody>
      </p:sp>
      <p:sp>
        <p:nvSpPr>
          <p:cNvPr id="19" name="arrow 3"/>
          <p:cNvSpPr/>
          <p:nvPr/>
        </p:nvSpPr>
        <p:spPr>
          <a:xfrm>
            <a:off x="6629400" y="1773936"/>
            <a:ext cx="182880" cy="201168"/>
          </a:xfrm>
          <a:prstGeom prst="rightArrow">
            <a:avLst/>
          </a:prstGeom>
          <a:solidFill>
            <a:schemeClr val="tx2"/>
          </a:solidFill>
          <a:ln w="12700">
            <a:solidFill>
              <a:schemeClr val="tx2"/>
            </a:solidFill>
            <a:prstDash val="solid"/>
          </a:ln>
        </p:spPr>
      </p:sp>
      <p:sp>
        <p:nvSpPr>
          <p:cNvPr id="20" name="box Our new last layer"/>
          <p:cNvSpPr/>
          <p:nvPr/>
        </p:nvSpPr>
        <p:spPr>
          <a:xfrm>
            <a:off x="6858000" y="1051560"/>
            <a:ext cx="1828800" cy="1645920"/>
          </a:xfrm>
          <a:prstGeom prst="roundRect">
            <a:avLst>
              <a:gd name="adj" fmla="val 4444"/>
            </a:avLst>
          </a:prstGeom>
          <a:solidFill>
            <a:schemeClr val="accent1"/>
          </a:solidFill>
          <a:ln w="12700">
            <a:solidFill>
              <a:schemeClr val="accent1"/>
            </a:solidFill>
            <a:prstDash val="solid"/>
          </a:ln>
        </p:spPr>
      </p:sp>
      <p:sp>
        <p:nvSpPr>
          <p:cNvPr id="21" name="box text Our new last layer"/>
          <p:cNvSpPr txBox="1"/>
          <p:nvPr/>
        </p:nvSpPr>
        <p:spPr>
          <a:xfrm>
            <a:off x="6949440" y="1124712"/>
            <a:ext cx="1645920" cy="149961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Our new last layer</a:t>
            </a:r>
            <a:endParaRPr lang="en-US" sz="1400" dirty="0"/>
          </a:p>
          <a:p>
            <a:pPr algn="ctr" indent="0" marL="0">
              <a:spcAft>
                <a:spcPts val="300"/>
              </a:spcAft>
              <a:buNone/>
            </a:pPr>
            <a:r>
              <a:rPr lang="en-US" sz="1200" dirty="0">
                <a:solidFill>
                  <a:schemeClr val="bg1"/>
                </a:solidFill>
              </a:rPr>
              <a:t>replaces ResNet's own: 512 → 5 styles, 2 565 weights, the only part we train</a:t>
            </a:r>
            <a:endParaRPr lang="en-US" sz="1400" dirty="0"/>
          </a:p>
        </p:txBody>
      </p:sp>
      <p:sp>
        <p:nvSpPr>
          <p:cNvPr id="22" name="note Made for images"/>
          <p:cNvSpPr/>
          <p:nvPr/>
        </p:nvSpPr>
        <p:spPr>
          <a:xfrm>
            <a:off x="457200" y="2880360"/>
            <a:ext cx="2651760" cy="1737360"/>
          </a:xfrm>
          <a:prstGeom prst="roundRect">
            <a:avLst>
              <a:gd name="adj" fmla="val 4211"/>
            </a:avLst>
          </a:prstGeom>
          <a:solidFill>
            <a:schemeClr val="bg2"/>
          </a:solidFill>
          <a:ln w="12700">
            <a:solidFill>
              <a:schemeClr val="bg2"/>
            </a:solidFill>
            <a:prstDash val="solid"/>
          </a:ln>
        </p:spPr>
      </p:sp>
      <p:sp>
        <p:nvSpPr>
          <p:cNvPr id="23" name="text Made for images"/>
          <p:cNvSpPr txBox="1"/>
          <p:nvPr/>
        </p:nvSpPr>
        <p:spPr>
          <a:xfrm>
            <a:off x="62179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Made for images</a:t>
            </a:r>
            <a:endParaRPr lang="en-US" sz="1400" dirty="0"/>
          </a:p>
          <a:p>
            <a:pPr indent="0" marL="0">
              <a:spcAft>
                <a:spcPts val="400"/>
              </a:spcAft>
              <a:buNone/>
            </a:pPr>
            <a:r>
              <a:rPr lang="en-US" sz="1200" dirty="0">
                <a:solidFill>
                  <a:schemeClr val="tx1"/>
                </a:solidFill>
              </a:rPr>
              <a:t>Small filters slide over the picture and look at neighbouring pixels, wherever they are. Our MLP saw 12 288 separate pixels.</a:t>
            </a:r>
            <a:endParaRPr lang="en-US" sz="1400" dirty="0"/>
          </a:p>
        </p:txBody>
      </p:sp>
      <p:sp>
        <p:nvSpPr>
          <p:cNvPr id="24" name="note Why ResNet18"/>
          <p:cNvSpPr/>
          <p:nvPr/>
        </p:nvSpPr>
        <p:spPr>
          <a:xfrm>
            <a:off x="3246120" y="2880360"/>
            <a:ext cx="2651760" cy="1737360"/>
          </a:xfrm>
          <a:prstGeom prst="roundRect">
            <a:avLst>
              <a:gd name="adj" fmla="val 4211"/>
            </a:avLst>
          </a:prstGeom>
          <a:solidFill>
            <a:schemeClr val="bg2"/>
          </a:solidFill>
          <a:ln w="12700">
            <a:solidFill>
              <a:schemeClr val="bg2"/>
            </a:solidFill>
            <a:prstDash val="solid"/>
          </a:ln>
        </p:spPr>
      </p:sp>
      <p:sp>
        <p:nvSpPr>
          <p:cNvPr id="25" name="text Why ResNet18"/>
          <p:cNvSpPr txBox="1"/>
          <p:nvPr/>
        </p:nvSpPr>
        <p:spPr>
          <a:xfrm>
            <a:off x="341071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Why ResNet18</a:t>
            </a:r>
            <a:endParaRPr lang="en-US" sz="1400" dirty="0"/>
          </a:p>
          <a:p>
            <a:pPr indent="0" marL="0">
              <a:spcAft>
                <a:spcPts val="400"/>
              </a:spcAft>
              <a:buNone/>
            </a:pPr>
            <a:r>
              <a:rPr lang="en-US" sz="1200" dirty="0">
                <a:solidFill>
                  <a:schemeClr val="tx1"/>
                </a:solidFill>
              </a:rPr>
              <a:t>The brief asks for a pretrained ResNet; ResNet18 is the smallest (45 MB), light enough for a kiosk CPU. Shortcuts between layers let its 18 layers learn well.</a:t>
            </a:r>
            <a:endParaRPr lang="en-US" sz="1400" dirty="0"/>
          </a:p>
        </p:txBody>
      </p:sp>
      <p:sp>
        <p:nvSpPr>
          <p:cNvPr id="26" name="note Why frozen"/>
          <p:cNvSpPr/>
          <p:nvPr/>
        </p:nvSpPr>
        <p:spPr>
          <a:xfrm>
            <a:off x="6035040" y="2880360"/>
            <a:ext cx="2651760" cy="1737360"/>
          </a:xfrm>
          <a:prstGeom prst="roundRect">
            <a:avLst>
              <a:gd name="adj" fmla="val 4211"/>
            </a:avLst>
          </a:prstGeom>
          <a:solidFill>
            <a:schemeClr val="bg2"/>
          </a:solidFill>
          <a:ln w="12700">
            <a:solidFill>
              <a:schemeClr val="bg2"/>
            </a:solidFill>
            <a:prstDash val="solid"/>
          </a:ln>
        </p:spPr>
      </p:sp>
      <p:sp>
        <p:nvSpPr>
          <p:cNvPr id="27" name="text Why frozen"/>
          <p:cNvSpPr txBox="1"/>
          <p:nvPr/>
        </p:nvSpPr>
        <p:spPr>
          <a:xfrm>
            <a:off x="619963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Why frozen</a:t>
            </a:r>
            <a:endParaRPr lang="en-US" sz="1400" dirty="0"/>
          </a:p>
          <a:p>
            <a:pPr indent="0" marL="0">
              <a:spcAft>
                <a:spcPts val="400"/>
              </a:spcAft>
              <a:buNone/>
            </a:pPr>
            <a:r>
              <a:rPr lang="en-US" sz="1200" dirty="0">
                <a:solidFill>
                  <a:schemeClr val="tx1"/>
                </a:solidFill>
              </a:rPr>
              <a:t>Only 1 061 paintings: too few for 11 million weights. We reuse what it learned and train only our new last layer, in 0.4 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pretrained ResNet18 sees shapes</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graphicFrame>
        <p:nvGraphicFramePr>
          <p:cNvPr id="4" name="chart resnet" descr=""/>
          <p:cNvGraphicFramePr/>
          <p:nvPr/>
        </p:nvGraphicFramePr>
        <p:xfrm>
          <a:off x="365760" y="1005840"/>
          <a:ext cx="4480560" cy="3611880"/>
        </p:xfrm>
        <a:graphic xmlns:a="http://schemas.openxmlformats.org/drawingml/2006/main">
          <a:graphicData uri="http://schemas.openxmlformats.org/drawingml/2006/chart">
            <c:chart xmlns:c="http://schemas.openxmlformats.org/drawingml/2006/chart" r:id="rId1"/>
          </a:graphicData>
        </a:graphic>
      </p:graphicFrame>
      <p:sp>
        <p:nvSpPr>
          <p:cNvPr id="5" name="note It sees shapes"/>
          <p:cNvSpPr/>
          <p:nvPr/>
        </p:nvSpPr>
        <p:spPr>
          <a:xfrm>
            <a:off x="5074920" y="1051560"/>
            <a:ext cx="3611880" cy="1097280"/>
          </a:xfrm>
          <a:prstGeom prst="roundRect">
            <a:avLst>
              <a:gd name="adj" fmla="val 6667"/>
            </a:avLst>
          </a:prstGeom>
          <a:solidFill>
            <a:schemeClr val="bg2"/>
          </a:solidFill>
          <a:ln w="12700">
            <a:solidFill>
              <a:schemeClr val="bg2"/>
            </a:solidFill>
            <a:prstDash val="solid"/>
          </a:ln>
        </p:spPr>
      </p:sp>
      <p:sp>
        <p:nvSpPr>
          <p:cNvPr id="6" name="text It sees shapes"/>
          <p:cNvSpPr txBox="1"/>
          <p:nvPr/>
        </p:nvSpPr>
        <p:spPr>
          <a:xfrm>
            <a:off x="5239512" y="116128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It sees shapes</a:t>
            </a:r>
            <a:endParaRPr lang="en-US" sz="1500" dirty="0"/>
          </a:p>
          <a:p>
            <a:pPr indent="0" marL="0">
              <a:spcAft>
                <a:spcPts val="400"/>
              </a:spcAft>
              <a:buNone/>
            </a:pPr>
            <a:r>
              <a:rPr lang="en-US" sz="1400" dirty="0">
                <a:solidFill>
                  <a:schemeClr val="tx1"/>
                </a:solidFill>
              </a:rPr>
              <a:t>Cubist paintings found (validation): 7 % with our MLP, 71 % with the ResNet.</a:t>
            </a:r>
            <a:endParaRPr lang="en-US" sz="1500" dirty="0"/>
          </a:p>
        </p:txBody>
      </p:sp>
      <p:sp>
        <p:nvSpPr>
          <p:cNvPr id="7" name="note Fine-tuning: lower on validation"/>
          <p:cNvSpPr/>
          <p:nvPr/>
        </p:nvSpPr>
        <p:spPr>
          <a:xfrm>
            <a:off x="5074920" y="2286000"/>
            <a:ext cx="3611880" cy="1097280"/>
          </a:xfrm>
          <a:prstGeom prst="roundRect">
            <a:avLst>
              <a:gd name="adj" fmla="val 6667"/>
            </a:avLst>
          </a:prstGeom>
          <a:solidFill>
            <a:schemeClr val="bg2"/>
          </a:solidFill>
          <a:ln w="12700">
            <a:solidFill>
              <a:schemeClr val="bg2"/>
            </a:solidFill>
            <a:prstDash val="solid"/>
          </a:ln>
        </p:spPr>
      </p:sp>
      <p:sp>
        <p:nvSpPr>
          <p:cNvPr id="8" name="text Fine-tuning: lower on validation"/>
          <p:cNvSpPr txBox="1"/>
          <p:nvPr/>
        </p:nvSpPr>
        <p:spPr>
          <a:xfrm>
            <a:off x="5239512" y="239572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Fine-tuning: lower on validation</a:t>
            </a:r>
            <a:endParaRPr lang="en-US" sz="1500" dirty="0"/>
          </a:p>
          <a:p>
            <a:pPr indent="0" marL="0">
              <a:spcAft>
                <a:spcPts val="400"/>
              </a:spcAft>
              <a:buNone/>
            </a:pPr>
            <a:r>
              <a:rPr lang="en-US" sz="1400" dirty="0">
                <a:solidFill>
                  <a:schemeClr val="tx1"/>
                </a:solidFill>
              </a:rPr>
              <a:t>We also unfreeze its last block (8.4 M weights) to learn from our paintings: 85.4 % on validation. The tests will say otherwise.</a:t>
            </a:r>
            <a:endParaRPr lang="en-US" sz="1500" dirty="0"/>
          </a:p>
        </p:txBody>
      </p:sp>
      <p:sp>
        <p:nvSpPr>
          <p:cNvPr id="9" name="note Monitored like the MLP"/>
          <p:cNvSpPr/>
          <p:nvPr/>
        </p:nvSpPr>
        <p:spPr>
          <a:xfrm>
            <a:off x="5074920" y="3520440"/>
            <a:ext cx="3611880" cy="1097280"/>
          </a:xfrm>
          <a:prstGeom prst="roundRect">
            <a:avLst>
              <a:gd name="adj" fmla="val 6667"/>
            </a:avLst>
          </a:prstGeom>
          <a:solidFill>
            <a:schemeClr val="bg2"/>
          </a:solidFill>
          <a:ln w="12700">
            <a:solidFill>
              <a:schemeClr val="bg2"/>
            </a:solidFill>
            <a:prstDash val="solid"/>
          </a:ln>
        </p:spPr>
      </p:sp>
      <p:sp>
        <p:nvSpPr>
          <p:cNvPr id="10" name="text Monitored like the MLP"/>
          <p:cNvSpPr txBox="1"/>
          <p:nvPr/>
        </p:nvSpPr>
        <p:spPr>
          <a:xfrm>
            <a:off x="5239512" y="363016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Monitored like the MLP</a:t>
            </a:r>
            <a:endParaRPr lang="en-US" sz="1500" dirty="0"/>
          </a:p>
          <a:p>
            <a:pPr indent="0" marL="0">
              <a:spcAft>
                <a:spcPts val="400"/>
              </a:spcAft>
              <a:buNone/>
            </a:pPr>
            <a:r>
              <a:rPr lang="en-US" sz="1400" dirty="0">
                <a:solidFill>
                  <a:schemeClr val="tx1"/>
                </a:solidFill>
              </a:rPr>
              <a:t>Train and validation curves for every run. Frozen + linear head: gap of only 0.09 (our first MLP: 0.61).</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classical challenger: a random forest</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sp>
        <p:nvSpPr>
          <p:cNvPr id="4" name="box painting"/>
          <p:cNvSpPr/>
          <p:nvPr/>
        </p:nvSpPr>
        <p:spPr>
          <a:xfrm>
            <a:off x="457200" y="1051560"/>
            <a:ext cx="1188720" cy="1325880"/>
          </a:xfrm>
          <a:prstGeom prst="roundRect">
            <a:avLst>
              <a:gd name="adj" fmla="val 6154"/>
            </a:avLst>
          </a:prstGeom>
          <a:solidFill>
            <a:schemeClr val="bg2"/>
          </a:solidFill>
          <a:ln w="12700">
            <a:solidFill>
              <a:schemeClr val="bg2"/>
            </a:solidFill>
            <a:prstDash val="solid"/>
          </a:ln>
        </p:spPr>
      </p:sp>
      <p:sp>
        <p:nvSpPr>
          <p:cNvPr id="5" name="colour Impressionism"/>
          <p:cNvSpPr/>
          <p:nvPr/>
        </p:nvSpPr>
        <p:spPr>
          <a:xfrm>
            <a:off x="685800" y="1161288"/>
            <a:ext cx="731520" cy="731520"/>
          </a:xfrm>
          <a:prstGeom prst="rect">
            <a:avLst/>
          </a:prstGeom>
          <a:solidFill>
            <a:srgbClr val="1BAF7A"/>
          </a:solidFill>
          <a:ln w="12700">
            <a:solidFill>
              <a:srgbClr val="1BAF7A"/>
            </a:solidFill>
            <a:prstDash val="solid"/>
          </a:ln>
        </p:spPr>
      </p:sp>
      <p:sp>
        <p:nvSpPr>
          <p:cNvPr id="6" name="painting caption"/>
          <p:cNvSpPr txBox="1"/>
          <p:nvPr/>
        </p:nvSpPr>
        <p:spPr>
          <a:xfrm>
            <a:off x="502920" y="1938528"/>
            <a:ext cx="1097280" cy="393192"/>
          </a:xfrm>
          <a:prstGeom prst="rect">
            <a:avLst/>
          </a:prstGeom>
          <a:noFill/>
          <a:ln/>
        </p:spPr>
        <p:txBody>
          <a:bodyPr wrap="square" lIns="0" tIns="0" rIns="0" bIns="0" rtlCol="0" anchor="t"/>
          <a:lstStyle/>
          <a:p>
            <a:pPr algn="ctr" indent="0" marL="0">
              <a:buNone/>
            </a:pPr>
            <a:r>
              <a:rPr lang="en-US" sz="1300" b="1" dirty="0">
                <a:solidFill>
                  <a:schemeClr val="tx2"/>
                </a:solidFill>
              </a:rPr>
              <a:t>1 painting</a:t>
            </a:r>
            <a:endParaRPr lang="en-US" sz="1300" dirty="0"/>
          </a:p>
          <a:p>
            <a:pPr algn="ctr" indent="0" marL="0">
              <a:buNone/>
            </a:pPr>
            <a:r>
              <a:rPr lang="en-US" sz="1100" dirty="0">
                <a:solidFill>
                  <a:schemeClr val="tx1"/>
                </a:solidFill>
              </a:rPr>
              <a:t>the same photo</a:t>
            </a:r>
            <a:endParaRPr lang="en-US" sz="1300" dirty="0"/>
          </a:p>
        </p:txBody>
      </p:sp>
      <p:sp>
        <p:nvSpPr>
          <p:cNvPr id="7" name="arrow 1"/>
          <p:cNvSpPr/>
          <p:nvPr/>
        </p:nvSpPr>
        <p:spPr>
          <a:xfrm>
            <a:off x="1691640" y="1613916"/>
            <a:ext cx="182880" cy="201168"/>
          </a:xfrm>
          <a:prstGeom prst="rightArrow">
            <a:avLst/>
          </a:prstGeom>
          <a:solidFill>
            <a:schemeClr val="tx2"/>
          </a:solidFill>
          <a:ln w="12700">
            <a:solidFill>
              <a:schemeClr val="tx2"/>
            </a:solidFill>
            <a:prstDash val="solid"/>
          </a:ln>
        </p:spPr>
      </p:sp>
      <p:sp>
        <p:nvSpPr>
          <p:cNvPr id="8" name="box features"/>
          <p:cNvSpPr/>
          <p:nvPr/>
        </p:nvSpPr>
        <p:spPr>
          <a:xfrm>
            <a:off x="1920240" y="1051560"/>
            <a:ext cx="2834640" cy="1325880"/>
          </a:xfrm>
          <a:prstGeom prst="roundRect">
            <a:avLst>
              <a:gd name="adj" fmla="val 5517"/>
            </a:avLst>
          </a:prstGeom>
          <a:solidFill>
            <a:schemeClr val="bg2"/>
          </a:solidFill>
          <a:ln w="12700">
            <a:solidFill>
              <a:schemeClr val="bg2"/>
            </a:solidFill>
            <a:prstDash val="solid"/>
          </a:ln>
        </p:spPr>
      </p:sp>
      <p:sp>
        <p:nvSpPr>
          <p:cNvPr id="9" name="features title"/>
          <p:cNvSpPr txBox="1"/>
          <p:nvPr/>
        </p:nvSpPr>
        <p:spPr>
          <a:xfrm>
            <a:off x="2011680" y="1124712"/>
            <a:ext cx="2651760" cy="292608"/>
          </a:xfrm>
          <a:prstGeom prst="rect">
            <a:avLst/>
          </a:prstGeom>
          <a:noFill/>
          <a:ln/>
        </p:spPr>
        <p:txBody>
          <a:bodyPr wrap="square" lIns="0" tIns="0" rIns="0" bIns="0" rtlCol="0" anchor="ctr"/>
          <a:lstStyle/>
          <a:p>
            <a:pPr algn="ctr" indent="0" marL="0">
              <a:buNone/>
            </a:pPr>
            <a:r>
              <a:rPr lang="en-US" sz="1400" b="1" dirty="0">
                <a:solidFill>
                  <a:schemeClr val="tx2"/>
                </a:solidFill>
              </a:rPr>
              <a:t>102 hand-made numbers</a:t>
            </a:r>
            <a:endParaRPr lang="en-US" sz="1400" dirty="0"/>
          </a:p>
        </p:txBody>
      </p:sp>
      <p:sp>
        <p:nvSpPr>
          <p:cNvPr id="10" name="feature group 1"/>
          <p:cNvSpPr/>
          <p:nvPr/>
        </p:nvSpPr>
        <p:spPr>
          <a:xfrm>
            <a:off x="2029968" y="1463040"/>
            <a:ext cx="1261872" cy="804672"/>
          </a:xfrm>
          <a:prstGeom prst="roundRect">
            <a:avLst>
              <a:gd name="adj" fmla="val 6818"/>
            </a:avLst>
          </a:prstGeom>
          <a:solidFill>
            <a:schemeClr val="bg1"/>
          </a:solidFill>
          <a:ln w="12700">
            <a:solidFill>
              <a:schemeClr val="bg1"/>
            </a:solidFill>
            <a:prstDash val="solid"/>
          </a:ln>
        </p:spPr>
      </p:sp>
      <p:sp>
        <p:nvSpPr>
          <p:cNvPr id="11" name="feature text 1"/>
          <p:cNvSpPr txBox="1"/>
          <p:nvPr/>
        </p:nvSpPr>
        <p:spPr>
          <a:xfrm>
            <a:off x="2075688" y="1463040"/>
            <a:ext cx="1170432" cy="804672"/>
          </a:xfrm>
          <a:prstGeom prst="rect">
            <a:avLst/>
          </a:prstGeom>
          <a:noFill/>
          <a:ln/>
        </p:spPr>
        <p:txBody>
          <a:bodyPr wrap="square" lIns="0" tIns="0" rIns="0" bIns="0" rtlCol="0" anchor="ctr"/>
          <a:lstStyle/>
          <a:p>
            <a:pPr algn="ctr" indent="0" marL="0">
              <a:buNone/>
            </a:pPr>
            <a:r>
              <a:rPr lang="en-US" sz="1100" b="1" dirty="0">
                <a:solidFill>
                  <a:schemeClr val="accent2"/>
                </a:solidFill>
              </a:rPr>
              <a:t>Colours: 82</a:t>
            </a:r>
            <a:endParaRPr lang="en-US" sz="1100" dirty="0"/>
          </a:p>
          <a:p>
            <a:pPr algn="ctr" indent="0" marL="0">
              <a:buNone/>
            </a:pPr>
            <a:r>
              <a:rPr lang="en-US" sz="1000" dirty="0">
                <a:solidFill>
                  <a:schemeClr val="tx1"/>
                </a:solidFill>
              </a:rPr>
              <a:t>hue, saturation, brightness</a:t>
            </a:r>
            <a:endParaRPr lang="en-US" sz="1100" dirty="0"/>
          </a:p>
        </p:txBody>
      </p:sp>
      <p:sp>
        <p:nvSpPr>
          <p:cNvPr id="12" name="feature group 2"/>
          <p:cNvSpPr/>
          <p:nvPr/>
        </p:nvSpPr>
        <p:spPr>
          <a:xfrm>
            <a:off x="3364992" y="1463040"/>
            <a:ext cx="1261872" cy="804672"/>
          </a:xfrm>
          <a:prstGeom prst="roundRect">
            <a:avLst>
              <a:gd name="adj" fmla="val 6818"/>
            </a:avLst>
          </a:prstGeom>
          <a:solidFill>
            <a:schemeClr val="bg1"/>
          </a:solidFill>
          <a:ln w="12700">
            <a:solidFill>
              <a:schemeClr val="bg1"/>
            </a:solidFill>
            <a:prstDash val="solid"/>
          </a:ln>
        </p:spPr>
      </p:sp>
      <p:sp>
        <p:nvSpPr>
          <p:cNvPr id="13" name="feature text 2"/>
          <p:cNvSpPr txBox="1"/>
          <p:nvPr/>
        </p:nvSpPr>
        <p:spPr>
          <a:xfrm>
            <a:off x="3410712" y="1463040"/>
            <a:ext cx="1170432" cy="804672"/>
          </a:xfrm>
          <a:prstGeom prst="rect">
            <a:avLst/>
          </a:prstGeom>
          <a:noFill/>
          <a:ln/>
        </p:spPr>
        <p:txBody>
          <a:bodyPr wrap="square" lIns="0" tIns="0" rIns="0" bIns="0" rtlCol="0" anchor="ctr"/>
          <a:lstStyle/>
          <a:p>
            <a:pPr algn="ctr" indent="0" marL="0">
              <a:buNone/>
            </a:pPr>
            <a:r>
              <a:rPr lang="en-US" sz="1100" b="1" dirty="0">
                <a:solidFill>
                  <a:schemeClr val="accent2"/>
                </a:solidFill>
              </a:rPr>
              <a:t>Brush strokes: 20</a:t>
            </a:r>
            <a:endParaRPr lang="en-US" sz="1100" dirty="0"/>
          </a:p>
          <a:p>
            <a:pPr algn="ctr" indent="0" marL="0">
              <a:buNone/>
            </a:pPr>
            <a:r>
              <a:rPr lang="en-US" sz="1000" dirty="0">
                <a:solidFill>
                  <a:schemeClr val="tx1"/>
                </a:solidFill>
              </a:rPr>
              <a:t>direction and strength of the edges</a:t>
            </a:r>
            <a:endParaRPr lang="en-US" sz="1100" dirty="0"/>
          </a:p>
        </p:txBody>
      </p:sp>
      <p:sp>
        <p:nvSpPr>
          <p:cNvPr id="14" name="arrow 2"/>
          <p:cNvSpPr/>
          <p:nvPr/>
        </p:nvSpPr>
        <p:spPr>
          <a:xfrm>
            <a:off x="4800600" y="1613916"/>
            <a:ext cx="182880" cy="201168"/>
          </a:xfrm>
          <a:prstGeom prst="rightArrow">
            <a:avLst/>
          </a:prstGeom>
          <a:solidFill>
            <a:schemeClr val="tx2"/>
          </a:solidFill>
          <a:ln w="12700">
            <a:solidFill>
              <a:schemeClr val="tx2"/>
            </a:solidFill>
            <a:prstDash val="solid"/>
          </a:ln>
        </p:spPr>
      </p:sp>
      <p:sp>
        <p:nvSpPr>
          <p:cNvPr id="15" name="box 500 decision trees"/>
          <p:cNvSpPr/>
          <p:nvPr/>
        </p:nvSpPr>
        <p:spPr>
          <a:xfrm>
            <a:off x="5029200" y="1051560"/>
            <a:ext cx="1920240" cy="1325880"/>
          </a:xfrm>
          <a:prstGeom prst="roundRect">
            <a:avLst>
              <a:gd name="adj" fmla="val 5517"/>
            </a:avLst>
          </a:prstGeom>
          <a:solidFill>
            <a:schemeClr val="bg2"/>
          </a:solidFill>
          <a:ln w="12700">
            <a:solidFill>
              <a:schemeClr val="bg2"/>
            </a:solidFill>
            <a:prstDash val="solid"/>
          </a:ln>
        </p:spPr>
      </p:sp>
      <p:sp>
        <p:nvSpPr>
          <p:cNvPr id="16" name="box text 500 decision trees"/>
          <p:cNvSpPr txBox="1"/>
          <p:nvPr/>
        </p:nvSpPr>
        <p:spPr>
          <a:xfrm>
            <a:off x="5120640" y="1124712"/>
            <a:ext cx="1737360" cy="1179576"/>
          </a:xfrm>
          <a:prstGeom prst="rect">
            <a:avLst/>
          </a:prstGeom>
          <a:noFill/>
          <a:ln/>
        </p:spPr>
        <p:txBody>
          <a:bodyPr wrap="square" lIns="0" tIns="0" rIns="0" bIns="0" rtlCol="0" anchor="ctr"/>
          <a:lstStyle/>
          <a:p>
            <a:pPr algn="ctr" indent="0" marL="0">
              <a:spcAft>
                <a:spcPts val="300"/>
              </a:spcAft>
              <a:buNone/>
            </a:pPr>
            <a:r>
              <a:rPr lang="en-US" sz="1400" b="1" dirty="0">
                <a:solidFill>
                  <a:schemeClr val="tx2"/>
                </a:solidFill>
              </a:rPr>
              <a:t>500 decision trees</a:t>
            </a:r>
            <a:endParaRPr lang="en-US" sz="1400" dirty="0"/>
          </a:p>
          <a:p>
            <a:pPr algn="ctr" indent="0" marL="0">
              <a:spcAft>
                <a:spcPts val="300"/>
              </a:spcAft>
              <a:buNone/>
            </a:pPr>
            <a:r>
              <a:rPr lang="en-US" sz="1100" dirty="0">
                <a:solidFill>
                  <a:schemeClr val="tx1"/>
                </a:solidFill>
              </a:rPr>
              <a:t>each one: a random draw of the paintings, 10 of the 102 numbers per question</a:t>
            </a:r>
            <a:endParaRPr lang="en-US" sz="1400" dirty="0"/>
          </a:p>
        </p:txBody>
      </p:sp>
      <p:sp>
        <p:nvSpPr>
          <p:cNvPr id="17" name="arrow 3"/>
          <p:cNvSpPr/>
          <p:nvPr/>
        </p:nvSpPr>
        <p:spPr>
          <a:xfrm>
            <a:off x="6995160" y="1613916"/>
            <a:ext cx="182880" cy="201168"/>
          </a:xfrm>
          <a:prstGeom prst="rightArrow">
            <a:avLst/>
          </a:prstGeom>
          <a:solidFill>
            <a:schemeClr val="tx2"/>
          </a:solidFill>
          <a:ln w="12700">
            <a:solidFill>
              <a:schemeClr val="tx2"/>
            </a:solidFill>
            <a:prstDash val="solid"/>
          </a:ln>
        </p:spPr>
      </p:sp>
      <p:sp>
        <p:nvSpPr>
          <p:cNvPr id="18" name="box They vote"/>
          <p:cNvSpPr/>
          <p:nvPr/>
        </p:nvSpPr>
        <p:spPr>
          <a:xfrm>
            <a:off x="7223760" y="1051560"/>
            <a:ext cx="1463040" cy="1325880"/>
          </a:xfrm>
          <a:prstGeom prst="roundRect">
            <a:avLst>
              <a:gd name="adj" fmla="val 5517"/>
            </a:avLst>
          </a:prstGeom>
          <a:solidFill>
            <a:schemeClr val="accent2"/>
          </a:solidFill>
          <a:ln w="12700">
            <a:solidFill>
              <a:schemeClr val="accent2"/>
            </a:solidFill>
            <a:prstDash val="solid"/>
          </a:ln>
        </p:spPr>
      </p:sp>
      <p:sp>
        <p:nvSpPr>
          <p:cNvPr id="19" name="box text They vote"/>
          <p:cNvSpPr txBox="1"/>
          <p:nvPr/>
        </p:nvSpPr>
        <p:spPr>
          <a:xfrm>
            <a:off x="7315200" y="1124712"/>
            <a:ext cx="1280160" cy="117957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They vote</a:t>
            </a:r>
            <a:endParaRPr lang="en-US" sz="1400" dirty="0"/>
          </a:p>
          <a:p>
            <a:pPr algn="ctr" indent="0" marL="0">
              <a:spcAft>
                <a:spcPts val="300"/>
              </a:spcAft>
              <a:buNone/>
            </a:pPr>
            <a:r>
              <a:rPr lang="en-US" sz="1200" dirty="0">
                <a:solidFill>
                  <a:schemeClr val="bg1"/>
                </a:solidFill>
              </a:rPr>
              <a:t>the style with the most votes wins</a:t>
            </a:r>
            <a:endParaRPr lang="en-US" sz="1400" dirty="0"/>
          </a:p>
        </p:txBody>
      </p:sp>
      <p:sp>
        <p:nvSpPr>
          <p:cNvPr id="20" name="tree card"/>
          <p:cNvSpPr/>
          <p:nvPr/>
        </p:nvSpPr>
        <p:spPr>
          <a:xfrm>
            <a:off x="457200" y="2560320"/>
            <a:ext cx="4846320" cy="2057400"/>
          </a:xfrm>
          <a:prstGeom prst="roundRect">
            <a:avLst>
              <a:gd name="adj" fmla="val 3556"/>
            </a:avLst>
          </a:prstGeom>
          <a:solidFill>
            <a:schemeClr val="bg2"/>
          </a:solidFill>
          <a:ln w="12700">
            <a:solidFill>
              <a:schemeClr val="bg2"/>
            </a:solidFill>
            <a:prstDash val="solid"/>
          </a:ln>
        </p:spPr>
      </p:sp>
      <p:sp>
        <p:nvSpPr>
          <p:cNvPr id="21" name="tree caption"/>
          <p:cNvSpPr txBox="1"/>
          <p:nvPr/>
        </p:nvSpPr>
        <p:spPr>
          <a:xfrm>
            <a:off x="594360" y="2633472"/>
            <a:ext cx="4572000" cy="256032"/>
          </a:xfrm>
          <a:prstGeom prst="rect">
            <a:avLst/>
          </a:prstGeom>
          <a:noFill/>
          <a:ln/>
        </p:spPr>
        <p:txBody>
          <a:bodyPr wrap="square" lIns="0" tIns="0" rIns="0" bIns="0" rtlCol="0" anchor="ctr"/>
          <a:lstStyle/>
          <a:p>
            <a:pPr indent="0" marL="0">
              <a:buNone/>
            </a:pPr>
            <a:r>
              <a:rPr lang="en-US" sz="1100" dirty="0">
                <a:solidFill>
                  <a:srgbClr val="5F6473"/>
                </a:solidFill>
              </a:rPr>
              <a:t>One tree, for example (the real questions use our 102 numbers)</a:t>
            </a:r>
            <a:endParaRPr lang="en-US" sz="1100" dirty="0"/>
          </a:p>
        </p:txBody>
      </p:sp>
      <p:sp>
        <p:nvSpPr>
          <p:cNvPr id="22" name="edge root yes"/>
          <p:cNvSpPr/>
          <p:nvPr/>
        </p:nvSpPr>
        <p:spPr>
          <a:xfrm flipH="1">
            <a:off x="1691640" y="3273552"/>
            <a:ext cx="1188720" cy="338328"/>
          </a:xfrm>
          <a:prstGeom prst="line">
            <a:avLst/>
          </a:prstGeom>
          <a:noFill/>
          <a:ln w="15875">
            <a:solidFill>
              <a:srgbClr val="5F6473"/>
            </a:solidFill>
            <a:prstDash val="solid"/>
          </a:ln>
        </p:spPr>
      </p:sp>
      <p:sp>
        <p:nvSpPr>
          <p:cNvPr id="23" name="edge root yes label"/>
          <p:cNvSpPr txBox="1"/>
          <p:nvPr/>
        </p:nvSpPr>
        <p:spPr>
          <a:xfrm>
            <a:off x="1901952" y="3323844"/>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24" name="edge root no"/>
          <p:cNvSpPr/>
          <p:nvPr/>
        </p:nvSpPr>
        <p:spPr>
          <a:xfrm>
            <a:off x="2880360" y="3273552"/>
            <a:ext cx="1188720" cy="338328"/>
          </a:xfrm>
          <a:prstGeom prst="line">
            <a:avLst/>
          </a:prstGeom>
          <a:noFill/>
          <a:ln w="15875">
            <a:solidFill>
              <a:srgbClr val="5F6473"/>
            </a:solidFill>
            <a:prstDash val="solid"/>
          </a:ln>
        </p:spPr>
      </p:sp>
      <p:sp>
        <p:nvSpPr>
          <p:cNvPr id="25" name="edge root no label"/>
          <p:cNvSpPr txBox="1"/>
          <p:nvPr/>
        </p:nvSpPr>
        <p:spPr>
          <a:xfrm>
            <a:off x="3538728" y="3323844"/>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26" name="edge left yes"/>
          <p:cNvSpPr/>
          <p:nvPr/>
        </p:nvSpPr>
        <p:spPr>
          <a:xfrm flipH="1">
            <a:off x="1143000" y="3941064"/>
            <a:ext cx="548640" cy="265176"/>
          </a:xfrm>
          <a:prstGeom prst="line">
            <a:avLst/>
          </a:prstGeom>
          <a:noFill/>
          <a:ln w="15875">
            <a:solidFill>
              <a:srgbClr val="5F6473"/>
            </a:solidFill>
            <a:prstDash val="solid"/>
          </a:ln>
        </p:spPr>
      </p:sp>
      <p:sp>
        <p:nvSpPr>
          <p:cNvPr id="27" name="edge left yes label"/>
          <p:cNvSpPr txBox="1"/>
          <p:nvPr/>
        </p:nvSpPr>
        <p:spPr>
          <a:xfrm>
            <a:off x="1033272" y="3954780"/>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28" name="edge left no"/>
          <p:cNvSpPr/>
          <p:nvPr/>
        </p:nvSpPr>
        <p:spPr>
          <a:xfrm>
            <a:off x="1691640" y="3941064"/>
            <a:ext cx="548640" cy="265176"/>
          </a:xfrm>
          <a:prstGeom prst="line">
            <a:avLst/>
          </a:prstGeom>
          <a:noFill/>
          <a:ln w="15875">
            <a:solidFill>
              <a:srgbClr val="5F6473"/>
            </a:solidFill>
            <a:prstDash val="solid"/>
          </a:ln>
        </p:spPr>
      </p:sp>
      <p:sp>
        <p:nvSpPr>
          <p:cNvPr id="29" name="edge left no label"/>
          <p:cNvSpPr txBox="1"/>
          <p:nvPr/>
        </p:nvSpPr>
        <p:spPr>
          <a:xfrm>
            <a:off x="2029968" y="3954780"/>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30" name="edge right yes"/>
          <p:cNvSpPr/>
          <p:nvPr/>
        </p:nvSpPr>
        <p:spPr>
          <a:xfrm flipH="1">
            <a:off x="3520440" y="3941064"/>
            <a:ext cx="548640" cy="265176"/>
          </a:xfrm>
          <a:prstGeom prst="line">
            <a:avLst/>
          </a:prstGeom>
          <a:noFill/>
          <a:ln w="15875">
            <a:solidFill>
              <a:srgbClr val="5F6473"/>
            </a:solidFill>
            <a:prstDash val="solid"/>
          </a:ln>
        </p:spPr>
      </p:sp>
      <p:sp>
        <p:nvSpPr>
          <p:cNvPr id="31" name="edge right yes label"/>
          <p:cNvSpPr txBox="1"/>
          <p:nvPr/>
        </p:nvSpPr>
        <p:spPr>
          <a:xfrm>
            <a:off x="3410712" y="3954780"/>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32" name="edge right no"/>
          <p:cNvSpPr/>
          <p:nvPr/>
        </p:nvSpPr>
        <p:spPr>
          <a:xfrm>
            <a:off x="4069080" y="3941064"/>
            <a:ext cx="548640" cy="265176"/>
          </a:xfrm>
          <a:prstGeom prst="line">
            <a:avLst/>
          </a:prstGeom>
          <a:noFill/>
          <a:ln w="15875">
            <a:solidFill>
              <a:srgbClr val="5F6473"/>
            </a:solidFill>
            <a:prstDash val="solid"/>
          </a:ln>
        </p:spPr>
      </p:sp>
      <p:sp>
        <p:nvSpPr>
          <p:cNvPr id="33" name="edge right no label"/>
          <p:cNvSpPr txBox="1"/>
          <p:nvPr/>
        </p:nvSpPr>
        <p:spPr>
          <a:xfrm>
            <a:off x="4407408" y="3954780"/>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34" name="node root"/>
          <p:cNvSpPr/>
          <p:nvPr/>
        </p:nvSpPr>
        <p:spPr>
          <a:xfrm>
            <a:off x="1965960" y="2944368"/>
            <a:ext cx="1828800" cy="329184"/>
          </a:xfrm>
          <a:prstGeom prst="roundRect">
            <a:avLst>
              <a:gd name="adj" fmla="val 16667"/>
            </a:avLst>
          </a:prstGeom>
          <a:solidFill>
            <a:schemeClr val="tx2"/>
          </a:solidFill>
          <a:ln w="12700">
            <a:solidFill>
              <a:schemeClr val="tx2"/>
            </a:solidFill>
            <a:prstDash val="solid"/>
          </a:ln>
        </p:spPr>
      </p:sp>
      <p:sp>
        <p:nvSpPr>
          <p:cNvPr id="35" name="node root text"/>
          <p:cNvSpPr txBox="1"/>
          <p:nvPr/>
        </p:nvSpPr>
        <p:spPr>
          <a:xfrm>
            <a:off x="1965960" y="2944368"/>
            <a:ext cx="1828800" cy="329184"/>
          </a:xfrm>
          <a:prstGeom prst="rect">
            <a:avLst/>
          </a:prstGeom>
          <a:noFill/>
          <a:ln/>
        </p:spPr>
        <p:txBody>
          <a:bodyPr wrap="square" lIns="0" tIns="0" rIns="0" bIns="0" rtlCol="0" anchor="ctr"/>
          <a:lstStyle/>
          <a:p>
            <a:pPr algn="ctr" indent="0" marL="0">
              <a:buNone/>
            </a:pPr>
            <a:r>
              <a:rPr lang="en-US" sz="1100" b="1" dirty="0">
                <a:solidFill>
                  <a:schemeClr val="bg1"/>
                </a:solidFill>
              </a:rPr>
              <a:t>Many dark colours?</a:t>
            </a:r>
            <a:endParaRPr lang="en-US" sz="1100" dirty="0"/>
          </a:p>
        </p:txBody>
      </p:sp>
      <p:sp>
        <p:nvSpPr>
          <p:cNvPr id="36" name="node left"/>
          <p:cNvSpPr/>
          <p:nvPr/>
        </p:nvSpPr>
        <p:spPr>
          <a:xfrm>
            <a:off x="822960" y="3611880"/>
            <a:ext cx="1737360" cy="329184"/>
          </a:xfrm>
          <a:prstGeom prst="roundRect">
            <a:avLst>
              <a:gd name="adj" fmla="val 16667"/>
            </a:avLst>
          </a:prstGeom>
          <a:solidFill>
            <a:schemeClr val="tx2"/>
          </a:solidFill>
          <a:ln w="12700">
            <a:solidFill>
              <a:schemeClr val="tx2"/>
            </a:solidFill>
            <a:prstDash val="solid"/>
          </a:ln>
        </p:spPr>
      </p:sp>
      <p:sp>
        <p:nvSpPr>
          <p:cNvPr id="37" name="node left text"/>
          <p:cNvSpPr txBox="1"/>
          <p:nvPr/>
        </p:nvSpPr>
        <p:spPr>
          <a:xfrm>
            <a:off x="822960" y="3611880"/>
            <a:ext cx="1737360" cy="329184"/>
          </a:xfrm>
          <a:prstGeom prst="rect">
            <a:avLst/>
          </a:prstGeom>
          <a:noFill/>
          <a:ln/>
        </p:spPr>
        <p:txBody>
          <a:bodyPr wrap="square" lIns="0" tIns="0" rIns="0" bIns="0" rtlCol="0" anchor="ctr"/>
          <a:lstStyle/>
          <a:p>
            <a:pPr algn="ctr" indent="0" marL="0">
              <a:buNone/>
            </a:pPr>
            <a:r>
              <a:rPr lang="en-US" sz="1100" b="1" dirty="0">
                <a:solidFill>
                  <a:schemeClr val="bg1"/>
                </a:solidFill>
              </a:rPr>
              <a:t>Many straight edges?</a:t>
            </a:r>
            <a:endParaRPr lang="en-US" sz="1100" dirty="0"/>
          </a:p>
        </p:txBody>
      </p:sp>
      <p:sp>
        <p:nvSpPr>
          <p:cNvPr id="38" name="node right"/>
          <p:cNvSpPr/>
          <p:nvPr/>
        </p:nvSpPr>
        <p:spPr>
          <a:xfrm>
            <a:off x="3200400" y="3611880"/>
            <a:ext cx="1737360" cy="329184"/>
          </a:xfrm>
          <a:prstGeom prst="roundRect">
            <a:avLst>
              <a:gd name="adj" fmla="val 16667"/>
            </a:avLst>
          </a:prstGeom>
          <a:solidFill>
            <a:schemeClr val="tx2"/>
          </a:solidFill>
          <a:ln w="12700">
            <a:solidFill>
              <a:schemeClr val="tx2"/>
            </a:solidFill>
            <a:prstDash val="solid"/>
          </a:ln>
        </p:spPr>
      </p:sp>
      <p:sp>
        <p:nvSpPr>
          <p:cNvPr id="39" name="node right text"/>
          <p:cNvSpPr txBox="1"/>
          <p:nvPr/>
        </p:nvSpPr>
        <p:spPr>
          <a:xfrm>
            <a:off x="3200400" y="3611880"/>
            <a:ext cx="1737360" cy="329184"/>
          </a:xfrm>
          <a:prstGeom prst="rect">
            <a:avLst/>
          </a:prstGeom>
          <a:noFill/>
          <a:ln/>
        </p:spPr>
        <p:txBody>
          <a:bodyPr wrap="square" lIns="0" tIns="0" rIns="0" bIns="0" rtlCol="0" anchor="ctr"/>
          <a:lstStyle/>
          <a:p>
            <a:pPr algn="ctr" indent="0" marL="0">
              <a:buNone/>
            </a:pPr>
            <a:r>
              <a:rPr lang="en-US" sz="1100" b="1" dirty="0">
                <a:solidFill>
                  <a:schemeClr val="bg1"/>
                </a:solidFill>
              </a:rPr>
              <a:t>Vivid flat colours?</a:t>
            </a:r>
            <a:endParaRPr lang="en-US" sz="1100" dirty="0"/>
          </a:p>
        </p:txBody>
      </p:sp>
      <p:sp>
        <p:nvSpPr>
          <p:cNvPr id="40" name="leaf Cubism"/>
          <p:cNvSpPr/>
          <p:nvPr/>
        </p:nvSpPr>
        <p:spPr>
          <a:xfrm>
            <a:off x="640080" y="4206240"/>
            <a:ext cx="1005840" cy="329184"/>
          </a:xfrm>
          <a:prstGeom prst="roundRect">
            <a:avLst>
              <a:gd name="adj" fmla="val 16667"/>
            </a:avLst>
          </a:prstGeom>
          <a:solidFill>
            <a:srgbClr val="EB6834"/>
          </a:solidFill>
          <a:ln w="12700">
            <a:solidFill>
              <a:srgbClr val="EB6834"/>
            </a:solidFill>
            <a:prstDash val="solid"/>
          </a:ln>
        </p:spPr>
      </p:sp>
      <p:sp>
        <p:nvSpPr>
          <p:cNvPr id="41" name="leaf Cubism text"/>
          <p:cNvSpPr txBox="1"/>
          <p:nvPr/>
        </p:nvSpPr>
        <p:spPr>
          <a:xfrm>
            <a:off x="64008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Cubism</a:t>
            </a:r>
            <a:endParaRPr lang="en-US" sz="1100" dirty="0"/>
          </a:p>
        </p:txBody>
      </p:sp>
      <p:sp>
        <p:nvSpPr>
          <p:cNvPr id="42" name="leaf Baroque"/>
          <p:cNvSpPr/>
          <p:nvPr/>
        </p:nvSpPr>
        <p:spPr>
          <a:xfrm>
            <a:off x="1737360" y="4206240"/>
            <a:ext cx="1005840" cy="329184"/>
          </a:xfrm>
          <a:prstGeom prst="roundRect">
            <a:avLst>
              <a:gd name="adj" fmla="val 16667"/>
            </a:avLst>
          </a:prstGeom>
          <a:solidFill>
            <a:srgbClr val="2A78D6"/>
          </a:solidFill>
          <a:ln w="12700">
            <a:solidFill>
              <a:srgbClr val="2A78D6"/>
            </a:solidFill>
            <a:prstDash val="solid"/>
          </a:ln>
        </p:spPr>
      </p:sp>
      <p:sp>
        <p:nvSpPr>
          <p:cNvPr id="43" name="leaf Baroque text"/>
          <p:cNvSpPr txBox="1"/>
          <p:nvPr/>
        </p:nvSpPr>
        <p:spPr>
          <a:xfrm>
            <a:off x="173736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Baroque</a:t>
            </a:r>
            <a:endParaRPr lang="en-US" sz="1100" dirty="0"/>
          </a:p>
        </p:txBody>
      </p:sp>
      <p:sp>
        <p:nvSpPr>
          <p:cNvPr id="44" name="leaf Pop_Art"/>
          <p:cNvSpPr/>
          <p:nvPr/>
        </p:nvSpPr>
        <p:spPr>
          <a:xfrm>
            <a:off x="3017520" y="4206240"/>
            <a:ext cx="1005840" cy="329184"/>
          </a:xfrm>
          <a:prstGeom prst="roundRect">
            <a:avLst>
              <a:gd name="adj" fmla="val 16667"/>
            </a:avLst>
          </a:prstGeom>
          <a:solidFill>
            <a:srgbClr val="EDA100"/>
          </a:solidFill>
          <a:ln w="12700">
            <a:solidFill>
              <a:srgbClr val="EDA100"/>
            </a:solidFill>
            <a:prstDash val="solid"/>
          </a:ln>
        </p:spPr>
      </p:sp>
      <p:sp>
        <p:nvSpPr>
          <p:cNvPr id="45" name="leaf Pop_Art text"/>
          <p:cNvSpPr txBox="1"/>
          <p:nvPr/>
        </p:nvSpPr>
        <p:spPr>
          <a:xfrm>
            <a:off x="301752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Pop Art</a:t>
            </a:r>
            <a:endParaRPr lang="en-US" sz="1100" dirty="0"/>
          </a:p>
        </p:txBody>
      </p:sp>
      <p:sp>
        <p:nvSpPr>
          <p:cNvPr id="46" name="leaf Impressionism"/>
          <p:cNvSpPr/>
          <p:nvPr/>
        </p:nvSpPr>
        <p:spPr>
          <a:xfrm>
            <a:off x="4114800" y="4206240"/>
            <a:ext cx="1005840" cy="329184"/>
          </a:xfrm>
          <a:prstGeom prst="roundRect">
            <a:avLst>
              <a:gd name="adj" fmla="val 16667"/>
            </a:avLst>
          </a:prstGeom>
          <a:solidFill>
            <a:srgbClr val="1BAF7A"/>
          </a:solidFill>
          <a:ln w="12700">
            <a:solidFill>
              <a:srgbClr val="1BAF7A"/>
            </a:solidFill>
            <a:prstDash val="solid"/>
          </a:ln>
        </p:spPr>
      </p:sp>
      <p:sp>
        <p:nvSpPr>
          <p:cNvPr id="47" name="leaf Impressionism text"/>
          <p:cNvSpPr txBox="1"/>
          <p:nvPr/>
        </p:nvSpPr>
        <p:spPr>
          <a:xfrm>
            <a:off x="411480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Impressionism</a:t>
            </a:r>
            <a:endParaRPr lang="en-US" sz="1100" dirty="0"/>
          </a:p>
        </p:txBody>
      </p:sp>
      <p:sp>
        <p:nvSpPr>
          <p:cNvPr id="48" name="training card"/>
          <p:cNvSpPr/>
          <p:nvPr/>
        </p:nvSpPr>
        <p:spPr>
          <a:xfrm>
            <a:off x="5486400" y="2560320"/>
            <a:ext cx="3200400" cy="2057400"/>
          </a:xfrm>
          <a:prstGeom prst="roundRect">
            <a:avLst>
              <a:gd name="adj" fmla="val 3556"/>
            </a:avLst>
          </a:prstGeom>
          <a:solidFill>
            <a:schemeClr val="bg2"/>
          </a:solidFill>
          <a:ln w="12700">
            <a:solidFill>
              <a:schemeClr val="bg2"/>
            </a:solidFill>
            <a:prstDash val="solid"/>
          </a:ln>
        </p:spPr>
      </p:sp>
      <p:sp>
        <p:nvSpPr>
          <p:cNvPr id="49" name="training title"/>
          <p:cNvSpPr txBox="1"/>
          <p:nvPr/>
        </p:nvSpPr>
        <p:spPr>
          <a:xfrm>
            <a:off x="5650992" y="2651760"/>
            <a:ext cx="2880360" cy="292608"/>
          </a:xfrm>
          <a:prstGeom prst="rect">
            <a:avLst/>
          </a:prstGeom>
          <a:noFill/>
          <a:ln/>
        </p:spPr>
        <p:txBody>
          <a:bodyPr wrap="square" lIns="0" tIns="0" rIns="0" bIns="0" rtlCol="0" anchor="ctr"/>
          <a:lstStyle/>
          <a:p>
            <a:pPr indent="0" marL="0">
              <a:buNone/>
            </a:pPr>
            <a:r>
              <a:rPr lang="en-US" sz="1400" b="1" dirty="0">
                <a:solidFill>
                  <a:schemeClr val="tx2"/>
                </a:solidFill>
              </a:rPr>
              <a:t>How we trained it</a:t>
            </a:r>
            <a:endParaRPr lang="en-US" sz="1400" dirty="0"/>
          </a:p>
        </p:txBody>
      </p:sp>
      <p:sp>
        <p:nvSpPr>
          <p:cNvPr id="50" name="training bullets"/>
          <p:cNvSpPr txBox="1"/>
          <p:nvPr/>
        </p:nvSpPr>
        <p:spPr>
          <a:xfrm>
            <a:off x="5650992" y="2999232"/>
            <a:ext cx="2880360" cy="155448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scikit-learn, 500 trees, on the 1 061 training paintings</a:t>
            </a:r>
            <a:endParaRPr lang="en-US" sz="1200" dirty="0"/>
          </a:p>
          <a:p>
            <a:pPr marL="342900" indent="-342900">
              <a:spcAft>
                <a:spcPts val="800"/>
              </a:spcAft>
              <a:buSzPct val="100000"/>
              <a:buChar char="•"/>
            </a:pPr>
            <a:r>
              <a:rPr lang="en-US" sz="1200" dirty="0">
                <a:solidFill>
                  <a:schemeClr val="tx1"/>
                </a:solidFill>
              </a:rPr>
              <a:t>4 settings tried, the best chosen on validation: 63.5 %</a:t>
            </a:r>
            <a:endParaRPr lang="en-US" sz="1200" dirty="0"/>
          </a:p>
          <a:p>
            <a:pPr marL="342900" indent="-342900">
              <a:spcAft>
                <a:spcPts val="800"/>
              </a:spcAft>
              <a:buSzPct val="100000"/>
              <a:buChar char="•"/>
            </a:pPr>
            <a:r>
              <a:rPr lang="en-US" sz="1200" dirty="0">
                <a:solidFill>
                  <a:schemeClr val="tx1"/>
                </a:solidFill>
              </a:rPr>
              <a:t>Training 1 s; 24 ms per photo</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Final test: the pretrained network wins</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graphicFrame>
        <p:nvGraphicFramePr>
          <p:cNvPr id="4" name="chart final test" descr=""/>
          <p:cNvGraphicFramePr/>
          <p:nvPr/>
        </p:nvGraphicFramePr>
        <p:xfrm>
          <a:off x="274320" y="960120"/>
          <a:ext cx="5806440" cy="3703320"/>
        </p:xfrm>
        <a:graphic xmlns:a="http://schemas.openxmlformats.org/drawingml/2006/main">
          <a:graphicData uri="http://schemas.openxmlformats.org/drawingml/2006/chart">
            <c:chart xmlns:c="http://schemas.openxmlformats.org/drawingml/2006/chart" r:id="rId1"/>
          </a:graphicData>
        </a:graphic>
      </p:graphicFrame>
      <p:sp>
        <p:nvSpPr>
          <p:cNvPr id="5" name="card +16.4"/>
          <p:cNvSpPr/>
          <p:nvPr/>
        </p:nvSpPr>
        <p:spPr>
          <a:xfrm>
            <a:off x="6263640" y="1051560"/>
            <a:ext cx="2423160" cy="1965960"/>
          </a:xfrm>
          <a:prstGeom prst="roundRect">
            <a:avLst>
              <a:gd name="adj" fmla="val 3721"/>
            </a:avLst>
          </a:prstGeom>
          <a:solidFill>
            <a:schemeClr val="accent1"/>
          </a:solidFill>
          <a:ln w="12700">
            <a:solidFill>
              <a:schemeClr val="accent1"/>
            </a:solidFill>
            <a:prstDash val="solid"/>
          </a:ln>
        </p:spPr>
      </p:sp>
      <p:sp>
        <p:nvSpPr>
          <p:cNvPr id="6" name="value +16.4"/>
          <p:cNvSpPr txBox="1"/>
          <p:nvPr/>
        </p:nvSpPr>
        <p:spPr>
          <a:xfrm>
            <a:off x="6446520" y="1188720"/>
            <a:ext cx="205740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+16.4</a:t>
            </a:r>
            <a:endParaRPr lang="en-US" sz="4000" dirty="0"/>
          </a:p>
        </p:txBody>
      </p:sp>
      <p:sp>
        <p:nvSpPr>
          <p:cNvPr id="7" name="caption +16.4"/>
          <p:cNvSpPr txBox="1"/>
          <p:nvPr/>
        </p:nvSpPr>
        <p:spPr>
          <a:xfrm>
            <a:off x="6446520" y="1965960"/>
            <a:ext cx="2057400" cy="914400"/>
          </a:xfrm>
          <a:prstGeom prst="rect">
            <a:avLst/>
          </a:prstGeom>
          <a:noFill/>
          <a:ln/>
        </p:spPr>
        <p:txBody>
          <a:bodyPr wrap="square" lIns="0" tIns="0" rIns="0" bIns="0" rtlCol="0" anchor="t"/>
          <a:lstStyle/>
          <a:p>
            <a:pPr indent="0" marL="0">
              <a:buNone/>
            </a:pPr>
            <a:r>
              <a:rPr lang="en-US" sz="1200" dirty="0">
                <a:solidFill>
                  <a:schemeClr val="bg1"/>
                </a:solidFill>
              </a:rPr>
              <a:t>points for our frozen ResNet over the best classical model (95 % interval 9.1 to 24.1)</a:t>
            </a:r>
            <a:endParaRPr lang="en-US" sz="1200" dirty="0"/>
          </a:p>
        </p:txBody>
      </p:sp>
      <p:sp>
        <p:nvSpPr>
          <p:cNvPr id="8" name="note A surprise"/>
          <p:cNvSpPr/>
          <p:nvPr/>
        </p:nvSpPr>
        <p:spPr>
          <a:xfrm>
            <a:off x="6263640" y="3154680"/>
            <a:ext cx="2423160" cy="1463040"/>
          </a:xfrm>
          <a:prstGeom prst="roundRect">
            <a:avLst>
              <a:gd name="adj" fmla="val 5000"/>
            </a:avLst>
          </a:prstGeom>
          <a:solidFill>
            <a:schemeClr val="bg2"/>
          </a:solidFill>
          <a:ln w="12700">
            <a:solidFill>
              <a:schemeClr val="bg2"/>
            </a:solidFill>
            <a:prstDash val="solid"/>
          </a:ln>
        </p:spPr>
      </p:sp>
      <p:sp>
        <p:nvSpPr>
          <p:cNvPr id="9" name="text A surprise"/>
          <p:cNvSpPr txBox="1"/>
          <p:nvPr/>
        </p:nvSpPr>
        <p:spPr>
          <a:xfrm>
            <a:off x="6428232" y="3264408"/>
            <a:ext cx="2093976" cy="124358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A surprise</a:t>
            </a:r>
            <a:endParaRPr lang="en-US" sz="1400" dirty="0"/>
          </a:p>
          <a:p>
            <a:pPr indent="0" marL="0">
              <a:spcAft>
                <a:spcPts val="400"/>
              </a:spcAft>
              <a:buNone/>
            </a:pPr>
            <a:r>
              <a:rPr lang="en-US" sz="1200" dirty="0">
                <a:solidFill>
                  <a:schemeClr val="tx1"/>
                </a:solidFill>
              </a:rPr>
              <a:t>Fine-tuned: 1st on test (87.9 %), but 2nd on validation (85.4 %). Luck? We checked with a second test.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second test: the fine-tuned win was not luck</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graphicFrame>
        <p:nvGraphicFramePr>
          <p:cNvPr id="4" name="chart second test" descr=""/>
          <p:cNvGraphicFramePr/>
          <p:nvPr/>
        </p:nvGraphicFramePr>
        <p:xfrm>
          <a:off x="274320" y="960120"/>
          <a:ext cx="5806440" cy="3703320"/>
        </p:xfrm>
        <a:graphic xmlns:a="http://schemas.openxmlformats.org/drawingml/2006/main">
          <a:graphicData uri="http://schemas.openxmlformats.org/drawingml/2006/chart">
            <c:chart xmlns:c="http://schemas.openxmlformats.org/drawingml/2006/chart" r:id="rId1"/>
          </a:graphicData>
        </a:graphic>
      </p:graphicFrame>
      <p:sp>
        <p:nvSpPr>
          <p:cNvPr id="5" name="card +5.0"/>
          <p:cNvSpPr/>
          <p:nvPr/>
        </p:nvSpPr>
        <p:spPr>
          <a:xfrm>
            <a:off x="6263640" y="1051560"/>
            <a:ext cx="2423160" cy="1965960"/>
          </a:xfrm>
          <a:prstGeom prst="roundRect">
            <a:avLst>
              <a:gd name="adj" fmla="val 3721"/>
            </a:avLst>
          </a:prstGeom>
          <a:solidFill>
            <a:schemeClr val="accent1"/>
          </a:solidFill>
          <a:ln w="12700">
            <a:solidFill>
              <a:schemeClr val="accent1"/>
            </a:solidFill>
            <a:prstDash val="solid"/>
          </a:ln>
        </p:spPr>
      </p:sp>
      <p:sp>
        <p:nvSpPr>
          <p:cNvPr id="6" name="value +5.0"/>
          <p:cNvSpPr txBox="1"/>
          <p:nvPr/>
        </p:nvSpPr>
        <p:spPr>
          <a:xfrm>
            <a:off x="6446520" y="1188720"/>
            <a:ext cx="205740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+5.0</a:t>
            </a:r>
            <a:endParaRPr lang="en-US" sz="4000" dirty="0"/>
          </a:p>
        </p:txBody>
      </p:sp>
      <p:sp>
        <p:nvSpPr>
          <p:cNvPr id="7" name="caption +5.0"/>
          <p:cNvSpPr txBox="1"/>
          <p:nvPr/>
        </p:nvSpPr>
        <p:spPr>
          <a:xfrm>
            <a:off x="6446520" y="1965960"/>
            <a:ext cx="2057400" cy="914400"/>
          </a:xfrm>
          <a:prstGeom prst="rect">
            <a:avLst/>
          </a:prstGeom>
          <a:noFill/>
          <a:ln/>
        </p:spPr>
        <p:txBody>
          <a:bodyPr wrap="square" lIns="0" tIns="0" rIns="0" bIns="0" rtlCol="0" anchor="t"/>
          <a:lstStyle/>
          <a:p>
            <a:pPr indent="0" marL="0">
              <a:buNone/>
            </a:pPr>
            <a:r>
              <a:rPr lang="en-US" sz="1200" dirty="0">
                <a:solidFill>
                  <a:schemeClr val="bg1"/>
                </a:solidFill>
              </a:rPr>
              <a:t>points for fine-tuning over frozen, on the 440 test paintings (95 % interval 2.0 to 8.2)</a:t>
            </a:r>
            <a:endParaRPr lang="en-US" sz="1200" dirty="0"/>
          </a:p>
        </p:txBody>
      </p:sp>
      <p:sp>
        <p:nvSpPr>
          <p:cNvPr id="8" name="note 220 new paintings"/>
          <p:cNvSpPr/>
          <p:nvPr/>
        </p:nvSpPr>
        <p:spPr>
          <a:xfrm>
            <a:off x="6263640" y="3154680"/>
            <a:ext cx="2423160" cy="1463040"/>
          </a:xfrm>
          <a:prstGeom prst="roundRect">
            <a:avLst>
              <a:gd name="adj" fmla="val 5000"/>
            </a:avLst>
          </a:prstGeom>
          <a:solidFill>
            <a:schemeClr val="bg2"/>
          </a:solidFill>
          <a:ln w="12700">
            <a:solidFill>
              <a:schemeClr val="bg2"/>
            </a:solidFill>
            <a:prstDash val="solid"/>
          </a:ln>
        </p:spPr>
      </p:sp>
      <p:sp>
        <p:nvSpPr>
          <p:cNvPr id="9" name="text 220 new paintings"/>
          <p:cNvSpPr txBox="1"/>
          <p:nvPr/>
        </p:nvSpPr>
        <p:spPr>
          <a:xfrm>
            <a:off x="6428232" y="3264408"/>
            <a:ext cx="2093976" cy="124358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220 new paintings</a:t>
            </a:r>
            <a:endParaRPr lang="en-US" sz="1400" dirty="0"/>
          </a:p>
          <a:p>
            <a:pPr indent="0" marL="0">
              <a:spcAft>
                <a:spcPts val="400"/>
              </a:spcAft>
              <a:buNone/>
            </a:pPr>
            <a:r>
              <a:rPr lang="en-US" sz="1200" dirty="0">
                <a:solidFill>
                  <a:schemeClr val="tx1"/>
                </a:solidFill>
              </a:rPr>
              <a:t>From parts of WikiArt we never opened, by painters our models never saw. Same models, used once.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Fast and cheap enough for a kiosk</a:t>
            </a:r>
            <a:endParaRPr lang="en-US" sz="3000" dirty="0"/>
          </a:p>
        </p:txBody>
      </p:sp>
      <p:sp>
        <p:nvSpPr>
          <p:cNvPr id="3" name="step tag 6"/>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6 OF 6 · KIOSK COST</a:t>
            </a:r>
            <a:endParaRPr lang="en-US" sz="1100" dirty="0"/>
          </a:p>
        </p:txBody>
      </p:sp>
      <p:sp>
        <p:nvSpPr>
          <p:cNvPr id="4" name="card 53 ms"/>
          <p:cNvSpPr/>
          <p:nvPr/>
        </p:nvSpPr>
        <p:spPr>
          <a:xfrm>
            <a:off x="457200" y="1097280"/>
            <a:ext cx="1920240" cy="1828800"/>
          </a:xfrm>
          <a:prstGeom prst="roundRect">
            <a:avLst>
              <a:gd name="adj" fmla="val 4000"/>
            </a:avLst>
          </a:prstGeom>
          <a:solidFill>
            <a:schemeClr val="accent1"/>
          </a:solidFill>
          <a:ln w="12700">
            <a:solidFill>
              <a:schemeClr val="accent1"/>
            </a:solidFill>
            <a:prstDash val="solid"/>
          </a:ln>
        </p:spPr>
      </p:sp>
      <p:sp>
        <p:nvSpPr>
          <p:cNvPr id="5" name="value 53 ms"/>
          <p:cNvSpPr txBox="1"/>
          <p:nvPr/>
        </p:nvSpPr>
        <p:spPr>
          <a:xfrm>
            <a:off x="640080" y="1234440"/>
            <a:ext cx="1554480" cy="73152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53 ms</a:t>
            </a:r>
            <a:endParaRPr lang="en-US" sz="3200" dirty="0"/>
          </a:p>
        </p:txBody>
      </p:sp>
      <p:sp>
        <p:nvSpPr>
          <p:cNvPr id="6" name="caption 53 ms"/>
          <p:cNvSpPr txBox="1"/>
          <p:nvPr/>
        </p:nvSpPr>
        <p:spPr>
          <a:xfrm>
            <a:off x="640080" y="2011680"/>
            <a:ext cx="1554480" cy="777240"/>
          </a:xfrm>
          <a:prstGeom prst="rect">
            <a:avLst/>
          </a:prstGeom>
          <a:noFill/>
          <a:ln/>
        </p:spPr>
        <p:txBody>
          <a:bodyPr wrap="square" lIns="0" tIns="0" rIns="0" bIns="0" rtlCol="0" anchor="t"/>
          <a:lstStyle/>
          <a:p>
            <a:pPr indent="0" marL="0">
              <a:buNone/>
            </a:pPr>
            <a:r>
              <a:rPr lang="en-US" sz="1400" dirty="0">
                <a:solidFill>
                  <a:schemeClr val="bg1"/>
                </a:solidFill>
              </a:rPr>
              <a:t>per photo on one CPU thread</a:t>
            </a:r>
            <a:endParaRPr lang="en-US" sz="1400" dirty="0"/>
          </a:p>
        </p:txBody>
      </p:sp>
      <p:sp>
        <p:nvSpPr>
          <p:cNvPr id="7" name="card 27 ms"/>
          <p:cNvSpPr/>
          <p:nvPr/>
        </p:nvSpPr>
        <p:spPr>
          <a:xfrm>
            <a:off x="2560320" y="1097280"/>
            <a:ext cx="1920240" cy="1828800"/>
          </a:xfrm>
          <a:prstGeom prst="roundRect">
            <a:avLst>
              <a:gd name="adj" fmla="val 4000"/>
            </a:avLst>
          </a:prstGeom>
          <a:solidFill>
            <a:schemeClr val="bg2"/>
          </a:solidFill>
          <a:ln w="12700">
            <a:solidFill>
              <a:schemeClr val="bg2"/>
            </a:solidFill>
            <a:prstDash val="solid"/>
          </a:ln>
        </p:spPr>
      </p:sp>
      <p:sp>
        <p:nvSpPr>
          <p:cNvPr id="8" name="value 27 ms"/>
          <p:cNvSpPr txBox="1"/>
          <p:nvPr/>
        </p:nvSpPr>
        <p:spPr>
          <a:xfrm>
            <a:off x="2743200" y="1234440"/>
            <a:ext cx="1554480"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27 ms</a:t>
            </a:r>
            <a:endParaRPr lang="en-US" sz="3200" dirty="0"/>
          </a:p>
        </p:txBody>
      </p:sp>
      <p:sp>
        <p:nvSpPr>
          <p:cNvPr id="9" name="caption 27 ms"/>
          <p:cNvSpPr txBox="1"/>
          <p:nvPr/>
        </p:nvSpPr>
        <p:spPr>
          <a:xfrm>
            <a:off x="274320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per photo with 4 threads</a:t>
            </a:r>
            <a:endParaRPr lang="en-US" sz="1400" dirty="0"/>
          </a:p>
        </p:txBody>
      </p:sp>
      <p:sp>
        <p:nvSpPr>
          <p:cNvPr id="10" name="card 45 MB"/>
          <p:cNvSpPr/>
          <p:nvPr/>
        </p:nvSpPr>
        <p:spPr>
          <a:xfrm>
            <a:off x="4663440" y="1097280"/>
            <a:ext cx="1920240" cy="1828800"/>
          </a:xfrm>
          <a:prstGeom prst="roundRect">
            <a:avLst>
              <a:gd name="adj" fmla="val 4000"/>
            </a:avLst>
          </a:prstGeom>
          <a:solidFill>
            <a:schemeClr val="bg2"/>
          </a:solidFill>
          <a:ln w="12700">
            <a:solidFill>
              <a:schemeClr val="bg2"/>
            </a:solidFill>
            <a:prstDash val="solid"/>
          </a:ln>
        </p:spPr>
      </p:sp>
      <p:sp>
        <p:nvSpPr>
          <p:cNvPr id="11" name="value 45 MB"/>
          <p:cNvSpPr txBox="1"/>
          <p:nvPr/>
        </p:nvSpPr>
        <p:spPr>
          <a:xfrm>
            <a:off x="4846320" y="1234440"/>
            <a:ext cx="1554480"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45 MB</a:t>
            </a:r>
            <a:endParaRPr lang="en-US" sz="3200" dirty="0"/>
          </a:p>
        </p:txBody>
      </p:sp>
      <p:sp>
        <p:nvSpPr>
          <p:cNvPr id="12" name="caption 45 MB"/>
          <p:cNvSpPr txBox="1"/>
          <p:nvPr/>
        </p:nvSpPr>
        <p:spPr>
          <a:xfrm>
            <a:off x="484632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model file (11 M numbers)</a:t>
            </a:r>
            <a:endParaRPr lang="en-US" sz="1400" dirty="0"/>
          </a:p>
        </p:txBody>
      </p:sp>
      <p:sp>
        <p:nvSpPr>
          <p:cNvPr id="13" name="card 2.5 min"/>
          <p:cNvSpPr/>
          <p:nvPr/>
        </p:nvSpPr>
        <p:spPr>
          <a:xfrm>
            <a:off x="6766560" y="1097280"/>
            <a:ext cx="1920240" cy="1828800"/>
          </a:xfrm>
          <a:prstGeom prst="roundRect">
            <a:avLst>
              <a:gd name="adj" fmla="val 4000"/>
            </a:avLst>
          </a:prstGeom>
          <a:solidFill>
            <a:schemeClr val="bg2"/>
          </a:solidFill>
          <a:ln w="12700">
            <a:solidFill>
              <a:schemeClr val="bg2"/>
            </a:solidFill>
            <a:prstDash val="solid"/>
          </a:ln>
        </p:spPr>
      </p:sp>
      <p:sp>
        <p:nvSpPr>
          <p:cNvPr id="14" name="value 2.5 min"/>
          <p:cNvSpPr txBox="1"/>
          <p:nvPr/>
        </p:nvSpPr>
        <p:spPr>
          <a:xfrm>
            <a:off x="6949440" y="1234440"/>
            <a:ext cx="1554480"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2.5 min</a:t>
            </a:r>
            <a:endParaRPr lang="en-US" sz="3200" dirty="0"/>
          </a:p>
        </p:txBody>
      </p:sp>
      <p:sp>
        <p:nvSpPr>
          <p:cNvPr id="15" name="caption 2.5 min"/>
          <p:cNvSpPr txBox="1"/>
          <p:nvPr/>
        </p:nvSpPr>
        <p:spPr>
          <a:xfrm>
            <a:off x="694944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training on a laptop, no GPU</a:t>
            </a:r>
            <a:endParaRPr lang="en-US" sz="1400" dirty="0"/>
          </a:p>
        </p:txBody>
      </p:sp>
      <p:sp>
        <p:nvSpPr>
          <p:cNvPr id="16" name="note In practice"/>
          <p:cNvSpPr/>
          <p:nvPr/>
        </p:nvSpPr>
        <p:spPr>
          <a:xfrm>
            <a:off x="457200" y="3154680"/>
            <a:ext cx="8229600" cy="1143000"/>
          </a:xfrm>
          <a:prstGeom prst="roundRect">
            <a:avLst>
              <a:gd name="adj" fmla="val 6400"/>
            </a:avLst>
          </a:prstGeom>
          <a:solidFill>
            <a:schemeClr val="bg2"/>
          </a:solidFill>
          <a:ln w="12700">
            <a:solidFill>
              <a:schemeClr val="bg2"/>
            </a:solidFill>
            <a:prstDash val="solid"/>
          </a:ln>
        </p:spPr>
      </p:sp>
      <p:sp>
        <p:nvSpPr>
          <p:cNvPr id="17" name="text In practice"/>
          <p:cNvSpPr txBox="1"/>
          <p:nvPr/>
        </p:nvSpPr>
        <p:spPr>
          <a:xfrm>
            <a:off x="621792" y="3264408"/>
            <a:ext cx="7900416" cy="9235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In practice</a:t>
            </a:r>
            <a:endParaRPr lang="en-US" sz="1500" dirty="0"/>
          </a:p>
          <a:p>
            <a:pPr indent="0" marL="0">
              <a:spcAft>
                <a:spcPts val="400"/>
              </a:spcAft>
              <a:buNone/>
            </a:pPr>
            <a:r>
              <a:rPr lang="en-US" sz="1400" dirty="0">
                <a:solidFill>
                  <a:schemeClr val="tx1"/>
                </a:solidFill>
              </a:rPr>
              <a:t>A kiosk 4 times slower still answers in about 0.2 s. Random forest: 24 ms and 26 MB, but 67.3 %. When the collection changes: retrain the last block and the head, in a few minutes.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bg1"/>
                </a:solidFill>
              </a:rPr>
              <a:t>Our choice: a fine-tuned ResNet18</a:t>
            </a:r>
            <a:endParaRPr lang="en-US" sz="3000" dirty="0"/>
          </a:p>
        </p:txBody>
      </p:sp>
      <p:sp>
        <p:nvSpPr>
          <p:cNvPr id="3" name="journey"/>
          <p:cNvSpPr txBox="1"/>
          <p:nvPr/>
        </p:nvSpPr>
        <p:spPr>
          <a:xfrm>
            <a:off x="457200" y="1051560"/>
            <a:ext cx="8229600" cy="365760"/>
          </a:xfrm>
          <a:prstGeom prst="rect">
            <a:avLst/>
          </a:prstGeom>
          <a:noFill/>
          <a:ln/>
        </p:spPr>
        <p:txBody>
          <a:bodyPr wrap="square" lIns="0" tIns="0" rIns="0" bIns="0" rtlCol="0" anchor="ctr"/>
          <a:lstStyle/>
          <a:p>
            <a:pPr algn="ctr" indent="0" marL="0">
              <a:buNone/>
            </a:pPr>
            <a:r>
              <a:rPr lang="en-US" sz="1400" dirty="0">
                <a:solidFill>
                  <a:srgbClr val="C9CED8"/>
                </a:solidFill>
              </a:rPr>
              <a:t>Both tests, 440 new paintings:  our MLP 41.6 %  →  random forest 65.5 %  →  fine-tuned ResNet18 87.8 %</a:t>
            </a:r>
            <a:endParaRPr lang="en-US" sz="1400" dirty="0"/>
          </a:p>
        </p:txBody>
      </p:sp>
      <p:sp>
        <p:nvSpPr>
          <p:cNvPr id="4" name="column Why"/>
          <p:cNvSpPr/>
          <p:nvPr/>
        </p:nvSpPr>
        <p:spPr>
          <a:xfrm>
            <a:off x="457200" y="1600200"/>
            <a:ext cx="3977640" cy="2880360"/>
          </a:xfrm>
          <a:prstGeom prst="roundRect">
            <a:avLst>
              <a:gd name="adj" fmla="val 2540"/>
            </a:avLst>
          </a:prstGeom>
          <a:solidFill>
            <a:srgbClr val="2A3448"/>
          </a:solidFill>
          <a:ln w="12700">
            <a:solidFill>
              <a:srgbClr val="2A3448"/>
            </a:solidFill>
            <a:prstDash val="solid"/>
          </a:ln>
        </p:spPr>
      </p:sp>
      <p:sp>
        <p:nvSpPr>
          <p:cNvPr id="5" name="head Why"/>
          <p:cNvSpPr txBox="1"/>
          <p:nvPr/>
        </p:nvSpPr>
        <p:spPr>
          <a:xfrm>
            <a:off x="685800" y="1737360"/>
            <a:ext cx="3520440" cy="41148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Why</a:t>
            </a:r>
            <a:endParaRPr lang="en-US" sz="2200" dirty="0"/>
          </a:p>
        </p:txBody>
      </p:sp>
      <p:sp>
        <p:nvSpPr>
          <p:cNvPr id="6" name="items Why"/>
          <p:cNvSpPr txBox="1"/>
          <p:nvPr/>
        </p:nvSpPr>
        <p:spPr>
          <a:xfrm>
            <a:off x="685800" y="2286000"/>
            <a:ext cx="352044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1 visitor in 8 gets a wrong style, against 1 in 3 with the best classical model</a:t>
            </a:r>
            <a:endParaRPr lang="en-US" sz="1600" dirty="0"/>
          </a:p>
          <a:p>
            <a:pPr marL="342900" indent="-342900">
              <a:spcAft>
                <a:spcPts val="800"/>
              </a:spcAft>
              <a:buSzPct val="100000"/>
              <a:buChar char="•"/>
            </a:pPr>
            <a:r>
              <a:rPr lang="en-US" sz="1600" dirty="0">
                <a:solidFill>
                  <a:schemeClr val="bg1"/>
                </a:solidFill>
              </a:rPr>
              <a:t>53 ms per photo on a modest CPU</a:t>
            </a:r>
            <a:endParaRPr lang="en-US" sz="1600" dirty="0"/>
          </a:p>
          <a:p>
            <a:pPr marL="342900" indent="-342900">
              <a:spcAft>
                <a:spcPts val="800"/>
              </a:spcAft>
              <a:buSzPct val="100000"/>
              <a:buChar char="•"/>
            </a:pPr>
            <a:r>
              <a:rPr lang="en-US" sz="1600" dirty="0">
                <a:solidFill>
                  <a:schemeClr val="bg1"/>
                </a:solidFill>
              </a:rPr>
              <a:t>Retrained in a few minutes when the collection changes</a:t>
            </a:r>
            <a:endParaRPr lang="en-US" sz="1600" dirty="0"/>
          </a:p>
        </p:txBody>
      </p:sp>
      <p:sp>
        <p:nvSpPr>
          <p:cNvPr id="7" name="column Before launch"/>
          <p:cNvSpPr/>
          <p:nvPr/>
        </p:nvSpPr>
        <p:spPr>
          <a:xfrm>
            <a:off x="4709160" y="1600200"/>
            <a:ext cx="3977640" cy="2880360"/>
          </a:xfrm>
          <a:prstGeom prst="roundRect">
            <a:avLst>
              <a:gd name="adj" fmla="val 2540"/>
            </a:avLst>
          </a:prstGeom>
          <a:solidFill>
            <a:srgbClr val="2A3448"/>
          </a:solidFill>
          <a:ln w="12700">
            <a:solidFill>
              <a:srgbClr val="2A3448"/>
            </a:solidFill>
            <a:prstDash val="solid"/>
          </a:ln>
        </p:spPr>
      </p:sp>
      <p:sp>
        <p:nvSpPr>
          <p:cNvPr id="8" name="head Before launch"/>
          <p:cNvSpPr txBox="1"/>
          <p:nvPr/>
        </p:nvSpPr>
        <p:spPr>
          <a:xfrm>
            <a:off x="4937760" y="1737360"/>
            <a:ext cx="3520440" cy="411480"/>
          </a:xfrm>
          <a:prstGeom prst="rect">
            <a:avLst/>
          </a:prstGeom>
          <a:noFill/>
          <a:ln/>
        </p:spPr>
        <p:txBody>
          <a:bodyPr wrap="square" lIns="0" tIns="0" rIns="0" bIns="0" rtlCol="0" anchor="ctr"/>
          <a:lstStyle/>
          <a:p>
            <a:pPr indent="0" marL="0">
              <a:buNone/>
            </a:pPr>
            <a:r>
              <a:rPr lang="en-US" sz="2200" b="1" dirty="0">
                <a:solidFill>
                  <a:schemeClr val="accent4"/>
                </a:solidFill>
                <a:latin typeface="Cambria" pitchFamily="34" charset="0"/>
                <a:ea typeface="Cambria" pitchFamily="34" charset="-122"/>
                <a:cs typeface="Cambria" pitchFamily="34" charset="-120"/>
              </a:rPr>
              <a:t>Before launch</a:t>
            </a:r>
            <a:endParaRPr lang="en-US" sz="2200" dirty="0"/>
          </a:p>
        </p:txBody>
      </p:sp>
      <p:sp>
        <p:nvSpPr>
          <p:cNvPr id="9" name="items Before launch"/>
          <p:cNvSpPr txBox="1"/>
          <p:nvPr/>
        </p:nvSpPr>
        <p:spPr>
          <a:xfrm>
            <a:off x="4937760" y="2286000"/>
            <a:ext cx="352044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Test a few hundred real kiosk photos</a:t>
            </a:r>
            <a:endParaRPr lang="en-US" sz="1600" dirty="0"/>
          </a:p>
          <a:p>
            <a:pPr marL="342900" indent="-342900">
              <a:spcAft>
                <a:spcPts val="800"/>
              </a:spcAft>
              <a:buSzPct val="100000"/>
              <a:buChar char="•"/>
            </a:pPr>
            <a:r>
              <a:rPr lang="en-US" sz="1600" dirty="0">
                <a:solidFill>
                  <a:schemeClr val="bg1"/>
                </a:solidFill>
              </a:rPr>
              <a:t>Add more styles and paintings</a:t>
            </a:r>
            <a:endParaRPr lang="en-US" sz="1600" dirty="0"/>
          </a:p>
          <a:p>
            <a:pPr marL="342900" indent="-342900">
              <a:spcAft>
                <a:spcPts val="800"/>
              </a:spcAft>
              <a:buSzPct val="100000"/>
              <a:buChar char="•"/>
            </a:pPr>
            <a:r>
              <a:rPr lang="en-US" sz="1600" dirty="0">
                <a:solidFill>
                  <a:schemeClr val="bg1"/>
                </a:solidFill>
              </a:rPr>
              <a:t>Measure the real kiosk hardware</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classical models, all the scores</a:t>
            </a:r>
            <a:endParaRPr lang="en-US" sz="3000" dirty="0"/>
          </a:p>
        </p:txBody>
      </p:sp>
      <p:sp>
        <p:nvSpPr>
          <p:cNvPr id="3" name="note Why hand-made numbers?"/>
          <p:cNvSpPr/>
          <p:nvPr/>
        </p:nvSpPr>
        <p:spPr>
          <a:xfrm>
            <a:off x="457200" y="1051560"/>
            <a:ext cx="4023360" cy="1600200"/>
          </a:xfrm>
          <a:prstGeom prst="roundRect">
            <a:avLst>
              <a:gd name="adj" fmla="val 4571"/>
            </a:avLst>
          </a:prstGeom>
          <a:solidFill>
            <a:schemeClr val="bg2"/>
          </a:solidFill>
          <a:ln w="12700">
            <a:solidFill>
              <a:schemeClr val="bg2"/>
            </a:solidFill>
            <a:prstDash val="solid"/>
          </a:ln>
        </p:spPr>
      </p:sp>
      <p:sp>
        <p:nvSpPr>
          <p:cNvPr id="4" name="text Why hand-made numbers?"/>
          <p:cNvSpPr txBox="1"/>
          <p:nvPr/>
        </p:nvSpPr>
        <p:spPr>
          <a:xfrm>
            <a:off x="621792" y="11612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hand-made numbers?</a:t>
            </a:r>
            <a:endParaRPr lang="en-US" sz="1500" dirty="0"/>
          </a:p>
          <a:p>
            <a:pPr indent="0" marL="0">
              <a:spcAft>
                <a:spcPts val="400"/>
              </a:spcAft>
              <a:buNone/>
            </a:pPr>
            <a:r>
              <a:rPr lang="en-US" sz="1400" dirty="0">
                <a:solidFill>
                  <a:schemeClr val="tx1"/>
                </a:solidFill>
              </a:rPr>
              <a:t>A question on one pixel means nothing: move the painting a little and it changes. Logistic regression: 32.7 % on pixels, 61.4 % on our 102 numbers.</a:t>
            </a:r>
            <a:endParaRPr lang="en-US" sz="1500" dirty="0"/>
          </a:p>
        </p:txBody>
      </p:sp>
      <p:sp>
        <p:nvSpPr>
          <p:cNvPr id="5" name="note The numbers matter more than the model"/>
          <p:cNvSpPr/>
          <p:nvPr/>
        </p:nvSpPr>
        <p:spPr>
          <a:xfrm>
            <a:off x="4663440" y="1051560"/>
            <a:ext cx="4023360" cy="1600200"/>
          </a:xfrm>
          <a:prstGeom prst="roundRect">
            <a:avLst>
              <a:gd name="adj" fmla="val 4571"/>
            </a:avLst>
          </a:prstGeom>
          <a:solidFill>
            <a:schemeClr val="bg2"/>
          </a:solidFill>
          <a:ln w="12700">
            <a:solidFill>
              <a:schemeClr val="bg2"/>
            </a:solidFill>
            <a:prstDash val="solid"/>
          </a:ln>
        </p:spPr>
      </p:sp>
      <p:sp>
        <p:nvSpPr>
          <p:cNvPr id="6" name="text The numbers matter more than the model"/>
          <p:cNvSpPr txBox="1"/>
          <p:nvPr/>
        </p:nvSpPr>
        <p:spPr>
          <a:xfrm>
            <a:off x="4828032" y="11612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numbers matter more than the model</a:t>
            </a:r>
            <a:endParaRPr lang="en-US" sz="1500" dirty="0"/>
          </a:p>
          <a:p>
            <a:pPr indent="0" marL="0">
              <a:spcAft>
                <a:spcPts val="400"/>
              </a:spcAft>
              <a:buNone/>
            </a:pPr>
            <a:r>
              <a:rPr lang="en-US" sz="1400" dirty="0">
                <a:solidFill>
                  <a:schemeClr val="tx1"/>
                </a:solidFill>
              </a:rPr>
              <a:t>The same logistic regression: 61.4 % on our 102 numbers, 84.5 % on the 512 numbers of the ResNet.</a:t>
            </a:r>
            <a:endParaRPr lang="en-US" sz="1500" dirty="0"/>
          </a:p>
        </p:txBody>
      </p:sp>
      <p:sp>
        <p:nvSpPr>
          <p:cNvPr id="7" name="card 32.7 %"/>
          <p:cNvSpPr/>
          <p:nvPr/>
        </p:nvSpPr>
        <p:spPr>
          <a:xfrm>
            <a:off x="457200" y="2834640"/>
            <a:ext cx="1874520" cy="1463040"/>
          </a:xfrm>
          <a:prstGeom prst="roundRect">
            <a:avLst>
              <a:gd name="adj" fmla="val 5000"/>
            </a:avLst>
          </a:prstGeom>
          <a:solidFill>
            <a:schemeClr val="bg2"/>
          </a:solidFill>
          <a:ln w="12700">
            <a:solidFill>
              <a:schemeClr val="bg2"/>
            </a:solidFill>
            <a:prstDash val="solid"/>
          </a:ln>
        </p:spPr>
      </p:sp>
      <p:sp>
        <p:nvSpPr>
          <p:cNvPr id="8" name="value 32.7 %"/>
          <p:cNvSpPr txBox="1"/>
          <p:nvPr/>
        </p:nvSpPr>
        <p:spPr>
          <a:xfrm>
            <a:off x="640080" y="2971800"/>
            <a:ext cx="1508760" cy="7315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32.7 %</a:t>
            </a:r>
            <a:endParaRPr lang="en-US" sz="3000" dirty="0"/>
          </a:p>
        </p:txBody>
      </p:sp>
      <p:sp>
        <p:nvSpPr>
          <p:cNvPr id="9" name="caption 32.7 %"/>
          <p:cNvSpPr txBox="1"/>
          <p:nvPr/>
        </p:nvSpPr>
        <p:spPr>
          <a:xfrm>
            <a:off x="640080"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Logistic regression on pixels</a:t>
            </a:r>
            <a:endParaRPr lang="en-US" sz="1200" dirty="0"/>
          </a:p>
        </p:txBody>
      </p:sp>
      <p:sp>
        <p:nvSpPr>
          <p:cNvPr id="10" name="card 61.4 %"/>
          <p:cNvSpPr/>
          <p:nvPr/>
        </p:nvSpPr>
        <p:spPr>
          <a:xfrm>
            <a:off x="2575590" y="2834640"/>
            <a:ext cx="1874520" cy="1463040"/>
          </a:xfrm>
          <a:prstGeom prst="roundRect">
            <a:avLst>
              <a:gd name="adj" fmla="val 5000"/>
            </a:avLst>
          </a:prstGeom>
          <a:solidFill>
            <a:schemeClr val="bg2"/>
          </a:solidFill>
          <a:ln w="12700">
            <a:solidFill>
              <a:schemeClr val="bg2"/>
            </a:solidFill>
            <a:prstDash val="solid"/>
          </a:ln>
        </p:spPr>
      </p:sp>
      <p:sp>
        <p:nvSpPr>
          <p:cNvPr id="11" name="value 61.4 %"/>
          <p:cNvSpPr txBox="1"/>
          <p:nvPr/>
        </p:nvSpPr>
        <p:spPr>
          <a:xfrm>
            <a:off x="2758470" y="2971800"/>
            <a:ext cx="1508760" cy="7315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61.4 %</a:t>
            </a:r>
            <a:endParaRPr lang="en-US" sz="3000" dirty="0"/>
          </a:p>
        </p:txBody>
      </p:sp>
      <p:sp>
        <p:nvSpPr>
          <p:cNvPr id="12" name="caption 61.4 %"/>
          <p:cNvSpPr txBox="1"/>
          <p:nvPr/>
        </p:nvSpPr>
        <p:spPr>
          <a:xfrm>
            <a:off x="2758470"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Logistic regression on the 102 numbers</a:t>
            </a:r>
            <a:endParaRPr lang="en-US" sz="1200" dirty="0"/>
          </a:p>
        </p:txBody>
      </p:sp>
      <p:sp>
        <p:nvSpPr>
          <p:cNvPr id="13" name="card 67.3 %"/>
          <p:cNvSpPr/>
          <p:nvPr/>
        </p:nvSpPr>
        <p:spPr>
          <a:xfrm>
            <a:off x="4693981" y="2834640"/>
            <a:ext cx="1874520" cy="1463040"/>
          </a:xfrm>
          <a:prstGeom prst="roundRect">
            <a:avLst>
              <a:gd name="adj" fmla="val 5000"/>
            </a:avLst>
          </a:prstGeom>
          <a:solidFill>
            <a:schemeClr val="bg2"/>
          </a:solidFill>
          <a:ln w="12700">
            <a:solidFill>
              <a:schemeClr val="bg2"/>
            </a:solidFill>
            <a:prstDash val="solid"/>
          </a:ln>
        </p:spPr>
      </p:sp>
      <p:sp>
        <p:nvSpPr>
          <p:cNvPr id="14" name="value 67.3 %"/>
          <p:cNvSpPr txBox="1"/>
          <p:nvPr/>
        </p:nvSpPr>
        <p:spPr>
          <a:xfrm>
            <a:off x="4876861" y="2971800"/>
            <a:ext cx="1508760" cy="7315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67.3 %</a:t>
            </a:r>
            <a:endParaRPr lang="en-US" sz="3000" dirty="0"/>
          </a:p>
        </p:txBody>
      </p:sp>
      <p:sp>
        <p:nvSpPr>
          <p:cNvPr id="15" name="caption 67.3 %"/>
          <p:cNvSpPr txBox="1"/>
          <p:nvPr/>
        </p:nvSpPr>
        <p:spPr>
          <a:xfrm>
            <a:off x="4876861"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Random forest on the 102 numbers</a:t>
            </a:r>
            <a:endParaRPr lang="en-US" sz="1200" dirty="0"/>
          </a:p>
        </p:txBody>
      </p:sp>
      <p:sp>
        <p:nvSpPr>
          <p:cNvPr id="16" name="card 87.9 %"/>
          <p:cNvSpPr/>
          <p:nvPr/>
        </p:nvSpPr>
        <p:spPr>
          <a:xfrm>
            <a:off x="6812371" y="2834640"/>
            <a:ext cx="1874520" cy="1463040"/>
          </a:xfrm>
          <a:prstGeom prst="roundRect">
            <a:avLst>
              <a:gd name="adj" fmla="val 5000"/>
            </a:avLst>
          </a:prstGeom>
          <a:solidFill>
            <a:schemeClr val="accent1"/>
          </a:solidFill>
          <a:ln w="12700">
            <a:solidFill>
              <a:schemeClr val="accent1"/>
            </a:solidFill>
            <a:prstDash val="solid"/>
          </a:ln>
        </p:spPr>
      </p:sp>
      <p:sp>
        <p:nvSpPr>
          <p:cNvPr id="17" name="value 87.9 %"/>
          <p:cNvSpPr txBox="1"/>
          <p:nvPr/>
        </p:nvSpPr>
        <p:spPr>
          <a:xfrm>
            <a:off x="6995251" y="2971800"/>
            <a:ext cx="1508760" cy="73152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87.9 %</a:t>
            </a:r>
            <a:endParaRPr lang="en-US" sz="3000" dirty="0"/>
          </a:p>
        </p:txBody>
      </p:sp>
      <p:sp>
        <p:nvSpPr>
          <p:cNvPr id="18" name="caption 87.9 %"/>
          <p:cNvSpPr txBox="1"/>
          <p:nvPr/>
        </p:nvSpPr>
        <p:spPr>
          <a:xfrm>
            <a:off x="6995251" y="3749040"/>
            <a:ext cx="1508760" cy="411480"/>
          </a:xfrm>
          <a:prstGeom prst="rect">
            <a:avLst/>
          </a:prstGeom>
          <a:noFill/>
          <a:ln/>
        </p:spPr>
        <p:txBody>
          <a:bodyPr wrap="square" lIns="0" tIns="0" rIns="0" bIns="0" rtlCol="0" anchor="t"/>
          <a:lstStyle/>
          <a:p>
            <a:pPr indent="0" marL="0">
              <a:buNone/>
            </a:pPr>
            <a:r>
              <a:rPr lang="en-US" sz="1200" dirty="0">
                <a:solidFill>
                  <a:schemeClr val="bg1"/>
                </a:solidFill>
              </a:rPr>
              <a:t>ResNet18 fine-tuned (our choice)</a:t>
            </a:r>
            <a:endParaRPr lang="en-US" sz="1200" dirty="0"/>
          </a:p>
        </p:txBody>
      </p:sp>
      <p:sp>
        <p:nvSpPr>
          <p:cNvPr id="19" name="forest caption"/>
          <p:cNvSpPr txBox="1"/>
          <p:nvPr/>
        </p:nvSpPr>
        <p:spPr>
          <a:xfrm>
            <a:off x="457200" y="4370832"/>
            <a:ext cx="8229600" cy="320040"/>
          </a:xfrm>
          <a:prstGeom prst="rect">
            <a:avLst/>
          </a:prstGeom>
          <a:noFill/>
          <a:ln/>
        </p:spPr>
        <p:txBody>
          <a:bodyPr wrap="square" lIns="0" tIns="0" rIns="0" bIns="0" rtlCol="0" anchor="t"/>
          <a:lstStyle/>
          <a:p>
            <a:pPr indent="0" marL="0">
              <a:buNone/>
            </a:pPr>
            <a:r>
              <a:rPr lang="en-US" sz="1200" dirty="0">
                <a:solidFill>
                  <a:srgbClr val="5F6473"/>
                </a:solidFill>
              </a:rPr>
              <a:t>Test accuracy, 220 paintings. Random forest: best of 4 settings on validation (63.5 %), training 1 s, 24 ms per photo, 26 MB.</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seeing the painter inflates the score</a:t>
            </a:r>
            <a:endParaRPr lang="en-US" sz="3000" dirty="0"/>
          </a:p>
        </p:txBody>
      </p:sp>
      <p:graphicFrame>
        <p:nvGraphicFramePr>
          <p:cNvPr id="3" name="chart leakage" descr=""/>
          <p:cNvGraphicFramePr/>
          <p:nvPr/>
        </p:nvGraphicFramePr>
        <p:xfrm>
          <a:off x="365760" y="100584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4" name="card +11.4"/>
          <p:cNvSpPr/>
          <p:nvPr/>
        </p:nvSpPr>
        <p:spPr>
          <a:xfrm>
            <a:off x="5760720" y="1051560"/>
            <a:ext cx="2926080" cy="1600200"/>
          </a:xfrm>
          <a:prstGeom prst="roundRect">
            <a:avLst>
              <a:gd name="adj" fmla="val 4571"/>
            </a:avLst>
          </a:prstGeom>
          <a:solidFill>
            <a:schemeClr val="accent1"/>
          </a:solidFill>
          <a:ln w="12700">
            <a:solidFill>
              <a:schemeClr val="accent1"/>
            </a:solidFill>
            <a:prstDash val="solid"/>
          </a:ln>
        </p:spPr>
      </p:sp>
      <p:sp>
        <p:nvSpPr>
          <p:cNvPr id="5" name="value +11.4"/>
          <p:cNvSpPr txBox="1"/>
          <p:nvPr/>
        </p:nvSpPr>
        <p:spPr>
          <a:xfrm>
            <a:off x="5943600" y="1188720"/>
            <a:ext cx="256032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+11.4</a:t>
            </a:r>
            <a:endParaRPr lang="en-US" sz="4000" dirty="0"/>
          </a:p>
        </p:txBody>
      </p:sp>
      <p:sp>
        <p:nvSpPr>
          <p:cNvPr id="6" name="caption +11.4"/>
          <p:cNvSpPr txBox="1"/>
          <p:nvPr/>
        </p:nvSpPr>
        <p:spPr>
          <a:xfrm>
            <a:off x="5943600" y="1965960"/>
            <a:ext cx="2560320" cy="548640"/>
          </a:xfrm>
          <a:prstGeom prst="rect">
            <a:avLst/>
          </a:prstGeom>
          <a:noFill/>
          <a:ln/>
        </p:spPr>
        <p:txBody>
          <a:bodyPr wrap="square" lIns="0" tIns="0" rIns="0" bIns="0" rtlCol="0" anchor="t"/>
          <a:lstStyle/>
          <a:p>
            <a:pPr indent="0" marL="0">
              <a:buNone/>
            </a:pPr>
            <a:r>
              <a:rPr lang="en-US" sz="1400" dirty="0">
                <a:solidFill>
                  <a:schemeClr val="bg1"/>
                </a:solidFill>
              </a:rPr>
              <a:t>points when the painter was seen in training</a:t>
            </a:r>
            <a:endParaRPr lang="en-US" sz="1400" dirty="0"/>
          </a:p>
        </p:txBody>
      </p:sp>
      <p:sp>
        <p:nvSpPr>
          <p:cNvPr id="7" name="leakage bullets"/>
          <p:cNvSpPr txBox="1"/>
          <p:nvPr/>
        </p:nvSpPr>
        <p:spPr>
          <a:xfrm>
            <a:off x="5760720" y="2834640"/>
            <a:ext cx="2926080" cy="1783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Same images, same model: 5-fold cross-validation on train + validation</a:t>
            </a:r>
            <a:endParaRPr lang="en-US" sz="1400" dirty="0"/>
          </a:p>
          <a:p>
            <a:pPr marL="342900" indent="-342900">
              <a:spcAft>
                <a:spcPts val="800"/>
              </a:spcAft>
              <a:buSzPct val="100000"/>
              <a:buChar char="•"/>
            </a:pPr>
            <a:r>
              <a:rPr lang="en-US" sz="1400" dirty="0">
                <a:solidFill>
                  <a:schemeClr val="tx1"/>
                </a:solidFill>
              </a:rPr>
              <a:t>Control group (unknown painters): no change</a:t>
            </a:r>
            <a:endParaRPr lang="en-US" sz="1400" dirty="0"/>
          </a:p>
          <a:p>
            <a:pPr marL="342900" indent="-342900">
              <a:spcAft>
                <a:spcPts val="800"/>
              </a:spcAft>
              <a:buSzPct val="100000"/>
              <a:buChar char="•"/>
            </a:pPr>
            <a:r>
              <a:rPr lang="en-US" sz="1400" dirty="0">
                <a:solidFill>
                  <a:schemeClr val="tx1"/>
                </a:solidFill>
              </a:rPr>
              <a:t>So we split by painter: a random split would flatter the score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validation and the two tests</a:t>
            </a:r>
            <a:endParaRPr lang="en-US" sz="3000" dirty="0"/>
          </a:p>
        </p:txBody>
      </p:sp>
      <p:graphicFrame>
        <p:nvGraphicFramePr>
          <p:cNvPr id="16" name="disagreement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017520"/>
                <a:gridCol w="1325880"/>
                <a:gridCol w="1280160"/>
                <a:gridCol w="1280160"/>
                <a:gridCol w="1325880"/>
              </a:tblGrid>
              <a:tr h="411480">
                <a:tc>
                  <a:txBody>
                    <a:bodyPr/>
                    <a:lstStyle/>
                    <a:p>
                      <a:pPr indent="0" marL="0">
                        <a:buNone/>
                      </a:pPr>
                      <a:r>
                        <a:rPr lang="en-US" sz="1400" b="1" dirty="0">
                          <a:solidFill>
                            <a:schemeClr val="bg1"/>
                          </a:solidFill>
                        </a:rPr>
                        <a:t>Model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Validation (219)</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1 (220)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2 (220)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Both tests (440)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02920">
                <a:tc>
                  <a:txBody>
                    <a:bodyPr/>
                    <a:lstStyle/>
                    <a:p>
                      <a:pPr indent="0" marL="0">
                        <a:buNone/>
                      </a:pPr>
                      <a:r>
                        <a:rPr lang="en-US" sz="1400" dirty="0">
                          <a:solidFill>
                            <a:schemeClr val="tx1"/>
                          </a:solidFill>
                        </a:rPr>
                        <a:t>ResNet18 frozen + linear head</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88.1 %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83.0 %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84.1 %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83.6 %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02920">
                <a:tc>
                  <a:txBody>
                    <a:bodyPr/>
                    <a:lstStyle/>
                    <a:p>
                      <a:pPr indent="0" marL="0">
                        <a:buNone/>
                      </a:pPr>
                      <a:r>
                        <a:rPr lang="en-US" sz="1400" dirty="0">
                          <a:solidFill>
                            <a:schemeClr val="tx1"/>
                          </a:solidFill>
                        </a:rPr>
                        <a:t>ResNet18, layer4 fine-tuned (our choice)</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85.4 %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87.9 %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87.7 %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87.8 %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disagreement bullets"/>
          <p:cNvSpPr txBox="1"/>
          <p:nvPr/>
        </p:nvSpPr>
        <p:spPr>
          <a:xfrm>
            <a:off x="457200" y="2697480"/>
            <a:ext cx="822960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Validation favoured frozen; two independent tests favour fine-tuning: +5.0 points on 440 paintings (interval 2.0 to 8.2)</a:t>
            </a:r>
            <a:endParaRPr lang="en-US" sz="1500" dirty="0"/>
          </a:p>
          <a:p>
            <a:pPr marL="342900" indent="-342900">
              <a:spcAft>
                <a:spcPts val="800"/>
              </a:spcAft>
              <a:buSzPct val="100000"/>
              <a:buChar char="•"/>
            </a:pPr>
            <a:r>
              <a:rPr lang="en-US" sz="1500" dirty="0">
                <a:solidFill>
                  <a:schemeClr val="tx1"/>
                </a:solidFill>
              </a:rPr>
              <a:t>219 validation paintings were too few to separate them: next time, choose with cross-validation on train + validation</a:t>
            </a:r>
            <a:endParaRPr lang="en-US" sz="1500" dirty="0"/>
          </a:p>
          <a:p>
            <a:pPr marL="342900" indent="-342900">
              <a:spcAft>
                <a:spcPts val="800"/>
              </a:spcAft>
              <a:buSzPct val="100000"/>
              <a:buChar char="•"/>
            </a:pPr>
            <a:r>
              <a:rPr lang="en-US" sz="1500" dirty="0">
                <a:solidFill>
                  <a:schemeClr val="tx1"/>
                </a:solidFill>
              </a:rPr>
              <a:t>The tests helped this choice, so the fine-tuned scores are slightly optimistic; a third set of new paintings would give the clean score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why you can trust the numbers</a:t>
            </a:r>
            <a:endParaRPr lang="en-US" sz="3000" dirty="0"/>
          </a:p>
        </p:txBody>
      </p:sp>
      <p:sp>
        <p:nvSpPr>
          <p:cNvPr id="3" name="note Reproducible"/>
          <p:cNvSpPr/>
          <p:nvPr/>
        </p:nvSpPr>
        <p:spPr>
          <a:xfrm>
            <a:off x="457200" y="1097280"/>
            <a:ext cx="4023360" cy="1600200"/>
          </a:xfrm>
          <a:prstGeom prst="roundRect">
            <a:avLst>
              <a:gd name="adj" fmla="val 4571"/>
            </a:avLst>
          </a:prstGeom>
          <a:solidFill>
            <a:schemeClr val="bg2"/>
          </a:solidFill>
          <a:ln w="12700">
            <a:solidFill>
              <a:schemeClr val="bg2"/>
            </a:solidFill>
            <a:prstDash val="solid"/>
          </a:ln>
        </p:spPr>
      </p:sp>
      <p:sp>
        <p:nvSpPr>
          <p:cNvPr id="4" name="text Reproducible"/>
          <p:cNvSpPr txBox="1"/>
          <p:nvPr/>
        </p:nvSpPr>
        <p:spPr>
          <a:xfrm>
            <a:off x="62179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Reproducible</a:t>
            </a:r>
            <a:endParaRPr lang="en-US" sz="1500" dirty="0"/>
          </a:p>
          <a:p>
            <a:pPr indent="0" marL="0">
              <a:spcAft>
                <a:spcPts val="400"/>
              </a:spcAft>
              <a:buNone/>
            </a:pPr>
            <a:r>
              <a:rPr lang="en-US" sz="1400" dirty="0">
                <a:solidFill>
                  <a:schemeClr val="tx1"/>
                </a:solidFill>
              </a:rPr>
              <a:t>Fixed seeds and a pinned dataset revision. Notebooks 06 and 08 train the models again and get the same scores, to 4 decimals.</a:t>
            </a:r>
            <a:endParaRPr lang="en-US" sz="1500" dirty="0"/>
          </a:p>
        </p:txBody>
      </p:sp>
      <p:sp>
        <p:nvSpPr>
          <p:cNvPr id="5" name="note Tested"/>
          <p:cNvSpPr/>
          <p:nvPr/>
        </p:nvSpPr>
        <p:spPr>
          <a:xfrm>
            <a:off x="4663440" y="1097280"/>
            <a:ext cx="4023360" cy="1600200"/>
          </a:xfrm>
          <a:prstGeom prst="roundRect">
            <a:avLst>
              <a:gd name="adj" fmla="val 4571"/>
            </a:avLst>
          </a:prstGeom>
          <a:solidFill>
            <a:schemeClr val="bg2"/>
          </a:solidFill>
          <a:ln w="12700">
            <a:solidFill>
              <a:schemeClr val="bg2"/>
            </a:solidFill>
            <a:prstDash val="solid"/>
          </a:ln>
        </p:spPr>
      </p:sp>
      <p:sp>
        <p:nvSpPr>
          <p:cNvPr id="6" name="text Tested"/>
          <p:cNvSpPr txBox="1"/>
          <p:nvPr/>
        </p:nvSpPr>
        <p:spPr>
          <a:xfrm>
            <a:off x="482803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Tested</a:t>
            </a:r>
            <a:endParaRPr lang="en-US" sz="1500" dirty="0"/>
          </a:p>
          <a:p>
            <a:pPr indent="0" marL="0">
              <a:spcAft>
                <a:spcPts val="400"/>
              </a:spcAft>
              <a:buNone/>
            </a:pPr>
            <a:r>
              <a:rPr lang="en-US" sz="1400" dirty="0">
                <a:solidFill>
                  <a:schemeClr val="tx1"/>
                </a:solidFill>
              </a:rPr>
              <a:t>33 automatic tests: split without painter leakage, parameter counts, training loop, metrics, benchmark helpers.</a:t>
            </a:r>
            <a:endParaRPr lang="en-US" sz="1500" dirty="0"/>
          </a:p>
        </p:txBody>
      </p:sp>
      <p:sp>
        <p:nvSpPr>
          <p:cNvPr id="7" name="note Versioned"/>
          <p:cNvSpPr/>
          <p:nvPr/>
        </p:nvSpPr>
        <p:spPr>
          <a:xfrm>
            <a:off x="457200" y="2880360"/>
            <a:ext cx="4023360" cy="1600200"/>
          </a:xfrm>
          <a:prstGeom prst="roundRect">
            <a:avLst>
              <a:gd name="adj" fmla="val 4571"/>
            </a:avLst>
          </a:prstGeom>
          <a:solidFill>
            <a:schemeClr val="bg2"/>
          </a:solidFill>
          <a:ln w="12700">
            <a:solidFill>
              <a:schemeClr val="bg2"/>
            </a:solidFill>
            <a:prstDash val="solid"/>
          </a:ln>
        </p:spPr>
      </p:sp>
      <p:sp>
        <p:nvSpPr>
          <p:cNvPr id="8" name="text Versioned"/>
          <p:cNvSpPr txBox="1"/>
          <p:nvPr/>
        </p:nvSpPr>
        <p:spPr>
          <a:xfrm>
            <a:off x="62179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Versioned</a:t>
            </a:r>
            <a:endParaRPr lang="en-US" sz="1500" dirty="0"/>
          </a:p>
          <a:p>
            <a:pPr indent="0" marL="0">
              <a:spcAft>
                <a:spcPts val="400"/>
              </a:spcAft>
              <a:buNone/>
            </a:pPr>
            <a:r>
              <a:rPr lang="en-US" sz="1400" dirty="0">
                <a:solidFill>
                  <a:schemeClr val="tx1"/>
                </a:solidFill>
              </a:rPr>
              <a:t>Small commits, one step at a time, on GitHub; milestone tags m1, m2, m3 and v1.0. Every number is saved in reports/results/*.json.</a:t>
            </a:r>
            <a:endParaRPr lang="en-US" sz="1500" dirty="0"/>
          </a:p>
        </p:txBody>
      </p:sp>
      <p:sp>
        <p:nvSpPr>
          <p:cNvPr id="9" name="note Honest"/>
          <p:cNvSpPr/>
          <p:nvPr/>
        </p:nvSpPr>
        <p:spPr>
          <a:xfrm>
            <a:off x="4663440" y="2880360"/>
            <a:ext cx="4023360" cy="1600200"/>
          </a:xfrm>
          <a:prstGeom prst="roundRect">
            <a:avLst>
              <a:gd name="adj" fmla="val 4571"/>
            </a:avLst>
          </a:prstGeom>
          <a:solidFill>
            <a:schemeClr val="bg2"/>
          </a:solidFill>
          <a:ln w="12700">
            <a:solidFill>
              <a:schemeClr val="bg2"/>
            </a:solidFill>
            <a:prstDash val="solid"/>
          </a:ln>
        </p:spPr>
      </p:sp>
      <p:sp>
        <p:nvSpPr>
          <p:cNvPr id="10" name="text Honest"/>
          <p:cNvSpPr txBox="1"/>
          <p:nvPr/>
        </p:nvSpPr>
        <p:spPr>
          <a:xfrm>
            <a:off x="482803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Honest</a:t>
            </a:r>
            <a:endParaRPr lang="en-US" sz="1500" dirty="0"/>
          </a:p>
          <a:p>
            <a:pPr indent="0" marL="0">
              <a:spcAft>
                <a:spcPts val="400"/>
              </a:spcAft>
              <a:buNone/>
            </a:pPr>
            <a:r>
              <a:rPr lang="en-US" sz="1400" dirty="0">
                <a:solidFill>
                  <a:schemeClr val="tx1"/>
                </a:solidFill>
              </a:rPr>
              <a:t>Two test sets, each used once; 3 seeds for noisy runs; 95 % bootstrap intervals; no image of the paintings in Git (licence).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the training recipes</a:t>
            </a:r>
            <a:endParaRPr lang="en-US" sz="3000" dirty="0"/>
          </a:p>
        </p:txBody>
      </p:sp>
      <p:graphicFrame>
        <p:nvGraphicFramePr>
          <p:cNvPr id="18" name="recipe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1737360"/>
                <a:gridCol w="1280160"/>
                <a:gridCol w="3474720"/>
              </a:tblGrid>
              <a:tr h="0">
                <a:tc>
                  <a:txBody>
                    <a:bodyPr/>
                    <a:lstStyle/>
                    <a:p>
                      <a:pPr indent="0" marL="0">
                        <a:buNone/>
                      </a:pPr>
                      <a:r>
                        <a:rPr lang="en-US" sz="1200" b="1" dirty="0">
                          <a:solidFill>
                            <a:schemeClr val="bg1"/>
                          </a:solidFill>
                        </a:rPr>
                        <a:t>Model</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Input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Trained weights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Settings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Regularised MLP</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32 x 32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1.7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512-256 hidden, batch norm, dropout 0.5 (0.2 input), AdamW lr 0.0001, wd 5, flips, cosine, 60 epochs, early stopping 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Linear probe</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 ResNet18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2 565</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AdamW lr 0.001, wd 0.01, early stopping 20</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Fine-tuned ResNet18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224 x 224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8.4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layer4 lr 0.0001, head lr 0.001, wd 0.01, random crop + flip, cosine, 10 epochs, early stopping 3</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Random forest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102 hand-made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500 trees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chosen on validation: min 1 sample per leaf, sqrt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four broken runs, four signatures</a:t>
            </a:r>
            <a:endParaRPr lang="en-US" sz="3000" dirty="0"/>
          </a:p>
        </p:txBody>
      </p:sp>
      <p:graphicFrame>
        <p:nvGraphicFramePr>
          <p:cNvPr id="19" name="doctor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2514600"/>
                <a:gridCol w="2240280"/>
                <a:gridCol w="1783080"/>
              </a:tblGrid>
              <a:tr h="384048">
                <a:tc>
                  <a:txBody>
                    <a:bodyPr/>
                    <a:lstStyle/>
                    <a:p>
                      <a:pPr indent="0" marL="0">
                        <a:buNone/>
                      </a:pPr>
                      <a:r>
                        <a:rPr lang="en-US" sz="1300" b="1" dirty="0">
                          <a:solidFill>
                            <a:schemeClr val="bg1"/>
                          </a:solidFill>
                        </a:rPr>
                        <a:t>Bug we caused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Symptom we measured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Cause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Cure → result</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66928">
                <a:tc>
                  <a:txBody>
                    <a:bodyPr/>
                    <a:lstStyle/>
                    <a:p>
                      <a:pPr indent="0" marL="0">
                        <a:buNone/>
                      </a:pPr>
                      <a:r>
                        <a:rPr lang="en-US" sz="1300" dirty="0">
                          <a:solidFill>
                            <a:schemeClr val="tx1"/>
                          </a:solidFill>
                        </a:rPr>
                        <a:t>Learning rate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 99.6 % of neurons dead in layer 2</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steps push every ReLU below 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lr 0.0001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zero_grad() forgotten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jumps to 4.9, then one class only</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gradients pile up: x26 in 2 epochs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zero_grad() → 41.1 %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Raw pixels (0 to 255)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first loss 16.3 instead of 1.6</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inputs dozens of times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standardise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8 sigmoid layers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vanishing gradient: layer 1 gets 6e-7 of layer 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ReLU + He init → 39.3 %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note Lesson"/>
          <p:cNvSpPr/>
          <p:nvPr/>
        </p:nvSpPr>
        <p:spPr>
          <a:xfrm>
            <a:off x="457200" y="3794760"/>
            <a:ext cx="8229600" cy="822960"/>
          </a:xfrm>
          <a:prstGeom prst="roundRect">
            <a:avLst>
              <a:gd name="adj" fmla="val 8889"/>
            </a:avLst>
          </a:prstGeom>
          <a:solidFill>
            <a:schemeClr val="bg2"/>
          </a:solidFill>
          <a:ln w="12700">
            <a:solidFill>
              <a:schemeClr val="bg2"/>
            </a:solidFill>
            <a:prstDash val="solid"/>
          </a:ln>
        </p:spPr>
      </p:sp>
      <p:sp>
        <p:nvSpPr>
          <p:cNvPr id="5" name="text Lesson"/>
          <p:cNvSpPr txBox="1"/>
          <p:nvPr/>
        </p:nvSpPr>
        <p:spPr>
          <a:xfrm>
            <a:off x="621792" y="3904488"/>
            <a:ext cx="7900416" cy="6035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Lesson</a:t>
            </a:r>
            <a:endParaRPr lang="en-US" sz="1400" dirty="0"/>
          </a:p>
          <a:p>
            <a:pPr indent="0" marL="0">
              <a:spcAft>
                <a:spcPts val="400"/>
              </a:spcAft>
              <a:buNone/>
            </a:pPr>
            <a:r>
              <a:rPr lang="en-US" sz="1400" dirty="0">
                <a:solidFill>
                  <a:schemeClr val="tx1"/>
                </a:solidFill>
              </a:rPr>
              <a:t>Same symptom (loss stuck at ln 5), two causes: only the monitor (dead neurons, gradient per layer) tells them apart.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where the chosen model fails</a:t>
            </a:r>
            <a:endParaRPr lang="en-US" sz="3000" dirty="0"/>
          </a:p>
        </p:txBody>
      </p:sp>
      <p:graphicFrame>
        <p:nvGraphicFramePr>
          <p:cNvPr id="3" name="chart per class"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per class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Easiest: Ukiyo-e and Baroque</a:t>
            </a:r>
            <a:endParaRPr lang="en-US" sz="1400" dirty="0"/>
          </a:p>
          <a:p>
            <a:pPr marL="342900" indent="-342900">
              <a:spcAft>
                <a:spcPts val="800"/>
              </a:spcAft>
              <a:buSzPct val="100000"/>
              <a:buChar char="•"/>
            </a:pPr>
            <a:r>
              <a:rPr lang="en-US" sz="1400" dirty="0">
                <a:solidFill>
                  <a:schemeClr val="tx1"/>
                </a:solidFill>
              </a:rPr>
              <a:t>Hardest: Pop Art (82 %) and Impressionism</a:t>
            </a:r>
            <a:endParaRPr lang="en-US" sz="1400" dirty="0"/>
          </a:p>
          <a:p>
            <a:pPr marL="342900" indent="-342900">
              <a:spcAft>
                <a:spcPts val="800"/>
              </a:spcAft>
              <a:buSzPct val="100000"/>
              <a:buChar char="•"/>
            </a:pPr>
            <a:r>
              <a:rPr lang="en-US" sz="1400" dirty="0">
                <a:solidFill>
                  <a:schemeClr val="tx1"/>
                </a:solidFill>
              </a:rPr>
              <a:t>On validation, Cubism and Pop Art were the pair most often confused: flat strong colours, hard edges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what about transformers (BERT)?</a:t>
            </a:r>
            <a:endParaRPr lang="en-US" sz="3000" dirty="0"/>
          </a:p>
        </p:txBody>
      </p:sp>
      <p:graphicFrame>
        <p:nvGraphicFramePr>
          <p:cNvPr id="21" name="transformer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931920"/>
                <a:gridCol w="1280160"/>
                <a:gridCol w="1828800"/>
                <a:gridCol w="1188720"/>
              </a:tblGrid>
              <a:tr h="0">
                <a:tc>
                  <a:txBody>
                    <a:bodyPr/>
                    <a:lstStyle/>
                    <a:p>
                      <a:pPr indent="0" marL="0">
                        <a:buNone/>
                      </a:pPr>
                      <a:r>
                        <a:rPr lang="en-US" sz="1300" b="1" dirty="0">
                          <a:solidFill>
                            <a:schemeClr val="bg1"/>
                          </a:solidFill>
                        </a:rPr>
                        <a:t>Frozen network (validation, 219)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Validation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Time per photo vs ResNet18</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Parameters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ResNet18 + linear head (our choice)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1.0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ViT-B/16 (BERT on image patches)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9.1</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86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zero-shot (no training at all)</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89.0 %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94.7 %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transformers bullets"/>
          <p:cNvSpPr txBox="1"/>
          <p:nvPr/>
        </p:nvSpPr>
        <p:spPr>
          <a:xfrm>
            <a:off x="457200" y="3246120"/>
            <a:ext cx="8229600" cy="1417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BERT itself reads words, not pixels; its image cousins are ViT and CLIP</a:t>
            </a:r>
            <a:endParaRPr lang="en-US" sz="1400" dirty="0"/>
          </a:p>
          <a:p>
            <a:pPr marL="342900" indent="-342900">
              <a:spcAft>
                <a:spcPts val="800"/>
              </a:spcAft>
              <a:buSzPct val="100000"/>
              <a:buChar char="•"/>
            </a:pPr>
            <a:r>
              <a:rPr lang="en-US" sz="1400" dirty="0">
                <a:solidFill>
                  <a:schemeClr val="tx1"/>
                </a:solidFill>
              </a:rPr>
              <a:t>CLIP is the most accurate (+6.8 points over ResNet18, paired interval 2.3 to 11.4) but 2.7 times slower; trained on Internet images, it has probably seen WikiArt</a:t>
            </a:r>
            <a:endParaRPr lang="en-US" sz="1400" dirty="0"/>
          </a:p>
          <a:p>
            <a:pPr marL="342900" indent="-342900">
              <a:spcAft>
                <a:spcPts val="800"/>
              </a:spcAft>
              <a:buSzPct val="100000"/>
              <a:buChar char="•"/>
            </a:pPr>
            <a:r>
              <a:rPr lang="en-US" sz="1400" dirty="0">
                <a:solidFill>
                  <a:schemeClr val="tx1"/>
                </a:solidFill>
              </a:rPr>
              <a:t>Validation only, the test stays closed; CLIP is our first next step, and it can also answer questions in words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inside ResNet18 + our linear head</a:t>
            </a:r>
            <a:endParaRPr lang="en-US" sz="3000" dirty="0"/>
          </a:p>
        </p:txBody>
      </p:sp>
      <p:sp>
        <p:nvSpPr>
          <p:cNvPr id="3" name="stage 1 painting"/>
          <p:cNvSpPr/>
          <p:nvPr/>
        </p:nvSpPr>
        <p:spPr>
          <a:xfrm>
            <a:off x="466344" y="1051560"/>
            <a:ext cx="749808" cy="1645920"/>
          </a:xfrm>
          <a:prstGeom prst="roundRect">
            <a:avLst>
              <a:gd name="adj" fmla="val 7317"/>
            </a:avLst>
          </a:prstGeom>
          <a:solidFill>
            <a:schemeClr val="bg2"/>
          </a:solidFill>
          <a:ln w="12700">
            <a:solidFill>
              <a:schemeClr val="bg2"/>
            </a:solidFill>
            <a:prstDash val="solid"/>
          </a:ln>
        </p:spPr>
      </p:sp>
      <p:sp>
        <p:nvSpPr>
          <p:cNvPr id="4" name="stage name 1 painting"/>
          <p:cNvSpPr txBox="1"/>
          <p:nvPr/>
        </p:nvSpPr>
        <p:spPr>
          <a:xfrm>
            <a:off x="466344" y="1051560"/>
            <a:ext cx="749808" cy="1645920"/>
          </a:xfrm>
          <a:prstGeom prst="rect">
            <a:avLst/>
          </a:prstGeom>
          <a:noFill/>
          <a:ln/>
        </p:spPr>
        <p:txBody>
          <a:bodyPr wrap="square" lIns="254" tIns="254" rIns="254" bIns="254" rtlCol="0" anchor="ctr"/>
          <a:lstStyle/>
          <a:p>
            <a:pPr algn="ctr" indent="0" marL="0">
              <a:buNone/>
            </a:pPr>
            <a:r>
              <a:rPr lang="en-US" sz="1000" b="1" dirty="0">
                <a:solidFill>
                  <a:schemeClr val="tx2"/>
                </a:solidFill>
              </a:rPr>
              <a:t>1 painting</a:t>
            </a:r>
            <a:endParaRPr lang="en-US" sz="1000" dirty="0"/>
          </a:p>
        </p:txBody>
      </p:sp>
      <p:sp>
        <p:nvSpPr>
          <p:cNvPr id="5" name="stage caption 1 painting"/>
          <p:cNvSpPr txBox="1"/>
          <p:nvPr/>
        </p:nvSpPr>
        <p:spPr>
          <a:xfrm>
            <a:off x="393192"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224 x 224 x 3</a:t>
            </a:r>
            <a:endParaRPr lang="en-US" sz="900" dirty="0"/>
          </a:p>
        </p:txBody>
      </p:sp>
      <p:sp>
        <p:nvSpPr>
          <p:cNvPr id="6" name="stage arrow 1"/>
          <p:cNvSpPr/>
          <p:nvPr/>
        </p:nvSpPr>
        <p:spPr>
          <a:xfrm>
            <a:off x="1243584" y="1874520"/>
            <a:ext cx="128016" cy="0"/>
          </a:xfrm>
          <a:prstGeom prst="line">
            <a:avLst/>
          </a:prstGeom>
          <a:noFill/>
          <a:ln w="19050">
            <a:solidFill>
              <a:srgbClr val="3A3F4B"/>
            </a:solidFill>
            <a:prstDash val="solid"/>
            <a:tailEnd type="triangle"/>
          </a:ln>
        </p:spPr>
      </p:sp>
      <p:sp>
        <p:nvSpPr>
          <p:cNvPr id="7" name="stage conv1 + pool"/>
          <p:cNvSpPr/>
          <p:nvPr/>
        </p:nvSpPr>
        <p:spPr>
          <a:xfrm>
            <a:off x="1399032" y="1209672"/>
            <a:ext cx="749808" cy="1329695"/>
          </a:xfrm>
          <a:prstGeom prst="roundRect">
            <a:avLst>
              <a:gd name="adj" fmla="val 7317"/>
            </a:avLst>
          </a:prstGeom>
          <a:solidFill>
            <a:schemeClr val="tx2"/>
          </a:solidFill>
          <a:ln w="12700">
            <a:solidFill>
              <a:schemeClr val="tx2"/>
            </a:solidFill>
            <a:prstDash val="solid"/>
          </a:ln>
        </p:spPr>
      </p:sp>
      <p:sp>
        <p:nvSpPr>
          <p:cNvPr id="8" name="stage name conv1 + pool"/>
          <p:cNvSpPr txBox="1"/>
          <p:nvPr/>
        </p:nvSpPr>
        <p:spPr>
          <a:xfrm>
            <a:off x="1399032" y="1209672"/>
            <a:ext cx="749808" cy="1329695"/>
          </a:xfrm>
          <a:prstGeom prst="rect">
            <a:avLst/>
          </a:prstGeom>
          <a:noFill/>
          <a:ln/>
        </p:spPr>
        <p:txBody>
          <a:bodyPr wrap="square" lIns="254" tIns="254" rIns="254" bIns="254" rtlCol="0" anchor="ctr"/>
          <a:lstStyle/>
          <a:p>
            <a:pPr algn="ctr" indent="0" marL="0">
              <a:buNone/>
            </a:pPr>
            <a:r>
              <a:rPr lang="en-US" sz="1000" b="1" dirty="0">
                <a:solidFill>
                  <a:schemeClr val="bg1"/>
                </a:solidFill>
              </a:rPr>
              <a:t>conv1 + pool</a:t>
            </a:r>
            <a:endParaRPr lang="en-US" sz="1000" dirty="0"/>
          </a:p>
        </p:txBody>
      </p:sp>
      <p:sp>
        <p:nvSpPr>
          <p:cNvPr id="9" name="stage caption conv1 + pool"/>
          <p:cNvSpPr txBox="1"/>
          <p:nvPr/>
        </p:nvSpPr>
        <p:spPr>
          <a:xfrm>
            <a:off x="1325880"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56 x 56 x 64</a:t>
            </a:r>
            <a:endParaRPr lang="en-US" sz="900" dirty="0"/>
          </a:p>
          <a:p>
            <a:pPr algn="ctr" indent="0" marL="0">
              <a:buNone/>
            </a:pPr>
            <a:r>
              <a:rPr lang="en-US" sz="900" dirty="0">
                <a:solidFill>
                  <a:schemeClr val="tx1"/>
                </a:solidFill>
              </a:rPr>
              <a:t>9.5 k weights</a:t>
            </a:r>
            <a:endParaRPr lang="en-US" sz="900" dirty="0"/>
          </a:p>
        </p:txBody>
      </p:sp>
      <p:sp>
        <p:nvSpPr>
          <p:cNvPr id="10" name="stage arrow 2"/>
          <p:cNvSpPr/>
          <p:nvPr/>
        </p:nvSpPr>
        <p:spPr>
          <a:xfrm>
            <a:off x="2176272" y="1874520"/>
            <a:ext cx="128016" cy="0"/>
          </a:xfrm>
          <a:prstGeom prst="line">
            <a:avLst/>
          </a:prstGeom>
          <a:noFill/>
          <a:ln w="19050">
            <a:solidFill>
              <a:srgbClr val="3A3F4B"/>
            </a:solidFill>
            <a:prstDash val="solid"/>
            <a:tailEnd type="triangle"/>
          </a:ln>
        </p:spPr>
      </p:sp>
      <p:sp>
        <p:nvSpPr>
          <p:cNvPr id="11" name="stage layer1"/>
          <p:cNvSpPr/>
          <p:nvPr/>
        </p:nvSpPr>
        <p:spPr>
          <a:xfrm>
            <a:off x="2331720" y="1209672"/>
            <a:ext cx="749808" cy="1329695"/>
          </a:xfrm>
          <a:prstGeom prst="roundRect">
            <a:avLst>
              <a:gd name="adj" fmla="val 7317"/>
            </a:avLst>
          </a:prstGeom>
          <a:solidFill>
            <a:schemeClr val="tx2"/>
          </a:solidFill>
          <a:ln w="12700">
            <a:solidFill>
              <a:schemeClr val="tx2"/>
            </a:solidFill>
            <a:prstDash val="solid"/>
          </a:ln>
        </p:spPr>
      </p:sp>
      <p:sp>
        <p:nvSpPr>
          <p:cNvPr id="12" name="stage name layer1"/>
          <p:cNvSpPr txBox="1"/>
          <p:nvPr/>
        </p:nvSpPr>
        <p:spPr>
          <a:xfrm>
            <a:off x="2331720" y="1209672"/>
            <a:ext cx="749808" cy="1329695"/>
          </a:xfrm>
          <a:prstGeom prst="rect">
            <a:avLst/>
          </a:prstGeom>
          <a:noFill/>
          <a:ln/>
        </p:spPr>
        <p:txBody>
          <a:bodyPr wrap="square" lIns="254" tIns="254" rIns="254" bIns="254" rtlCol="0" anchor="ctr"/>
          <a:lstStyle/>
          <a:p>
            <a:pPr algn="ctr" indent="0" marL="0">
              <a:buNone/>
            </a:pPr>
            <a:r>
              <a:rPr lang="en-US" sz="1000" b="1" dirty="0">
                <a:solidFill>
                  <a:schemeClr val="bg1"/>
                </a:solidFill>
              </a:rPr>
              <a:t>layer1</a:t>
            </a:r>
            <a:endParaRPr lang="en-US" sz="1000" dirty="0"/>
          </a:p>
        </p:txBody>
      </p:sp>
      <p:sp>
        <p:nvSpPr>
          <p:cNvPr id="13" name="stage caption layer1"/>
          <p:cNvSpPr txBox="1"/>
          <p:nvPr/>
        </p:nvSpPr>
        <p:spPr>
          <a:xfrm>
            <a:off x="2258568"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56 x 56 x 64</a:t>
            </a:r>
            <a:endParaRPr lang="en-US" sz="900" dirty="0"/>
          </a:p>
          <a:p>
            <a:pPr algn="ctr" indent="0" marL="0">
              <a:buNone/>
            </a:pPr>
            <a:r>
              <a:rPr lang="en-US" sz="900" dirty="0">
                <a:solidFill>
                  <a:schemeClr val="tx1"/>
                </a:solidFill>
              </a:rPr>
              <a:t>148 k weights</a:t>
            </a:r>
            <a:endParaRPr lang="en-US" sz="900" dirty="0"/>
          </a:p>
        </p:txBody>
      </p:sp>
      <p:sp>
        <p:nvSpPr>
          <p:cNvPr id="14" name="stage arrow 3"/>
          <p:cNvSpPr/>
          <p:nvPr/>
        </p:nvSpPr>
        <p:spPr>
          <a:xfrm>
            <a:off x="3108960" y="1874520"/>
            <a:ext cx="128016" cy="0"/>
          </a:xfrm>
          <a:prstGeom prst="line">
            <a:avLst/>
          </a:prstGeom>
          <a:noFill/>
          <a:ln w="19050">
            <a:solidFill>
              <a:srgbClr val="3A3F4B"/>
            </a:solidFill>
            <a:prstDash val="solid"/>
            <a:tailEnd type="triangle"/>
          </a:ln>
        </p:spPr>
      </p:sp>
      <p:sp>
        <p:nvSpPr>
          <p:cNvPr id="15" name="stage layer2"/>
          <p:cNvSpPr/>
          <p:nvPr/>
        </p:nvSpPr>
        <p:spPr>
          <a:xfrm>
            <a:off x="3264408" y="1288729"/>
            <a:ext cx="749808" cy="1171583"/>
          </a:xfrm>
          <a:prstGeom prst="roundRect">
            <a:avLst>
              <a:gd name="adj" fmla="val 7317"/>
            </a:avLst>
          </a:prstGeom>
          <a:solidFill>
            <a:schemeClr val="tx2"/>
          </a:solidFill>
          <a:ln w="12700">
            <a:solidFill>
              <a:schemeClr val="tx2"/>
            </a:solidFill>
            <a:prstDash val="solid"/>
          </a:ln>
        </p:spPr>
      </p:sp>
      <p:sp>
        <p:nvSpPr>
          <p:cNvPr id="16" name="stage name layer2"/>
          <p:cNvSpPr txBox="1"/>
          <p:nvPr/>
        </p:nvSpPr>
        <p:spPr>
          <a:xfrm>
            <a:off x="3264408" y="1288729"/>
            <a:ext cx="749808" cy="1171583"/>
          </a:xfrm>
          <a:prstGeom prst="rect">
            <a:avLst/>
          </a:prstGeom>
          <a:noFill/>
          <a:ln/>
        </p:spPr>
        <p:txBody>
          <a:bodyPr wrap="square" lIns="254" tIns="254" rIns="254" bIns="254" rtlCol="0" anchor="ctr"/>
          <a:lstStyle/>
          <a:p>
            <a:pPr algn="ctr" indent="0" marL="0">
              <a:buNone/>
            </a:pPr>
            <a:r>
              <a:rPr lang="en-US" sz="1000" b="1" dirty="0">
                <a:solidFill>
                  <a:schemeClr val="bg1"/>
                </a:solidFill>
              </a:rPr>
              <a:t>layer2</a:t>
            </a:r>
            <a:endParaRPr lang="en-US" sz="1000" dirty="0"/>
          </a:p>
        </p:txBody>
      </p:sp>
      <p:sp>
        <p:nvSpPr>
          <p:cNvPr id="17" name="stage caption layer2"/>
          <p:cNvSpPr txBox="1"/>
          <p:nvPr/>
        </p:nvSpPr>
        <p:spPr>
          <a:xfrm>
            <a:off x="3191256"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28 x 28 x 128</a:t>
            </a:r>
            <a:endParaRPr lang="en-US" sz="900" dirty="0"/>
          </a:p>
          <a:p>
            <a:pPr algn="ctr" indent="0" marL="0">
              <a:buNone/>
            </a:pPr>
            <a:r>
              <a:rPr lang="en-US" sz="900" dirty="0">
                <a:solidFill>
                  <a:schemeClr val="tx1"/>
                </a:solidFill>
              </a:rPr>
              <a:t>526 k weights</a:t>
            </a:r>
            <a:endParaRPr lang="en-US" sz="900" dirty="0"/>
          </a:p>
        </p:txBody>
      </p:sp>
      <p:sp>
        <p:nvSpPr>
          <p:cNvPr id="18" name="stage arrow 4"/>
          <p:cNvSpPr/>
          <p:nvPr/>
        </p:nvSpPr>
        <p:spPr>
          <a:xfrm>
            <a:off x="4041648" y="1874520"/>
            <a:ext cx="128016" cy="0"/>
          </a:xfrm>
          <a:prstGeom prst="line">
            <a:avLst/>
          </a:prstGeom>
          <a:noFill/>
          <a:ln w="19050">
            <a:solidFill>
              <a:srgbClr val="3A3F4B"/>
            </a:solidFill>
            <a:prstDash val="solid"/>
            <a:tailEnd type="triangle"/>
          </a:ln>
        </p:spPr>
      </p:sp>
      <p:sp>
        <p:nvSpPr>
          <p:cNvPr id="19" name="stage layer3"/>
          <p:cNvSpPr/>
          <p:nvPr/>
        </p:nvSpPr>
        <p:spPr>
          <a:xfrm>
            <a:off x="4197096" y="1367785"/>
            <a:ext cx="749808" cy="1013470"/>
          </a:xfrm>
          <a:prstGeom prst="roundRect">
            <a:avLst>
              <a:gd name="adj" fmla="val 7317"/>
            </a:avLst>
          </a:prstGeom>
          <a:solidFill>
            <a:schemeClr val="tx2"/>
          </a:solidFill>
          <a:ln w="12700">
            <a:solidFill>
              <a:schemeClr val="tx2"/>
            </a:solidFill>
            <a:prstDash val="solid"/>
          </a:ln>
        </p:spPr>
      </p:sp>
      <p:sp>
        <p:nvSpPr>
          <p:cNvPr id="20" name="stage name layer3"/>
          <p:cNvSpPr txBox="1"/>
          <p:nvPr/>
        </p:nvSpPr>
        <p:spPr>
          <a:xfrm>
            <a:off x="4197096" y="1367785"/>
            <a:ext cx="749808" cy="1013470"/>
          </a:xfrm>
          <a:prstGeom prst="rect">
            <a:avLst/>
          </a:prstGeom>
          <a:noFill/>
          <a:ln/>
        </p:spPr>
        <p:txBody>
          <a:bodyPr wrap="square" lIns="254" tIns="254" rIns="254" bIns="254" rtlCol="0" anchor="ctr"/>
          <a:lstStyle/>
          <a:p>
            <a:pPr algn="ctr" indent="0" marL="0">
              <a:buNone/>
            </a:pPr>
            <a:r>
              <a:rPr lang="en-US" sz="1000" b="1" dirty="0">
                <a:solidFill>
                  <a:schemeClr val="bg1"/>
                </a:solidFill>
              </a:rPr>
              <a:t>layer3</a:t>
            </a:r>
            <a:endParaRPr lang="en-US" sz="1000" dirty="0"/>
          </a:p>
        </p:txBody>
      </p:sp>
      <p:sp>
        <p:nvSpPr>
          <p:cNvPr id="21" name="stage caption layer3"/>
          <p:cNvSpPr txBox="1"/>
          <p:nvPr/>
        </p:nvSpPr>
        <p:spPr>
          <a:xfrm>
            <a:off x="4123944"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14 x 14 x 256</a:t>
            </a:r>
            <a:endParaRPr lang="en-US" sz="900" dirty="0"/>
          </a:p>
          <a:p>
            <a:pPr algn="ctr" indent="0" marL="0">
              <a:buNone/>
            </a:pPr>
            <a:r>
              <a:rPr lang="en-US" sz="900" dirty="0">
                <a:solidFill>
                  <a:schemeClr val="tx1"/>
                </a:solidFill>
              </a:rPr>
              <a:t>2.1 M weights</a:t>
            </a:r>
            <a:endParaRPr lang="en-US" sz="900" dirty="0"/>
          </a:p>
        </p:txBody>
      </p:sp>
      <p:sp>
        <p:nvSpPr>
          <p:cNvPr id="22" name="stage arrow 5"/>
          <p:cNvSpPr/>
          <p:nvPr/>
        </p:nvSpPr>
        <p:spPr>
          <a:xfrm>
            <a:off x="4974336" y="1874520"/>
            <a:ext cx="128016" cy="0"/>
          </a:xfrm>
          <a:prstGeom prst="line">
            <a:avLst/>
          </a:prstGeom>
          <a:noFill/>
          <a:ln w="19050">
            <a:solidFill>
              <a:srgbClr val="3A3F4B"/>
            </a:solidFill>
            <a:prstDash val="solid"/>
            <a:tailEnd type="triangle"/>
          </a:ln>
        </p:spPr>
      </p:sp>
      <p:sp>
        <p:nvSpPr>
          <p:cNvPr id="23" name="stage layer4"/>
          <p:cNvSpPr/>
          <p:nvPr/>
        </p:nvSpPr>
        <p:spPr>
          <a:xfrm>
            <a:off x="5129784" y="1446841"/>
            <a:ext cx="749808" cy="855358"/>
          </a:xfrm>
          <a:prstGeom prst="roundRect">
            <a:avLst>
              <a:gd name="adj" fmla="val 7317"/>
            </a:avLst>
          </a:prstGeom>
          <a:solidFill>
            <a:schemeClr val="tx2"/>
          </a:solidFill>
          <a:ln w="12700">
            <a:solidFill>
              <a:schemeClr val="tx2"/>
            </a:solidFill>
            <a:prstDash val="solid"/>
          </a:ln>
        </p:spPr>
      </p:sp>
      <p:sp>
        <p:nvSpPr>
          <p:cNvPr id="24" name="stage name layer4"/>
          <p:cNvSpPr txBox="1"/>
          <p:nvPr/>
        </p:nvSpPr>
        <p:spPr>
          <a:xfrm>
            <a:off x="5129784" y="1446841"/>
            <a:ext cx="749808" cy="855358"/>
          </a:xfrm>
          <a:prstGeom prst="rect">
            <a:avLst/>
          </a:prstGeom>
          <a:noFill/>
          <a:ln/>
        </p:spPr>
        <p:txBody>
          <a:bodyPr wrap="square" lIns="254" tIns="254" rIns="254" bIns="254" rtlCol="0" anchor="ctr"/>
          <a:lstStyle/>
          <a:p>
            <a:pPr algn="ctr" indent="0" marL="0">
              <a:buNone/>
            </a:pPr>
            <a:r>
              <a:rPr lang="en-US" sz="1000" b="1" dirty="0">
                <a:solidFill>
                  <a:schemeClr val="bg1"/>
                </a:solidFill>
              </a:rPr>
              <a:t>layer4</a:t>
            </a:r>
            <a:endParaRPr lang="en-US" sz="1000" dirty="0"/>
          </a:p>
        </p:txBody>
      </p:sp>
      <p:sp>
        <p:nvSpPr>
          <p:cNvPr id="25" name="stage caption layer4"/>
          <p:cNvSpPr txBox="1"/>
          <p:nvPr/>
        </p:nvSpPr>
        <p:spPr>
          <a:xfrm>
            <a:off x="5056632"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7 x 7 x 512</a:t>
            </a:r>
            <a:endParaRPr lang="en-US" sz="900" dirty="0"/>
          </a:p>
          <a:p>
            <a:pPr algn="ctr" indent="0" marL="0">
              <a:buNone/>
            </a:pPr>
            <a:r>
              <a:rPr lang="en-US" sz="900" dirty="0">
                <a:solidFill>
                  <a:schemeClr val="tx1"/>
                </a:solidFill>
              </a:rPr>
              <a:t>8.4 M weights</a:t>
            </a:r>
            <a:endParaRPr lang="en-US" sz="900" dirty="0"/>
          </a:p>
        </p:txBody>
      </p:sp>
      <p:sp>
        <p:nvSpPr>
          <p:cNvPr id="26" name="stage arrow 6"/>
          <p:cNvSpPr/>
          <p:nvPr/>
        </p:nvSpPr>
        <p:spPr>
          <a:xfrm>
            <a:off x="5907024" y="1874520"/>
            <a:ext cx="128016" cy="0"/>
          </a:xfrm>
          <a:prstGeom prst="line">
            <a:avLst/>
          </a:prstGeom>
          <a:noFill/>
          <a:ln w="19050">
            <a:solidFill>
              <a:srgbClr val="3A3F4B"/>
            </a:solidFill>
            <a:prstDash val="solid"/>
            <a:tailEnd type="triangle"/>
          </a:ln>
        </p:spPr>
      </p:sp>
      <p:sp>
        <p:nvSpPr>
          <p:cNvPr id="27" name="stage average"/>
          <p:cNvSpPr/>
          <p:nvPr/>
        </p:nvSpPr>
        <p:spPr>
          <a:xfrm>
            <a:off x="6062472" y="1668780"/>
            <a:ext cx="749808" cy="411480"/>
          </a:xfrm>
          <a:prstGeom prst="roundRect">
            <a:avLst>
              <a:gd name="adj" fmla="val 13333"/>
            </a:avLst>
          </a:prstGeom>
          <a:solidFill>
            <a:schemeClr val="tx2"/>
          </a:solidFill>
          <a:ln w="12700">
            <a:solidFill>
              <a:schemeClr val="tx2"/>
            </a:solidFill>
            <a:prstDash val="solid"/>
          </a:ln>
        </p:spPr>
      </p:sp>
      <p:sp>
        <p:nvSpPr>
          <p:cNvPr id="28" name="stage name average"/>
          <p:cNvSpPr txBox="1"/>
          <p:nvPr/>
        </p:nvSpPr>
        <p:spPr>
          <a:xfrm>
            <a:off x="6062472" y="1668780"/>
            <a:ext cx="749808" cy="411480"/>
          </a:xfrm>
          <a:prstGeom prst="rect">
            <a:avLst/>
          </a:prstGeom>
          <a:noFill/>
          <a:ln/>
        </p:spPr>
        <p:txBody>
          <a:bodyPr wrap="square" lIns="254" tIns="254" rIns="254" bIns="254" rtlCol="0" anchor="ctr"/>
          <a:lstStyle/>
          <a:p>
            <a:pPr algn="ctr" indent="0" marL="0">
              <a:buNone/>
            </a:pPr>
            <a:r>
              <a:rPr lang="en-US" sz="1000" b="1" dirty="0">
                <a:solidFill>
                  <a:schemeClr val="bg1"/>
                </a:solidFill>
              </a:rPr>
              <a:t>average</a:t>
            </a:r>
            <a:endParaRPr lang="en-US" sz="1000" dirty="0"/>
          </a:p>
        </p:txBody>
      </p:sp>
      <p:sp>
        <p:nvSpPr>
          <p:cNvPr id="29" name="stage caption average"/>
          <p:cNvSpPr txBox="1"/>
          <p:nvPr/>
        </p:nvSpPr>
        <p:spPr>
          <a:xfrm>
            <a:off x="5989320"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512 numbers</a:t>
            </a:r>
            <a:endParaRPr lang="en-US" sz="900" dirty="0"/>
          </a:p>
          <a:p>
            <a:pPr algn="ctr" indent="0" marL="0">
              <a:buNone/>
            </a:pPr>
            <a:r>
              <a:rPr lang="en-US" sz="900" dirty="0">
                <a:solidFill>
                  <a:schemeClr val="tx1"/>
                </a:solidFill>
              </a:rPr>
              <a:t>no weights</a:t>
            </a:r>
            <a:endParaRPr lang="en-US" sz="900" dirty="0"/>
          </a:p>
        </p:txBody>
      </p:sp>
      <p:sp>
        <p:nvSpPr>
          <p:cNvPr id="30" name="stage arrow 7"/>
          <p:cNvSpPr/>
          <p:nvPr/>
        </p:nvSpPr>
        <p:spPr>
          <a:xfrm>
            <a:off x="6839712" y="1874520"/>
            <a:ext cx="128016" cy="0"/>
          </a:xfrm>
          <a:prstGeom prst="line">
            <a:avLst/>
          </a:prstGeom>
          <a:noFill/>
          <a:ln w="19050">
            <a:solidFill>
              <a:srgbClr val="3A3F4B"/>
            </a:solidFill>
            <a:prstDash val="solid"/>
            <a:tailEnd type="triangle"/>
          </a:ln>
        </p:spPr>
      </p:sp>
      <p:sp>
        <p:nvSpPr>
          <p:cNvPr id="31" name="stage linear head"/>
          <p:cNvSpPr/>
          <p:nvPr/>
        </p:nvSpPr>
        <p:spPr>
          <a:xfrm>
            <a:off x="6995160" y="1668780"/>
            <a:ext cx="749808" cy="411480"/>
          </a:xfrm>
          <a:prstGeom prst="roundRect">
            <a:avLst>
              <a:gd name="adj" fmla="val 13333"/>
            </a:avLst>
          </a:prstGeom>
          <a:solidFill>
            <a:schemeClr val="accent1"/>
          </a:solidFill>
          <a:ln w="12700">
            <a:solidFill>
              <a:schemeClr val="accent1"/>
            </a:solidFill>
            <a:prstDash val="solid"/>
          </a:ln>
        </p:spPr>
      </p:sp>
      <p:sp>
        <p:nvSpPr>
          <p:cNvPr id="32" name="stage name linear head"/>
          <p:cNvSpPr txBox="1"/>
          <p:nvPr/>
        </p:nvSpPr>
        <p:spPr>
          <a:xfrm>
            <a:off x="6995160" y="1668780"/>
            <a:ext cx="749808" cy="411480"/>
          </a:xfrm>
          <a:prstGeom prst="rect">
            <a:avLst/>
          </a:prstGeom>
          <a:noFill/>
          <a:ln/>
        </p:spPr>
        <p:txBody>
          <a:bodyPr wrap="square" lIns="254" tIns="254" rIns="254" bIns="254" rtlCol="0" anchor="ctr"/>
          <a:lstStyle/>
          <a:p>
            <a:pPr algn="ctr" indent="0" marL="0">
              <a:buNone/>
            </a:pPr>
            <a:r>
              <a:rPr lang="en-US" sz="1000" b="1" dirty="0">
                <a:solidFill>
                  <a:schemeClr val="bg1"/>
                </a:solidFill>
              </a:rPr>
              <a:t>linear head</a:t>
            </a:r>
            <a:endParaRPr lang="en-US" sz="1000" dirty="0"/>
          </a:p>
        </p:txBody>
      </p:sp>
      <p:sp>
        <p:nvSpPr>
          <p:cNvPr id="33" name="stage caption linear head"/>
          <p:cNvSpPr txBox="1"/>
          <p:nvPr/>
        </p:nvSpPr>
        <p:spPr>
          <a:xfrm>
            <a:off x="6922008"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512 → 5</a:t>
            </a:r>
            <a:endParaRPr lang="en-US" sz="900" dirty="0"/>
          </a:p>
          <a:p>
            <a:pPr algn="ctr" indent="0" marL="0">
              <a:buNone/>
            </a:pPr>
            <a:r>
              <a:rPr lang="en-US" sz="900" dirty="0">
                <a:solidFill>
                  <a:schemeClr val="tx1"/>
                </a:solidFill>
              </a:rPr>
              <a:t>2 565 weights</a:t>
            </a:r>
            <a:endParaRPr lang="en-US" sz="900" dirty="0"/>
          </a:p>
        </p:txBody>
      </p:sp>
      <p:sp>
        <p:nvSpPr>
          <p:cNvPr id="34" name="stage arrow 8"/>
          <p:cNvSpPr/>
          <p:nvPr/>
        </p:nvSpPr>
        <p:spPr>
          <a:xfrm>
            <a:off x="7772400" y="1874520"/>
            <a:ext cx="128016" cy="0"/>
          </a:xfrm>
          <a:prstGeom prst="line">
            <a:avLst/>
          </a:prstGeom>
          <a:noFill/>
          <a:ln w="19050">
            <a:solidFill>
              <a:srgbClr val="3A3F4B"/>
            </a:solidFill>
            <a:prstDash val="solid"/>
            <a:tailEnd type="triangle"/>
          </a:ln>
        </p:spPr>
      </p:sp>
      <p:sp>
        <p:nvSpPr>
          <p:cNvPr id="35" name="stage 5 styles"/>
          <p:cNvSpPr/>
          <p:nvPr/>
        </p:nvSpPr>
        <p:spPr>
          <a:xfrm>
            <a:off x="7927848" y="1668780"/>
            <a:ext cx="749808" cy="411480"/>
          </a:xfrm>
          <a:prstGeom prst="roundRect">
            <a:avLst>
              <a:gd name="adj" fmla="val 13333"/>
            </a:avLst>
          </a:prstGeom>
          <a:solidFill>
            <a:schemeClr val="bg2"/>
          </a:solidFill>
          <a:ln w="12700">
            <a:solidFill>
              <a:schemeClr val="bg2"/>
            </a:solidFill>
            <a:prstDash val="solid"/>
          </a:ln>
        </p:spPr>
      </p:sp>
      <p:sp>
        <p:nvSpPr>
          <p:cNvPr id="36" name="stage name 5 styles"/>
          <p:cNvSpPr txBox="1"/>
          <p:nvPr/>
        </p:nvSpPr>
        <p:spPr>
          <a:xfrm>
            <a:off x="7927848" y="1668780"/>
            <a:ext cx="749808" cy="411480"/>
          </a:xfrm>
          <a:prstGeom prst="rect">
            <a:avLst/>
          </a:prstGeom>
          <a:noFill/>
          <a:ln/>
        </p:spPr>
        <p:txBody>
          <a:bodyPr wrap="square" lIns="254" tIns="254" rIns="254" bIns="254" rtlCol="0" anchor="ctr"/>
          <a:lstStyle/>
          <a:p>
            <a:pPr algn="ctr" indent="0" marL="0">
              <a:buNone/>
            </a:pPr>
            <a:r>
              <a:rPr lang="en-US" sz="1000" b="1" dirty="0">
                <a:solidFill>
                  <a:schemeClr val="tx2"/>
                </a:solidFill>
              </a:rPr>
              <a:t>5 styles</a:t>
            </a:r>
            <a:endParaRPr lang="en-US" sz="1000" dirty="0"/>
          </a:p>
        </p:txBody>
      </p:sp>
      <p:sp>
        <p:nvSpPr>
          <p:cNvPr id="37" name="stage caption 5 styles"/>
          <p:cNvSpPr txBox="1"/>
          <p:nvPr/>
        </p:nvSpPr>
        <p:spPr>
          <a:xfrm>
            <a:off x="7854696"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highest score wins</a:t>
            </a:r>
            <a:endParaRPr lang="en-US" sz="900" dirty="0"/>
          </a:p>
        </p:txBody>
      </p:sp>
      <p:sp>
        <p:nvSpPr>
          <p:cNvPr id="38" name="sees edges, colours"/>
          <p:cNvSpPr txBox="1"/>
          <p:nvPr/>
        </p:nvSpPr>
        <p:spPr>
          <a:xfrm>
            <a:off x="1353312" y="987552"/>
            <a:ext cx="1773936" cy="182880"/>
          </a:xfrm>
          <a:prstGeom prst="rect">
            <a:avLst/>
          </a:prstGeom>
          <a:noFill/>
          <a:ln/>
        </p:spPr>
        <p:txBody>
          <a:bodyPr wrap="square" lIns="0" tIns="0" rIns="0" bIns="0" rtlCol="0" anchor="ctr"/>
          <a:lstStyle/>
          <a:p>
            <a:pPr algn="ctr" indent="0" marL="0">
              <a:buNone/>
            </a:pPr>
            <a:r>
              <a:rPr lang="en-US" sz="900" i="1" dirty="0">
                <a:solidFill>
                  <a:schemeClr val="accent1"/>
                </a:solidFill>
              </a:rPr>
              <a:t>edges, colours</a:t>
            </a:r>
            <a:endParaRPr lang="en-US" sz="900" dirty="0"/>
          </a:p>
        </p:txBody>
      </p:sp>
      <p:sp>
        <p:nvSpPr>
          <p:cNvPr id="39" name="sees textures"/>
          <p:cNvSpPr txBox="1"/>
          <p:nvPr/>
        </p:nvSpPr>
        <p:spPr>
          <a:xfrm>
            <a:off x="3218688" y="987552"/>
            <a:ext cx="841248" cy="182880"/>
          </a:xfrm>
          <a:prstGeom prst="rect">
            <a:avLst/>
          </a:prstGeom>
          <a:noFill/>
          <a:ln/>
        </p:spPr>
        <p:txBody>
          <a:bodyPr wrap="square" lIns="0" tIns="0" rIns="0" bIns="0" rtlCol="0" anchor="ctr"/>
          <a:lstStyle/>
          <a:p>
            <a:pPr algn="ctr" indent="0" marL="0">
              <a:buNone/>
            </a:pPr>
            <a:r>
              <a:rPr lang="en-US" sz="900" i="1" dirty="0">
                <a:solidFill>
                  <a:schemeClr val="accent1"/>
                </a:solidFill>
              </a:rPr>
              <a:t>textures</a:t>
            </a:r>
            <a:endParaRPr lang="en-US" sz="900" dirty="0"/>
          </a:p>
        </p:txBody>
      </p:sp>
      <p:sp>
        <p:nvSpPr>
          <p:cNvPr id="40" name="sees patterns"/>
          <p:cNvSpPr txBox="1"/>
          <p:nvPr/>
        </p:nvSpPr>
        <p:spPr>
          <a:xfrm>
            <a:off x="4151376" y="987552"/>
            <a:ext cx="841248" cy="182880"/>
          </a:xfrm>
          <a:prstGeom prst="rect">
            <a:avLst/>
          </a:prstGeom>
          <a:noFill/>
          <a:ln/>
        </p:spPr>
        <p:txBody>
          <a:bodyPr wrap="square" lIns="0" tIns="0" rIns="0" bIns="0" rtlCol="0" anchor="ctr"/>
          <a:lstStyle/>
          <a:p>
            <a:pPr algn="ctr" indent="0" marL="0">
              <a:buNone/>
            </a:pPr>
            <a:r>
              <a:rPr lang="en-US" sz="900" i="1" dirty="0">
                <a:solidFill>
                  <a:schemeClr val="accent1"/>
                </a:solidFill>
              </a:rPr>
              <a:t>patterns</a:t>
            </a:r>
            <a:endParaRPr lang="en-US" sz="900" dirty="0"/>
          </a:p>
        </p:txBody>
      </p:sp>
      <p:sp>
        <p:nvSpPr>
          <p:cNvPr id="41" name="sees shapes"/>
          <p:cNvSpPr txBox="1"/>
          <p:nvPr/>
        </p:nvSpPr>
        <p:spPr>
          <a:xfrm>
            <a:off x="5084064" y="987552"/>
            <a:ext cx="841248" cy="182880"/>
          </a:xfrm>
          <a:prstGeom prst="rect">
            <a:avLst/>
          </a:prstGeom>
          <a:noFill/>
          <a:ln/>
        </p:spPr>
        <p:txBody>
          <a:bodyPr wrap="square" lIns="0" tIns="0" rIns="0" bIns="0" rtlCol="0" anchor="ctr"/>
          <a:lstStyle/>
          <a:p>
            <a:pPr algn="ctr" indent="0" marL="0">
              <a:buNone/>
            </a:pPr>
            <a:r>
              <a:rPr lang="en-US" sz="900" i="1" dirty="0">
                <a:solidFill>
                  <a:schemeClr val="accent1"/>
                </a:solidFill>
              </a:rPr>
              <a:t>shapes</a:t>
            </a:r>
            <a:endParaRPr lang="en-US" sz="900" dirty="0"/>
          </a:p>
        </p:txBody>
      </p:sp>
      <p:sp>
        <p:nvSpPr>
          <p:cNvPr id="42" name="frozen bar"/>
          <p:cNvSpPr/>
          <p:nvPr/>
        </p:nvSpPr>
        <p:spPr>
          <a:xfrm>
            <a:off x="1399032" y="3218688"/>
            <a:ext cx="3547872" cy="45720"/>
          </a:xfrm>
          <a:prstGeom prst="rect">
            <a:avLst/>
          </a:prstGeom>
          <a:solidFill>
            <a:schemeClr val="tx2"/>
          </a:solidFill>
          <a:ln w="12700">
            <a:solidFill>
              <a:schemeClr val="tx2"/>
            </a:solidFill>
            <a:prstDash val="solid"/>
          </a:ln>
        </p:spPr>
      </p:sp>
      <p:sp>
        <p:nvSpPr>
          <p:cNvPr id="43" name="frozen label"/>
          <p:cNvSpPr txBox="1"/>
          <p:nvPr/>
        </p:nvSpPr>
        <p:spPr>
          <a:xfrm>
            <a:off x="1399032" y="3291840"/>
            <a:ext cx="3547872" cy="201168"/>
          </a:xfrm>
          <a:prstGeom prst="rect">
            <a:avLst/>
          </a:prstGeom>
          <a:noFill/>
          <a:ln/>
        </p:spPr>
        <p:txBody>
          <a:bodyPr wrap="square" lIns="0" tIns="0" rIns="0" bIns="0" rtlCol="0" anchor="ctr"/>
          <a:lstStyle/>
          <a:p>
            <a:pPr algn="ctr" indent="0" marL="0">
              <a:buNone/>
            </a:pPr>
            <a:r>
              <a:rPr lang="en-US" sz="1000" b="1" dirty="0">
                <a:solidFill>
                  <a:schemeClr val="tx2"/>
                </a:solidFill>
              </a:rPr>
              <a:t>Frozen: 2.8 million weights learned on ImageNet</a:t>
            </a:r>
            <a:endParaRPr lang="en-US" sz="1000" dirty="0"/>
          </a:p>
        </p:txBody>
      </p:sp>
      <p:sp>
        <p:nvSpPr>
          <p:cNvPr id="44" name="fine-tuned bar"/>
          <p:cNvSpPr/>
          <p:nvPr/>
        </p:nvSpPr>
        <p:spPr>
          <a:xfrm>
            <a:off x="5129784" y="3218688"/>
            <a:ext cx="749808" cy="45720"/>
          </a:xfrm>
          <a:prstGeom prst="rect">
            <a:avLst/>
          </a:prstGeom>
          <a:solidFill>
            <a:schemeClr val="accent4"/>
          </a:solidFill>
          <a:ln w="12700">
            <a:solidFill>
              <a:schemeClr val="accent4"/>
            </a:solidFill>
            <a:prstDash val="solid"/>
          </a:ln>
        </p:spPr>
      </p:sp>
      <p:sp>
        <p:nvSpPr>
          <p:cNvPr id="45" name="fine-tuned label"/>
          <p:cNvSpPr txBox="1"/>
          <p:nvPr/>
        </p:nvSpPr>
        <p:spPr>
          <a:xfrm>
            <a:off x="5129784" y="3291840"/>
            <a:ext cx="749808" cy="201168"/>
          </a:xfrm>
          <a:prstGeom prst="rect">
            <a:avLst/>
          </a:prstGeom>
          <a:noFill/>
          <a:ln/>
        </p:spPr>
        <p:txBody>
          <a:bodyPr wrap="square" lIns="0" tIns="0" rIns="0" bIns="0" rtlCol="0" anchor="ctr"/>
          <a:lstStyle/>
          <a:p>
            <a:pPr algn="ctr" indent="0" marL="0">
              <a:buNone/>
            </a:pPr>
            <a:r>
              <a:rPr lang="en-US" sz="1000" b="1" dirty="0">
                <a:solidFill>
                  <a:schemeClr val="accent4"/>
                </a:solidFill>
              </a:rPr>
              <a:t>Fine-tuned</a:t>
            </a:r>
            <a:endParaRPr lang="en-US" sz="1000" dirty="0"/>
          </a:p>
        </p:txBody>
      </p:sp>
      <p:sp>
        <p:nvSpPr>
          <p:cNvPr id="46" name="trained bar"/>
          <p:cNvSpPr/>
          <p:nvPr/>
        </p:nvSpPr>
        <p:spPr>
          <a:xfrm>
            <a:off x="6995160" y="3218688"/>
            <a:ext cx="749808" cy="45720"/>
          </a:xfrm>
          <a:prstGeom prst="rect">
            <a:avLst/>
          </a:prstGeom>
          <a:solidFill>
            <a:schemeClr val="accent1"/>
          </a:solidFill>
          <a:ln w="12700">
            <a:solidFill>
              <a:schemeClr val="accent1"/>
            </a:solidFill>
            <a:prstDash val="solid"/>
          </a:ln>
        </p:spPr>
      </p:sp>
      <p:sp>
        <p:nvSpPr>
          <p:cNvPr id="47" name="trained label"/>
          <p:cNvSpPr txBox="1"/>
          <p:nvPr/>
        </p:nvSpPr>
        <p:spPr>
          <a:xfrm>
            <a:off x="6995160" y="3291840"/>
            <a:ext cx="749808" cy="201168"/>
          </a:xfrm>
          <a:prstGeom prst="rect">
            <a:avLst/>
          </a:prstGeom>
          <a:noFill/>
          <a:ln/>
        </p:spPr>
        <p:txBody>
          <a:bodyPr wrap="square" lIns="0" tIns="0" rIns="0" bIns="0" rtlCol="0" anchor="ctr"/>
          <a:lstStyle/>
          <a:p>
            <a:pPr algn="ctr" indent="0" marL="0">
              <a:buNone/>
            </a:pPr>
            <a:r>
              <a:rPr lang="en-US" sz="1000" b="1" dirty="0">
                <a:solidFill>
                  <a:schemeClr val="accent1"/>
                </a:solidFill>
              </a:rPr>
              <a:t>Trained by us</a:t>
            </a:r>
            <a:endParaRPr lang="en-US" sz="1000" dirty="0"/>
          </a:p>
        </p:txBody>
      </p:sp>
      <p:sp>
        <p:nvSpPr>
          <p:cNvPr id="48" name="block title"/>
          <p:cNvSpPr txBox="1"/>
          <p:nvPr/>
        </p:nvSpPr>
        <p:spPr>
          <a:xfrm>
            <a:off x="457200" y="3593592"/>
            <a:ext cx="3291840" cy="182880"/>
          </a:xfrm>
          <a:prstGeom prst="rect">
            <a:avLst/>
          </a:prstGeom>
          <a:noFill/>
          <a:ln/>
        </p:spPr>
        <p:txBody>
          <a:bodyPr wrap="square" lIns="0" tIns="0" rIns="0" bIns="0" rtlCol="0" anchor="ctr"/>
          <a:lstStyle/>
          <a:p>
            <a:pPr indent="0" marL="0">
              <a:buNone/>
            </a:pPr>
            <a:r>
              <a:rPr lang="en-US" sz="1100" b="1" dirty="0">
                <a:solidFill>
                  <a:schemeClr val="tx2"/>
                </a:solidFill>
              </a:rPr>
              <a:t>One residual block (2 per layer, 8 in all)</a:t>
            </a:r>
            <a:endParaRPr lang="en-US" sz="1100" dirty="0"/>
          </a:p>
        </p:txBody>
      </p:sp>
      <p:sp>
        <p:nvSpPr>
          <p:cNvPr id="49" name="block text 0 x"/>
          <p:cNvSpPr txBox="1"/>
          <p:nvPr/>
        </p:nvSpPr>
        <p:spPr>
          <a:xfrm>
            <a:off x="457200" y="4224528"/>
            <a:ext cx="274320" cy="310896"/>
          </a:xfrm>
          <a:prstGeom prst="rect">
            <a:avLst/>
          </a:prstGeom>
          <a:noFill/>
          <a:ln/>
        </p:spPr>
        <p:txBody>
          <a:bodyPr wrap="square" lIns="0" tIns="0" rIns="0" bIns="0" rtlCol="0" anchor="ctr"/>
          <a:lstStyle/>
          <a:p>
            <a:pPr algn="ctr" indent="0" marL="0">
              <a:buNone/>
            </a:pPr>
            <a:r>
              <a:rPr lang="en-US" sz="1000" b="1" dirty="0">
                <a:solidFill>
                  <a:schemeClr val="tx2"/>
                </a:solidFill>
              </a:rPr>
              <a:t>x</a:t>
            </a:r>
            <a:endParaRPr lang="en-US" sz="1000" dirty="0"/>
          </a:p>
        </p:txBody>
      </p:sp>
      <p:sp>
        <p:nvSpPr>
          <p:cNvPr id="50" name="block arrow 1"/>
          <p:cNvSpPr/>
          <p:nvPr/>
        </p:nvSpPr>
        <p:spPr>
          <a:xfrm>
            <a:off x="749808" y="4379976"/>
            <a:ext cx="118872" cy="0"/>
          </a:xfrm>
          <a:prstGeom prst="line">
            <a:avLst/>
          </a:prstGeom>
          <a:noFill/>
          <a:ln w="15875">
            <a:solidFill>
              <a:srgbClr val="3A3F4B"/>
            </a:solidFill>
            <a:prstDash val="solid"/>
            <a:tailEnd type="triangle"/>
          </a:ln>
        </p:spPr>
      </p:sp>
      <p:sp>
        <p:nvSpPr>
          <p:cNvPr id="51" name="block 1 conv 3x3"/>
          <p:cNvSpPr/>
          <p:nvPr/>
        </p:nvSpPr>
        <p:spPr>
          <a:xfrm>
            <a:off x="886968" y="4224528"/>
            <a:ext cx="731520" cy="310896"/>
          </a:xfrm>
          <a:prstGeom prst="roundRect">
            <a:avLst>
              <a:gd name="adj" fmla="val 14706"/>
            </a:avLst>
          </a:prstGeom>
          <a:solidFill>
            <a:schemeClr val="tx2"/>
          </a:solidFill>
          <a:ln w="12700">
            <a:solidFill>
              <a:schemeClr val="tx2"/>
            </a:solidFill>
            <a:prstDash val="solid"/>
          </a:ln>
        </p:spPr>
      </p:sp>
      <p:sp>
        <p:nvSpPr>
          <p:cNvPr id="52" name="block text 1 conv 3x3"/>
          <p:cNvSpPr txBox="1"/>
          <p:nvPr/>
        </p:nvSpPr>
        <p:spPr>
          <a:xfrm>
            <a:off x="886968" y="4224528"/>
            <a:ext cx="731520" cy="310896"/>
          </a:xfrm>
          <a:prstGeom prst="rect">
            <a:avLst/>
          </a:prstGeom>
          <a:noFill/>
          <a:ln/>
        </p:spPr>
        <p:txBody>
          <a:bodyPr wrap="square" lIns="0" tIns="0" rIns="0" bIns="0" rtlCol="0" anchor="ctr"/>
          <a:lstStyle/>
          <a:p>
            <a:pPr algn="ctr" indent="0" marL="0">
              <a:buNone/>
            </a:pPr>
            <a:r>
              <a:rPr lang="en-US" sz="1000" b="1" dirty="0">
                <a:solidFill>
                  <a:schemeClr val="bg1"/>
                </a:solidFill>
              </a:rPr>
              <a:t>conv 3x3</a:t>
            </a:r>
            <a:endParaRPr lang="en-US" sz="1000" dirty="0"/>
          </a:p>
        </p:txBody>
      </p:sp>
      <p:sp>
        <p:nvSpPr>
          <p:cNvPr id="53" name="block arrow 2"/>
          <p:cNvSpPr/>
          <p:nvPr/>
        </p:nvSpPr>
        <p:spPr>
          <a:xfrm>
            <a:off x="1636776" y="4379976"/>
            <a:ext cx="118872" cy="0"/>
          </a:xfrm>
          <a:prstGeom prst="line">
            <a:avLst/>
          </a:prstGeom>
          <a:noFill/>
          <a:ln w="15875">
            <a:solidFill>
              <a:srgbClr val="3A3F4B"/>
            </a:solidFill>
            <a:prstDash val="solid"/>
            <a:tailEnd type="triangle"/>
          </a:ln>
        </p:spPr>
      </p:sp>
      <p:sp>
        <p:nvSpPr>
          <p:cNvPr id="54" name="block 2 BN + ReLU"/>
          <p:cNvSpPr/>
          <p:nvPr/>
        </p:nvSpPr>
        <p:spPr>
          <a:xfrm>
            <a:off x="1773936" y="4224528"/>
            <a:ext cx="822960" cy="310896"/>
          </a:xfrm>
          <a:prstGeom prst="roundRect">
            <a:avLst>
              <a:gd name="adj" fmla="val 14706"/>
            </a:avLst>
          </a:prstGeom>
          <a:solidFill>
            <a:schemeClr val="tx2"/>
          </a:solidFill>
          <a:ln w="12700">
            <a:solidFill>
              <a:schemeClr val="tx2"/>
            </a:solidFill>
            <a:prstDash val="solid"/>
          </a:ln>
        </p:spPr>
      </p:sp>
      <p:sp>
        <p:nvSpPr>
          <p:cNvPr id="55" name="block text 2 BN + ReLU"/>
          <p:cNvSpPr txBox="1"/>
          <p:nvPr/>
        </p:nvSpPr>
        <p:spPr>
          <a:xfrm>
            <a:off x="1773936" y="4224528"/>
            <a:ext cx="822960" cy="310896"/>
          </a:xfrm>
          <a:prstGeom prst="rect">
            <a:avLst/>
          </a:prstGeom>
          <a:noFill/>
          <a:ln/>
        </p:spPr>
        <p:txBody>
          <a:bodyPr wrap="square" lIns="0" tIns="0" rIns="0" bIns="0" rtlCol="0" anchor="ctr"/>
          <a:lstStyle/>
          <a:p>
            <a:pPr algn="ctr" indent="0" marL="0">
              <a:buNone/>
            </a:pPr>
            <a:r>
              <a:rPr lang="en-US" sz="1000" b="1" dirty="0">
                <a:solidFill>
                  <a:schemeClr val="bg1"/>
                </a:solidFill>
              </a:rPr>
              <a:t>BN + ReLU</a:t>
            </a:r>
            <a:endParaRPr lang="en-US" sz="1000" dirty="0"/>
          </a:p>
        </p:txBody>
      </p:sp>
      <p:sp>
        <p:nvSpPr>
          <p:cNvPr id="56" name="block arrow 3"/>
          <p:cNvSpPr/>
          <p:nvPr/>
        </p:nvSpPr>
        <p:spPr>
          <a:xfrm>
            <a:off x="2615184" y="4379976"/>
            <a:ext cx="118872" cy="0"/>
          </a:xfrm>
          <a:prstGeom prst="line">
            <a:avLst/>
          </a:prstGeom>
          <a:noFill/>
          <a:ln w="15875">
            <a:solidFill>
              <a:srgbClr val="3A3F4B"/>
            </a:solidFill>
            <a:prstDash val="solid"/>
            <a:tailEnd type="triangle"/>
          </a:ln>
        </p:spPr>
      </p:sp>
      <p:sp>
        <p:nvSpPr>
          <p:cNvPr id="57" name="block 3 conv 3x3"/>
          <p:cNvSpPr/>
          <p:nvPr/>
        </p:nvSpPr>
        <p:spPr>
          <a:xfrm>
            <a:off x="2752344" y="4224528"/>
            <a:ext cx="731520" cy="310896"/>
          </a:xfrm>
          <a:prstGeom prst="roundRect">
            <a:avLst>
              <a:gd name="adj" fmla="val 14706"/>
            </a:avLst>
          </a:prstGeom>
          <a:solidFill>
            <a:schemeClr val="tx2"/>
          </a:solidFill>
          <a:ln w="12700">
            <a:solidFill>
              <a:schemeClr val="tx2"/>
            </a:solidFill>
            <a:prstDash val="solid"/>
          </a:ln>
        </p:spPr>
      </p:sp>
      <p:sp>
        <p:nvSpPr>
          <p:cNvPr id="58" name="block text 3 conv 3x3"/>
          <p:cNvSpPr txBox="1"/>
          <p:nvPr/>
        </p:nvSpPr>
        <p:spPr>
          <a:xfrm>
            <a:off x="2752344" y="4224528"/>
            <a:ext cx="731520" cy="310896"/>
          </a:xfrm>
          <a:prstGeom prst="rect">
            <a:avLst/>
          </a:prstGeom>
          <a:noFill/>
          <a:ln/>
        </p:spPr>
        <p:txBody>
          <a:bodyPr wrap="square" lIns="0" tIns="0" rIns="0" bIns="0" rtlCol="0" anchor="ctr"/>
          <a:lstStyle/>
          <a:p>
            <a:pPr algn="ctr" indent="0" marL="0">
              <a:buNone/>
            </a:pPr>
            <a:r>
              <a:rPr lang="en-US" sz="1000" b="1" dirty="0">
                <a:solidFill>
                  <a:schemeClr val="bg1"/>
                </a:solidFill>
              </a:rPr>
              <a:t>conv 3x3</a:t>
            </a:r>
            <a:endParaRPr lang="en-US" sz="1000" dirty="0"/>
          </a:p>
        </p:txBody>
      </p:sp>
      <p:sp>
        <p:nvSpPr>
          <p:cNvPr id="59" name="block arrow 4"/>
          <p:cNvSpPr/>
          <p:nvPr/>
        </p:nvSpPr>
        <p:spPr>
          <a:xfrm>
            <a:off x="3502152" y="4379976"/>
            <a:ext cx="118872" cy="0"/>
          </a:xfrm>
          <a:prstGeom prst="line">
            <a:avLst/>
          </a:prstGeom>
          <a:noFill/>
          <a:ln w="15875">
            <a:solidFill>
              <a:srgbClr val="3A3F4B"/>
            </a:solidFill>
            <a:prstDash val="solid"/>
            <a:tailEnd type="triangle"/>
          </a:ln>
        </p:spPr>
      </p:sp>
      <p:sp>
        <p:nvSpPr>
          <p:cNvPr id="60" name="block 4 BN"/>
          <p:cNvSpPr/>
          <p:nvPr/>
        </p:nvSpPr>
        <p:spPr>
          <a:xfrm>
            <a:off x="3639312" y="4224528"/>
            <a:ext cx="457200" cy="310896"/>
          </a:xfrm>
          <a:prstGeom prst="roundRect">
            <a:avLst>
              <a:gd name="adj" fmla="val 14706"/>
            </a:avLst>
          </a:prstGeom>
          <a:solidFill>
            <a:schemeClr val="tx2"/>
          </a:solidFill>
          <a:ln w="12700">
            <a:solidFill>
              <a:schemeClr val="tx2"/>
            </a:solidFill>
            <a:prstDash val="solid"/>
          </a:ln>
        </p:spPr>
      </p:sp>
      <p:sp>
        <p:nvSpPr>
          <p:cNvPr id="61" name="block text 4 BN"/>
          <p:cNvSpPr txBox="1"/>
          <p:nvPr/>
        </p:nvSpPr>
        <p:spPr>
          <a:xfrm>
            <a:off x="3639312" y="4224528"/>
            <a:ext cx="457200" cy="310896"/>
          </a:xfrm>
          <a:prstGeom prst="rect">
            <a:avLst/>
          </a:prstGeom>
          <a:noFill/>
          <a:ln/>
        </p:spPr>
        <p:txBody>
          <a:bodyPr wrap="square" lIns="0" tIns="0" rIns="0" bIns="0" rtlCol="0" anchor="ctr"/>
          <a:lstStyle/>
          <a:p>
            <a:pPr algn="ctr" indent="0" marL="0">
              <a:buNone/>
            </a:pPr>
            <a:r>
              <a:rPr lang="en-US" sz="1000" b="1" dirty="0">
                <a:solidFill>
                  <a:schemeClr val="bg1"/>
                </a:solidFill>
              </a:rPr>
              <a:t>BN</a:t>
            </a:r>
            <a:endParaRPr lang="en-US" sz="1000" dirty="0"/>
          </a:p>
        </p:txBody>
      </p:sp>
      <p:sp>
        <p:nvSpPr>
          <p:cNvPr id="62" name="block arrow 5"/>
          <p:cNvSpPr/>
          <p:nvPr/>
        </p:nvSpPr>
        <p:spPr>
          <a:xfrm>
            <a:off x="4114800" y="4379976"/>
            <a:ext cx="118872" cy="0"/>
          </a:xfrm>
          <a:prstGeom prst="line">
            <a:avLst/>
          </a:prstGeom>
          <a:noFill/>
          <a:ln w="15875">
            <a:solidFill>
              <a:srgbClr val="3A3F4B"/>
            </a:solidFill>
            <a:prstDash val="solid"/>
            <a:tailEnd type="triangle"/>
          </a:ln>
        </p:spPr>
      </p:sp>
      <p:sp>
        <p:nvSpPr>
          <p:cNvPr id="63" name="block add"/>
          <p:cNvSpPr/>
          <p:nvPr/>
        </p:nvSpPr>
        <p:spPr>
          <a:xfrm>
            <a:off x="4251960" y="4224528"/>
            <a:ext cx="310896" cy="310896"/>
          </a:xfrm>
          <a:prstGeom prst="ellipse">
            <a:avLst/>
          </a:prstGeom>
          <a:solidFill>
            <a:schemeClr val="accent1"/>
          </a:solidFill>
          <a:ln w="12700">
            <a:solidFill>
              <a:schemeClr val="accent1"/>
            </a:solidFill>
            <a:prstDash val="solid"/>
          </a:ln>
        </p:spPr>
      </p:sp>
      <p:sp>
        <p:nvSpPr>
          <p:cNvPr id="64" name="block text 5 +"/>
          <p:cNvSpPr txBox="1"/>
          <p:nvPr/>
        </p:nvSpPr>
        <p:spPr>
          <a:xfrm>
            <a:off x="4251960" y="4224528"/>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65" name="block arrow 6"/>
          <p:cNvSpPr/>
          <p:nvPr/>
        </p:nvSpPr>
        <p:spPr>
          <a:xfrm>
            <a:off x="4581144" y="4379976"/>
            <a:ext cx="118872" cy="0"/>
          </a:xfrm>
          <a:prstGeom prst="line">
            <a:avLst/>
          </a:prstGeom>
          <a:noFill/>
          <a:ln w="15875">
            <a:solidFill>
              <a:srgbClr val="3A3F4B"/>
            </a:solidFill>
            <a:prstDash val="solid"/>
            <a:tailEnd type="triangle"/>
          </a:ln>
        </p:spPr>
      </p:sp>
      <p:sp>
        <p:nvSpPr>
          <p:cNvPr id="66" name="block 6 ReLU"/>
          <p:cNvSpPr/>
          <p:nvPr/>
        </p:nvSpPr>
        <p:spPr>
          <a:xfrm>
            <a:off x="4718304" y="4224528"/>
            <a:ext cx="548640" cy="310896"/>
          </a:xfrm>
          <a:prstGeom prst="roundRect">
            <a:avLst>
              <a:gd name="adj" fmla="val 14706"/>
            </a:avLst>
          </a:prstGeom>
          <a:solidFill>
            <a:schemeClr val="tx2"/>
          </a:solidFill>
          <a:ln w="12700">
            <a:solidFill>
              <a:schemeClr val="tx2"/>
            </a:solidFill>
            <a:prstDash val="solid"/>
          </a:ln>
        </p:spPr>
      </p:sp>
      <p:sp>
        <p:nvSpPr>
          <p:cNvPr id="67" name="block text 6 ReLU"/>
          <p:cNvSpPr txBox="1"/>
          <p:nvPr/>
        </p:nvSpPr>
        <p:spPr>
          <a:xfrm>
            <a:off x="4718304" y="4224528"/>
            <a:ext cx="548640" cy="310896"/>
          </a:xfrm>
          <a:prstGeom prst="rect">
            <a:avLst/>
          </a:prstGeom>
          <a:noFill/>
          <a:ln/>
        </p:spPr>
        <p:txBody>
          <a:bodyPr wrap="square" lIns="0" tIns="0" rIns="0" bIns="0" rtlCol="0" anchor="ctr"/>
          <a:lstStyle/>
          <a:p>
            <a:pPr algn="ctr" indent="0" marL="0">
              <a:buNone/>
            </a:pPr>
            <a:r>
              <a:rPr lang="en-US" sz="1000" b="1" dirty="0">
                <a:solidFill>
                  <a:schemeClr val="bg1"/>
                </a:solidFill>
              </a:rPr>
              <a:t>ReLU</a:t>
            </a:r>
            <a:endParaRPr lang="en-US" sz="1000" dirty="0"/>
          </a:p>
        </p:txBody>
      </p:sp>
      <p:sp>
        <p:nvSpPr>
          <p:cNvPr id="68" name="block arrow 7"/>
          <p:cNvSpPr/>
          <p:nvPr/>
        </p:nvSpPr>
        <p:spPr>
          <a:xfrm>
            <a:off x="5285232" y="4379976"/>
            <a:ext cx="118872" cy="0"/>
          </a:xfrm>
          <a:prstGeom prst="line">
            <a:avLst/>
          </a:prstGeom>
          <a:noFill/>
          <a:ln w="15875">
            <a:solidFill>
              <a:srgbClr val="3A3F4B"/>
            </a:solidFill>
            <a:prstDash val="solid"/>
            <a:tailEnd type="triangle"/>
          </a:ln>
        </p:spPr>
      </p:sp>
      <p:sp>
        <p:nvSpPr>
          <p:cNvPr id="69" name="block text 7 out"/>
          <p:cNvSpPr txBox="1"/>
          <p:nvPr/>
        </p:nvSpPr>
        <p:spPr>
          <a:xfrm>
            <a:off x="5422392" y="4224528"/>
            <a:ext cx="320040" cy="310896"/>
          </a:xfrm>
          <a:prstGeom prst="rect">
            <a:avLst/>
          </a:prstGeom>
          <a:noFill/>
          <a:ln/>
        </p:spPr>
        <p:txBody>
          <a:bodyPr wrap="square" lIns="0" tIns="0" rIns="0" bIns="0" rtlCol="0" anchor="ctr"/>
          <a:lstStyle/>
          <a:p>
            <a:pPr algn="ctr" indent="0" marL="0">
              <a:buNone/>
            </a:pPr>
            <a:r>
              <a:rPr lang="en-US" sz="1000" b="1" dirty="0">
                <a:solidFill>
                  <a:schemeClr val="tx2"/>
                </a:solidFill>
              </a:rPr>
              <a:t>out</a:t>
            </a:r>
            <a:endParaRPr lang="en-US" sz="1000" dirty="0"/>
          </a:p>
        </p:txBody>
      </p:sp>
      <p:sp>
        <p:nvSpPr>
          <p:cNvPr id="70" name="shortcut up"/>
          <p:cNvSpPr/>
          <p:nvPr/>
        </p:nvSpPr>
        <p:spPr>
          <a:xfrm>
            <a:off x="594360" y="3959352"/>
            <a:ext cx="0" cy="265176"/>
          </a:xfrm>
          <a:prstGeom prst="line">
            <a:avLst/>
          </a:prstGeom>
          <a:noFill/>
          <a:ln w="19050">
            <a:solidFill>
              <a:schemeClr val="accent1"/>
            </a:solidFill>
            <a:prstDash val="solid"/>
          </a:ln>
        </p:spPr>
      </p:sp>
      <p:sp>
        <p:nvSpPr>
          <p:cNvPr id="71" name="shortcut across"/>
          <p:cNvSpPr/>
          <p:nvPr/>
        </p:nvSpPr>
        <p:spPr>
          <a:xfrm>
            <a:off x="594360" y="3959352"/>
            <a:ext cx="3813048" cy="0"/>
          </a:xfrm>
          <a:prstGeom prst="line">
            <a:avLst/>
          </a:prstGeom>
          <a:noFill/>
          <a:ln w="19050">
            <a:solidFill>
              <a:schemeClr val="accent1"/>
            </a:solidFill>
            <a:prstDash val="solid"/>
          </a:ln>
        </p:spPr>
      </p:sp>
      <p:sp>
        <p:nvSpPr>
          <p:cNvPr id="72" name="shortcut down"/>
          <p:cNvSpPr/>
          <p:nvPr/>
        </p:nvSpPr>
        <p:spPr>
          <a:xfrm>
            <a:off x="4407408" y="3959352"/>
            <a:ext cx="0" cy="265176"/>
          </a:xfrm>
          <a:prstGeom prst="line">
            <a:avLst/>
          </a:prstGeom>
          <a:noFill/>
          <a:ln w="19050">
            <a:solidFill>
              <a:schemeClr val="accent1"/>
            </a:solidFill>
            <a:prstDash val="solid"/>
            <a:tailEnd type="triangle"/>
          </a:ln>
        </p:spPr>
      </p:sp>
      <p:sp>
        <p:nvSpPr>
          <p:cNvPr id="73" name="shortcut label"/>
          <p:cNvSpPr txBox="1"/>
          <p:nvPr/>
        </p:nvSpPr>
        <p:spPr>
          <a:xfrm>
            <a:off x="594360" y="3758184"/>
            <a:ext cx="3813048" cy="182880"/>
          </a:xfrm>
          <a:prstGeom prst="rect">
            <a:avLst/>
          </a:prstGeom>
          <a:noFill/>
          <a:ln/>
        </p:spPr>
        <p:txBody>
          <a:bodyPr wrap="square" lIns="0" tIns="0" rIns="0" bIns="0" rtlCol="0" anchor="ctr"/>
          <a:lstStyle/>
          <a:p>
            <a:pPr algn="ctr" indent="0" marL="0">
              <a:buNone/>
            </a:pPr>
            <a:r>
              <a:rPr lang="en-US" sz="900" i="1" dirty="0">
                <a:solidFill>
                  <a:schemeClr val="accent1"/>
                </a:solidFill>
              </a:rPr>
              <a:t>shortcut: the input x is added back</a:t>
            </a:r>
            <a:endParaRPr lang="en-US" sz="900" dirty="0"/>
          </a:p>
        </p:txBody>
      </p:sp>
      <p:sp>
        <p:nvSpPr>
          <p:cNvPr id="74" name="residual text"/>
          <p:cNvSpPr txBox="1"/>
          <p:nvPr/>
        </p:nvSpPr>
        <p:spPr>
          <a:xfrm>
            <a:off x="5897880" y="3593592"/>
            <a:ext cx="2788920" cy="1051560"/>
          </a:xfrm>
          <a:prstGeom prst="rect">
            <a:avLst/>
          </a:prstGeom>
          <a:noFill/>
          <a:ln/>
        </p:spPr>
        <p:txBody>
          <a:bodyPr wrap="square" lIns="0" tIns="0" rIns="0" bIns="0" rtlCol="0" anchor="t"/>
          <a:lstStyle/>
          <a:p>
            <a:pPr indent="0" marL="0">
              <a:buNone/>
            </a:pPr>
            <a:r>
              <a:rPr lang="en-US" sz="1100" b="1" dirty="0">
                <a:solidFill>
                  <a:schemeClr val="tx2"/>
                </a:solidFill>
              </a:rPr>
              <a:t>Why "Res" (residual): </a:t>
            </a:r>
            <a:pPr indent="0" marL="0">
              <a:buNone/>
            </a:pPr>
            <a:r>
              <a:rPr lang="en-US" sz="1100" dirty="0">
                <a:solidFill>
                  <a:schemeClr val="tx1"/>
                </a:solidFill>
              </a:rPr>
              <a:t>each block only learns a correction added to its input. The gradient flows back through the shortcuts, so all the layers learn. 18 layers = conv1 + 16 convolutions in the blocks + the last layer.</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why pretrained? ResNet18 from zero</a:t>
            </a:r>
            <a:endParaRPr lang="en-US" sz="3000" dirty="0"/>
          </a:p>
        </p:txBody>
      </p:sp>
      <p:graphicFrame>
        <p:nvGraphicFramePr>
          <p:cNvPr id="3" name="chart from zero"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card -26.5"/>
          <p:cNvSpPr/>
          <p:nvPr/>
        </p:nvSpPr>
        <p:spPr>
          <a:xfrm>
            <a:off x="5532120" y="1051560"/>
            <a:ext cx="3154680" cy="1417320"/>
          </a:xfrm>
          <a:prstGeom prst="roundRect">
            <a:avLst>
              <a:gd name="adj" fmla="val 5161"/>
            </a:avLst>
          </a:prstGeom>
          <a:solidFill>
            <a:schemeClr val="accent1"/>
          </a:solidFill>
          <a:ln w="12700">
            <a:solidFill>
              <a:schemeClr val="accent1"/>
            </a:solidFill>
            <a:prstDash val="solid"/>
          </a:ln>
        </p:spPr>
      </p:sp>
      <p:sp>
        <p:nvSpPr>
          <p:cNvPr id="5" name="value -26.5"/>
          <p:cNvSpPr txBox="1"/>
          <p:nvPr/>
        </p:nvSpPr>
        <p:spPr>
          <a:xfrm>
            <a:off x="5715000" y="1188720"/>
            <a:ext cx="2788920" cy="73152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-26.5</a:t>
            </a:r>
            <a:endParaRPr lang="en-US" sz="3600" dirty="0"/>
          </a:p>
        </p:txBody>
      </p:sp>
      <p:sp>
        <p:nvSpPr>
          <p:cNvPr id="6" name="caption -26.5"/>
          <p:cNvSpPr txBox="1"/>
          <p:nvPr/>
        </p:nvSpPr>
        <p:spPr>
          <a:xfrm>
            <a:off x="5715000" y="1965960"/>
            <a:ext cx="2788920" cy="365760"/>
          </a:xfrm>
          <a:prstGeom prst="rect">
            <a:avLst/>
          </a:prstGeom>
          <a:noFill/>
          <a:ln/>
        </p:spPr>
        <p:txBody>
          <a:bodyPr wrap="square" lIns="0" tIns="0" rIns="0" bIns="0" rtlCol="0" anchor="t"/>
          <a:lstStyle/>
          <a:p>
            <a:pPr indent="0" marL="0">
              <a:buNone/>
            </a:pPr>
            <a:r>
              <a:rPr lang="en-US" sz="1200" dirty="0">
                <a:solidFill>
                  <a:schemeClr val="bg1"/>
                </a:solidFill>
              </a:rPr>
              <a:t>points without the pretraining: same network, same paintings</a:t>
            </a:r>
            <a:endParaRPr lang="en-US" sz="1200" dirty="0"/>
          </a:p>
        </p:txBody>
      </p:sp>
      <p:sp>
        <p:nvSpPr>
          <p:cNvPr id="7" name="note How we trained it"/>
          <p:cNvSpPr/>
          <p:nvPr/>
        </p:nvSpPr>
        <p:spPr>
          <a:xfrm>
            <a:off x="5532120" y="2606040"/>
            <a:ext cx="3154680" cy="960120"/>
          </a:xfrm>
          <a:prstGeom prst="roundRect">
            <a:avLst>
              <a:gd name="adj" fmla="val 7619"/>
            </a:avLst>
          </a:prstGeom>
          <a:solidFill>
            <a:schemeClr val="bg2"/>
          </a:solidFill>
          <a:ln w="12700">
            <a:solidFill>
              <a:schemeClr val="bg2"/>
            </a:solidFill>
            <a:prstDash val="solid"/>
          </a:ln>
        </p:spPr>
      </p:sp>
      <p:sp>
        <p:nvSpPr>
          <p:cNvPr id="8" name="text How we trained it"/>
          <p:cNvSpPr txBox="1"/>
          <p:nvPr/>
        </p:nvSpPr>
        <p:spPr>
          <a:xfrm>
            <a:off x="5696712" y="2715768"/>
            <a:ext cx="2825496" cy="740664"/>
          </a:xfrm>
          <a:prstGeom prst="rect">
            <a:avLst/>
          </a:prstGeom>
          <a:noFill/>
          <a:ln/>
        </p:spPr>
        <p:txBody>
          <a:bodyPr wrap="square" lIns="0" tIns="0" rIns="0" bIns="0" rtlCol="0" anchor="t"/>
          <a:lstStyle/>
          <a:p>
            <a:pPr indent="0" marL="0">
              <a:spcAft>
                <a:spcPts val="400"/>
              </a:spcAft>
              <a:buNone/>
            </a:pPr>
            <a:r>
              <a:rPr lang="en-US" sz="1300" b="1" dirty="0">
                <a:solidFill>
                  <a:schemeClr val="tx2"/>
                </a:solidFill>
              </a:rPr>
              <a:t>How we trained it</a:t>
            </a:r>
            <a:endParaRPr lang="en-US" sz="1300" dirty="0"/>
          </a:p>
          <a:p>
            <a:pPr indent="0" marL="0">
              <a:spcAft>
                <a:spcPts val="400"/>
              </a:spcAft>
              <a:buNone/>
            </a:pPr>
            <a:r>
              <a:rPr lang="en-US" sz="1100" dirty="0">
                <a:solidFill>
                  <a:schemeClr val="tx1"/>
                </a:solidFill>
              </a:rPr>
              <a:t>Random weights, every layer learns (11.2 M). Crop + flip, AdamW, 30 epochs, 24 min. One seed.</a:t>
            </a:r>
            <a:endParaRPr lang="en-US" sz="1300" dirty="0"/>
          </a:p>
        </p:txBody>
      </p:sp>
      <p:sp>
        <p:nvSpPr>
          <p:cNvPr id="9" name="note What it shows"/>
          <p:cNvSpPr/>
          <p:nvPr/>
        </p:nvSpPr>
        <p:spPr>
          <a:xfrm>
            <a:off x="5532120" y="3657600"/>
            <a:ext cx="3154680" cy="960120"/>
          </a:xfrm>
          <a:prstGeom prst="roundRect">
            <a:avLst>
              <a:gd name="adj" fmla="val 7619"/>
            </a:avLst>
          </a:prstGeom>
          <a:solidFill>
            <a:schemeClr val="bg2"/>
          </a:solidFill>
          <a:ln w="12700">
            <a:solidFill>
              <a:schemeClr val="bg2"/>
            </a:solidFill>
            <a:prstDash val="solid"/>
          </a:ln>
        </p:spPr>
      </p:sp>
      <p:sp>
        <p:nvSpPr>
          <p:cNvPr id="10" name="text What it shows"/>
          <p:cNvSpPr txBox="1"/>
          <p:nvPr/>
        </p:nvSpPr>
        <p:spPr>
          <a:xfrm>
            <a:off x="5696712" y="3767328"/>
            <a:ext cx="2825496" cy="740664"/>
          </a:xfrm>
          <a:prstGeom prst="rect">
            <a:avLst/>
          </a:prstGeom>
          <a:noFill/>
          <a:ln/>
        </p:spPr>
        <p:txBody>
          <a:bodyPr wrap="square" lIns="0" tIns="0" rIns="0" bIns="0" rtlCol="0" anchor="t"/>
          <a:lstStyle/>
          <a:p>
            <a:pPr indent="0" marL="0">
              <a:spcAft>
                <a:spcPts val="400"/>
              </a:spcAft>
              <a:buNone/>
            </a:pPr>
            <a:r>
              <a:rPr lang="en-US" sz="1300" b="1" dirty="0">
                <a:solidFill>
                  <a:schemeClr val="tx2"/>
                </a:solidFill>
              </a:rPr>
              <a:t>What it shows</a:t>
            </a:r>
            <a:endParaRPr lang="en-US" sz="1300" dirty="0"/>
          </a:p>
          <a:p>
            <a:pPr indent="0" marL="0">
              <a:spcAft>
                <a:spcPts val="400"/>
              </a:spcAft>
              <a:buNone/>
            </a:pPr>
            <a:r>
              <a:rPr lang="en-US" sz="1100" dirty="0">
                <a:solidFill>
                  <a:schemeClr val="tx1"/>
                </a:solidFill>
              </a:rPr>
              <a:t>Better than our MLP, but only like the random forest: the 1.2 million ImageNet photos make the difference.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Museum Guide">
  <a:themeElements>
    <a:clrScheme name="Museum Guide">
      <a:dk1>
        <a:srgbClr val="1B1B1F"/>
      </a:dk1>
      <a:lt1>
        <a:srgbClr val="FFFFFF"/>
      </a:lt1>
      <a:dk2>
        <a:srgbClr val="1C2433"/>
      </a:dk2>
      <a:lt2>
        <a:srgbClr val="F2F3F5"/>
      </a:lt2>
      <a:accent1>
        <a:srgbClr val="2A78D6"/>
      </a:accent1>
      <a:accent2>
        <a:srgbClr val="EB6834"/>
      </a:accent2>
      <a:accent3>
        <a:srgbClr val="1BAF7A"/>
      </a:accent3>
      <a:accent4>
        <a:srgbClr val="EDA100"/>
      </a:accent4>
      <a:accent5>
        <a:srgbClr val="E87BA4"/>
      </a:accent5>
      <a:accent6>
        <a:srgbClr val="6250D6"/>
      </a:accent6>
      <a:hlink>
        <a:srgbClr val="2A78D6"/>
      </a:hlink>
      <a:folHlink>
        <a:srgbClr val="6250D6"/>
      </a:folHlink>
    </a:clrScheme>
    <a:fontScheme name="Museum Gu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 a neural network worth it on a museum kiosk?</dc:title>
  <dc:subject>PptxGenJS Presentation</dc:subject>
  <dc:creator>PptxGenJS</dc:creator>
  <cp:lastModifiedBy>PptxGenJS</cp:lastModifiedBy>
  <cp:revision>1</cp:revision>
  <dcterms:created xsi:type="dcterms:W3CDTF">2026-10-21T14:22:51Z</dcterms:created>
  <dcterms:modified xsi:type="dcterms:W3CDTF">2026-10-21T14:22:51Z</dcterms:modified>
</cp:coreProperties>
</file>