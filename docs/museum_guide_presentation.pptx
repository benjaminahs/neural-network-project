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faf8f787-289d-ae75-eee1-6a401637fd96}">
          <p14:sldIdLst>
            <p14:sldId id="256"/>
            <p14:sldId id="257"/>
            <p14:sldId id="258"/>
          </p14:sldIdLst>
        </p14:section>
        <p14:section name="Our MLP" id="{e57fc2af-f9c6-4474-24e8-bcf431fe81c6}">
          <p14:sldIdLst>
            <p14:sldId id="259"/>
            <p14:sldId id="260"/>
            <p14:sldId id="261"/>
          </p14:sldIdLst>
        </p14:section>
        <p14:section name="Pretrained ResNet" id="{13f3a775-050f-8897-97f1-4185670fabd1}">
          <p14:sldIdLst>
            <p14:sldId id="262"/>
            <p14:sldId id="263"/>
          </p14:sldIdLst>
        </p14:section>
        <p14:section name="The answer" id="{14725e58-3a78-b739-43bd-2a21ce60ea15}">
          <p14:sldIdLst>
            <p14:sldId id="264"/>
            <p14:sldId id="265"/>
            <p14:sldId id="266"/>
          </p14:sldIdLst>
        </p14:section>
        <p14:section name="Backup" id="{f7c9bfa2-86ca-b205-c24a-f89a2e7228bc}">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Our museum wants a guide on visitors' phones and on kiosks in the galleries. A visitor points the camera at a painting, and the guide tells them its style and the story of that movement. Here are the five styles we chose: Baroque, Cubism, Impressionism, Pop Art and Ukiyo-e. The kiosks have small CPUs, the team is small and the budget is limited. So the director asks one question: is a neural network worth it, or would a simpler classical model do the job? In the next ten minutes we answer with measured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answer first. On 220 paintings that no model saw before, a pretrained ResNet18, frozen, with only one trained linear layer, reaches 83 percent. The best classical model, a random forest on hand-made colour and texture features, reaches 67 percent. Our own MLP, trained from zero on pixels, reaches 41 percent. And the ResNet costs 53 milliseconds per photo on one CPU thread, 45 megabytes, and 17 seconds of training on a laptop, with no GPU. So yes, a neural network is worth it, but a pretrained one that we reuse. Now let me show how we got these numbers, and why you can trust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1 500 WikiArt paintings, 300 per style. We split them into 1 061 to train, 219 to validate and 220 to test, with the same share of each style. One more rule: all the paintings of a known painter go to the same part. With a random split, 23 of our 32 known painters would be in two parts, and a model could recognise the painter instead of the style. With our split, zero. The test set stayed locked until the very end: we used it once. Later I will show that this rule changes the score by 11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network of the course: a multi-layer perceptron built from nn.Linear layers, 12 288 pixel inputs, two hidden layers, 6.4 million parameters. Before trusting it, we ran two checks. The first loss must be close to ln 5, the loss of a model that knows nothing: we had to shrink the last layer to get 1.59. And the model must learn one small batch by heart: it does, 100 percent. Then the real training: 99.7 percent on the training images, but only 40.6 percent on validation, and the validation loss rises after epoch 3. This is overfitting: 6 000 parameters per training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then looked inside the network during training: the gradient of each layer and the share of dead neurons. The gradient reaches every layer and only 4 percent of neurons are dead, so the training is healthy: the problem is overfitting. A learning-rate sweep chose 0.0001. Then we tested the tools of session 6, each with 3 seeds. Alone, each one helps a little. All together, they take the MLP from 38.8 to 45.5 percent, and the gap between train and validation from 0.61 to 0.12. But the MLP finds only 7 percent of the Cubist paintings: it sees colours, not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ready for real problems, we broke the training four times on purpose. A learning rate too big killed 99.6 percent of the neurons of layer 2. A forgotten zero_grad made the gradients pile up, 26 times bigger after two epochs. Raw pixels gave a first loss of 16 instead of 1.6. And eight sigmoid layers gave a vanishing gradient: the first layer gets a millionth of the gradient of the last one. The key lesson: two of these bugs show the same symptom, a loss stuck at ln 5. Only the monitoring, dead neurons or gradient per layer, tells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network that can see shapes is a convolutional network. With 1 061 images we cannot train one from zero, so we reuse ResNet18, trained on 1.2 million ImageNet photos. We freeze it: each painting becomes 512 numbers, and we train only one linear layer, 2 565 weights, in 0.4 seconds. Result: 88.1 percent on validation, almost twice our best MLP. Fine-tuning the last block, 8.4 million weights, does not help here: it overfits. We also measured two silent bugs: forgetting model.eval() drops the score to 12.8 percent, and forgetting the ImageNet normalisation costs 6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painter rule from the beginning. To measure it fairly, we scored the same images twice with cross-validation, changing only one thing: whether the model saw other paintings by the same painter. On images by known painters, seeing the painter gives 83.7 percent instead of 72.3: 11 points of pure flattery. On the control group, unknown painters, nothing changes. So the model partly recognises painters, and a random split would have given the director a score that is too optimistic. Our split by painter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test, measured once on 220 new paintings. The pretrained models are at the top, from 83 to 88 percent. The best classical model reaches 67 percent, and our MLP 41 percent. The gap between our chosen model and the random forest is 16 points, and a paired bootstrap on the same paintings gives an interval from 9 to 24 points: it is not luck. One honest note: the fine-tuned model is first on test, but it was second on validation. With 220 images a score moves by about 5 points, so we keep the model we chose before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it affordable on a kiosk? We timed one photo at a time, from the image to the answer. The ResNet takes 53 milliseconds on one CPU thread and 26 with four threads. Even on a kiosk four times slower, that is a fifth of a second. The model file is 45 megabytes, and training takes 17 seconds on a laptop, without a GPU. When the collection changes, we only compute the new features and retrain the last layer,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recommendation: deploy a frozen ResNet18 with a linear head. It is the accurate choice: one visitor in six gets a wrong style, against one in three with the best classical model. It is fast enough, and cheap to maintain for a small team. We do not recommend our MLP on pixels, a classical model alone, or fine-tuning for now. Before the launch, we must test real photos taken at the kiosks, add more styles, and measure the real hardware. Everything is reproducible in our Git repository.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answer: yes, a pretrained network</a:t>
            </a:r>
            <a:endParaRPr lang="en-US" sz="3000" dirty="0"/>
          </a:p>
        </p:txBody>
      </p:sp>
      <p:sp>
        <p:nvSpPr>
          <p:cNvPr id="3" name="subtitle answer"/>
          <p:cNvSpPr txBox="1"/>
          <p:nvPr/>
        </p:nvSpPr>
        <p:spPr>
          <a:xfrm>
            <a:off x="457200" y="960120"/>
            <a:ext cx="8229600" cy="320040"/>
          </a:xfrm>
          <a:prstGeom prst="rect">
            <a:avLst/>
          </a:prstGeom>
          <a:noFill/>
          <a:ln/>
        </p:spPr>
        <p:txBody>
          <a:bodyPr wrap="square" lIns="0" tIns="0" rIns="0" bIns="0" rtlCol="0" anchor="ctr"/>
          <a:lstStyle/>
          <a:p>
            <a:pPr indent="0" marL="0">
              <a:buNone/>
            </a:pPr>
            <a:r>
              <a:rPr lang="en-US" sz="1400" dirty="0">
                <a:solidFill>
                  <a:srgbClr val="5F6473"/>
                </a:solidFill>
              </a:rPr>
              <a:t>Accuracy on 220 paintings that no model saw before (test set, measured once)</a:t>
            </a:r>
            <a:endParaRPr lang="en-US" sz="1400" dirty="0"/>
          </a:p>
        </p:txBody>
      </p:sp>
      <p:sp>
        <p:nvSpPr>
          <p:cNvPr id="4" name="card 83.0 %"/>
          <p:cNvSpPr/>
          <p:nvPr/>
        </p:nvSpPr>
        <p:spPr>
          <a:xfrm>
            <a:off x="457200" y="1417320"/>
            <a:ext cx="2606040" cy="2011680"/>
          </a:xfrm>
          <a:prstGeom prst="roundRect">
            <a:avLst>
              <a:gd name="adj" fmla="val 3636"/>
            </a:avLst>
          </a:prstGeom>
          <a:solidFill>
            <a:schemeClr val="accent1"/>
          </a:solidFill>
          <a:ln w="12700">
            <a:solidFill>
              <a:schemeClr val="accent1"/>
            </a:solidFill>
            <a:prstDash val="solid"/>
          </a:ln>
        </p:spPr>
      </p:sp>
      <p:sp>
        <p:nvSpPr>
          <p:cNvPr id="5" name="value 83.0 %"/>
          <p:cNvSpPr txBox="1"/>
          <p:nvPr/>
        </p:nvSpPr>
        <p:spPr>
          <a:xfrm>
            <a:off x="640080" y="1554480"/>
            <a:ext cx="2240280" cy="73152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83.0 %</a:t>
            </a:r>
            <a:endParaRPr lang="en-US" sz="4400" dirty="0"/>
          </a:p>
        </p:txBody>
      </p:sp>
      <p:sp>
        <p:nvSpPr>
          <p:cNvPr id="6" name="caption 83.0 %"/>
          <p:cNvSpPr txBox="1"/>
          <p:nvPr/>
        </p:nvSpPr>
        <p:spPr>
          <a:xfrm>
            <a:off x="640080" y="2331720"/>
            <a:ext cx="2240280" cy="960120"/>
          </a:xfrm>
          <a:prstGeom prst="rect">
            <a:avLst/>
          </a:prstGeom>
          <a:noFill/>
          <a:ln/>
        </p:spPr>
        <p:txBody>
          <a:bodyPr wrap="square" lIns="0" tIns="0" rIns="0" bIns="0" rtlCol="0" anchor="t"/>
          <a:lstStyle/>
          <a:p>
            <a:pPr indent="0" marL="0">
              <a:buNone/>
            </a:pPr>
            <a:r>
              <a:rPr lang="en-US" sz="1400" dirty="0">
                <a:solidFill>
                  <a:schemeClr val="bg1"/>
                </a:solidFill>
              </a:rPr>
              <a:t>Pretrained ResNet18, frozen, one trained linear layer</a:t>
            </a:r>
            <a:endParaRPr lang="en-US" sz="1400" dirty="0"/>
          </a:p>
        </p:txBody>
      </p:sp>
      <p:sp>
        <p:nvSpPr>
          <p:cNvPr id="7" name="card 67.3 %"/>
          <p:cNvSpPr/>
          <p:nvPr/>
        </p:nvSpPr>
        <p:spPr>
          <a:xfrm>
            <a:off x="3268980" y="1417320"/>
            <a:ext cx="2606040" cy="2011680"/>
          </a:xfrm>
          <a:prstGeom prst="roundRect">
            <a:avLst>
              <a:gd name="adj" fmla="val 3636"/>
            </a:avLst>
          </a:prstGeom>
          <a:solidFill>
            <a:schemeClr val="bg2"/>
          </a:solidFill>
          <a:ln w="12700">
            <a:solidFill>
              <a:schemeClr val="bg2"/>
            </a:solidFill>
            <a:prstDash val="solid"/>
          </a:ln>
        </p:spPr>
      </p:sp>
      <p:sp>
        <p:nvSpPr>
          <p:cNvPr id="8" name="value 67.3 %"/>
          <p:cNvSpPr txBox="1"/>
          <p:nvPr/>
        </p:nvSpPr>
        <p:spPr>
          <a:xfrm>
            <a:off x="345186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67.3 %</a:t>
            </a:r>
            <a:endParaRPr lang="en-US" sz="4400" dirty="0"/>
          </a:p>
        </p:txBody>
      </p:sp>
      <p:sp>
        <p:nvSpPr>
          <p:cNvPr id="9" name="caption 67.3 %"/>
          <p:cNvSpPr txBox="1"/>
          <p:nvPr/>
        </p:nvSpPr>
        <p:spPr>
          <a:xfrm>
            <a:off x="345186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Best classical model: random forest on colour and texture features</a:t>
            </a:r>
            <a:endParaRPr lang="en-US" sz="1400" dirty="0"/>
          </a:p>
        </p:txBody>
      </p:sp>
      <p:sp>
        <p:nvSpPr>
          <p:cNvPr id="10" name="card 41.4 %"/>
          <p:cNvSpPr/>
          <p:nvPr/>
        </p:nvSpPr>
        <p:spPr>
          <a:xfrm>
            <a:off x="6080760" y="1417320"/>
            <a:ext cx="2606040" cy="2011680"/>
          </a:xfrm>
          <a:prstGeom prst="roundRect">
            <a:avLst>
              <a:gd name="adj" fmla="val 3636"/>
            </a:avLst>
          </a:prstGeom>
          <a:solidFill>
            <a:schemeClr val="bg2"/>
          </a:solidFill>
          <a:ln w="12700">
            <a:solidFill>
              <a:schemeClr val="bg2"/>
            </a:solidFill>
            <a:prstDash val="solid"/>
          </a:ln>
        </p:spPr>
      </p:sp>
      <p:sp>
        <p:nvSpPr>
          <p:cNvPr id="11" name="value 41.4 %"/>
          <p:cNvSpPr txBox="1"/>
          <p:nvPr/>
        </p:nvSpPr>
        <p:spPr>
          <a:xfrm>
            <a:off x="6263640" y="1554480"/>
            <a:ext cx="2240280" cy="73152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41.4 %</a:t>
            </a:r>
            <a:endParaRPr lang="en-US" sz="4400" dirty="0"/>
          </a:p>
        </p:txBody>
      </p:sp>
      <p:sp>
        <p:nvSpPr>
          <p:cNvPr id="12" name="caption 41.4 %"/>
          <p:cNvSpPr txBox="1"/>
          <p:nvPr/>
        </p:nvSpPr>
        <p:spPr>
          <a:xfrm>
            <a:off x="6263640" y="2331720"/>
            <a:ext cx="2240280" cy="960120"/>
          </a:xfrm>
          <a:prstGeom prst="rect">
            <a:avLst/>
          </a:prstGeom>
          <a:noFill/>
          <a:ln/>
        </p:spPr>
        <p:txBody>
          <a:bodyPr wrap="square" lIns="0" tIns="0" rIns="0" bIns="0" rtlCol="0" anchor="t"/>
          <a:lstStyle/>
          <a:p>
            <a:pPr indent="0" marL="0">
              <a:buNone/>
            </a:pPr>
            <a:r>
              <a:rPr lang="en-US" sz="1400" dirty="0">
                <a:solidFill>
                  <a:schemeClr val="tx1"/>
                </a:solidFill>
              </a:rPr>
              <a:t>Our MLP, trained from zero on the pixels</a:t>
            </a:r>
            <a:endParaRPr lang="en-US" sz="1400" dirty="0"/>
          </a:p>
        </p:txBody>
      </p:sp>
      <p:sp>
        <p:nvSpPr>
          <p:cNvPr id="13" name="note And it is affordable"/>
          <p:cNvSpPr/>
          <p:nvPr/>
        </p:nvSpPr>
        <p:spPr>
          <a:xfrm>
            <a:off x="457200" y="3611880"/>
            <a:ext cx="8229600" cy="960120"/>
          </a:xfrm>
          <a:prstGeom prst="roundRect">
            <a:avLst>
              <a:gd name="adj" fmla="val 7619"/>
            </a:avLst>
          </a:prstGeom>
          <a:solidFill>
            <a:schemeClr val="bg2"/>
          </a:solidFill>
          <a:ln w="12700">
            <a:solidFill>
              <a:schemeClr val="bg2"/>
            </a:solidFill>
            <a:prstDash val="solid"/>
          </a:ln>
        </p:spPr>
      </p:sp>
      <p:sp>
        <p:nvSpPr>
          <p:cNvPr id="14" name="text And it is affordable"/>
          <p:cNvSpPr txBox="1"/>
          <p:nvPr/>
        </p:nvSpPr>
        <p:spPr>
          <a:xfrm>
            <a:off x="621792" y="3721608"/>
            <a:ext cx="790041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And it is affordable</a:t>
            </a:r>
            <a:endParaRPr lang="en-US" sz="1500" dirty="0"/>
          </a:p>
          <a:p>
            <a:pPr indent="0" marL="0">
              <a:spcAft>
                <a:spcPts val="400"/>
              </a:spcAft>
              <a:buNone/>
            </a:pPr>
            <a:r>
              <a:rPr lang="en-US" sz="1400" dirty="0">
                <a:solidFill>
                  <a:schemeClr val="tx1"/>
                </a:solidFill>
              </a:rPr>
              <a:t>53 ms per photo on one CPU thread · 45 MB · 17 s of training on a laptop · no GPU</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4"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5"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6"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7"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8"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9"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0"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1"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2"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3"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4"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pic>
        <p:nvPicPr>
          <p:cNvPr id="3"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4"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5"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6"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7"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8"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9"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graphicFrame>
        <p:nvGraphicFramePr>
          <p:cNvPr id="3"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Four broken runs, four signatures</a:t>
            </a:r>
            <a:endParaRPr lang="en-US" sz="3000" dirty="0"/>
          </a:p>
        </p:txBody>
      </p:sp>
      <p:graphicFrame>
        <p:nvGraphicFramePr>
          <p:cNvPr id="7"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graphicFrame>
        <p:nvGraphicFramePr>
          <p:cNvPr id="3"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4"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5"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6"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7"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8" name="note Two silent bugs"/>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9" name="text Two silent bugs"/>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Two silent bugs</a:t>
            </a:r>
            <a:endParaRPr lang="en-US" sz="1500" dirty="0"/>
          </a:p>
          <a:p>
            <a:pPr indent="0" marL="0">
              <a:spcAft>
                <a:spcPts val="400"/>
              </a:spcAft>
              <a:buNone/>
            </a:pPr>
            <a:r>
              <a:rPr lang="en-US" sz="1400" dirty="0">
                <a:solidFill>
                  <a:schemeClr val="tx1"/>
                </a:solidFill>
              </a:rPr>
              <a:t>No model.eval(): 12.8 %. No ImageNet normalisation: 81.7 %.</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graphicFrame>
        <p:nvGraphicFramePr>
          <p:cNvPr id="3"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4"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5"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6"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7"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8"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4"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5"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6"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7"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8"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9"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0"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1"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2"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3"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4"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5"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6"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Deploy a frozen ResNet18 + linear head</a:t>
            </a:r>
            <a:endParaRPr lang="en-US" sz="3000" dirty="0"/>
          </a:p>
        </p:txBody>
      </p:sp>
      <p:sp>
        <p:nvSpPr>
          <p:cNvPr id="3" name="column Why"/>
          <p:cNvSpPr/>
          <p:nvPr/>
        </p:nvSpPr>
        <p:spPr>
          <a:xfrm>
            <a:off x="457200" y="1143000"/>
            <a:ext cx="2560320" cy="3154680"/>
          </a:xfrm>
          <a:prstGeom prst="roundRect">
            <a:avLst>
              <a:gd name="adj" fmla="val 2857"/>
            </a:avLst>
          </a:prstGeom>
          <a:solidFill>
            <a:srgbClr val="2A3448"/>
          </a:solidFill>
          <a:ln w="12700">
            <a:solidFill>
              <a:srgbClr val="2A3448"/>
            </a:solidFill>
            <a:prstDash val="solid"/>
          </a:ln>
        </p:spPr>
      </p:sp>
      <p:sp>
        <p:nvSpPr>
          <p:cNvPr id="4" name="head Why"/>
          <p:cNvSpPr txBox="1"/>
          <p:nvPr/>
        </p:nvSpPr>
        <p:spPr>
          <a:xfrm>
            <a:off x="640080" y="1280160"/>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5" name="items Why"/>
          <p:cNvSpPr txBox="1"/>
          <p:nvPr/>
        </p:nvSpPr>
        <p:spPr>
          <a:xfrm>
            <a:off x="64008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6" name="column Not now"/>
          <p:cNvSpPr/>
          <p:nvPr/>
        </p:nvSpPr>
        <p:spPr>
          <a:xfrm>
            <a:off x="3291840" y="1143000"/>
            <a:ext cx="2560320" cy="3154680"/>
          </a:xfrm>
          <a:prstGeom prst="roundRect">
            <a:avLst>
              <a:gd name="adj" fmla="val 2857"/>
            </a:avLst>
          </a:prstGeom>
          <a:solidFill>
            <a:srgbClr val="2A3448"/>
          </a:solidFill>
          <a:ln w="12700">
            <a:solidFill>
              <a:srgbClr val="2A3448"/>
            </a:solidFill>
            <a:prstDash val="solid"/>
          </a:ln>
        </p:spPr>
      </p:sp>
      <p:sp>
        <p:nvSpPr>
          <p:cNvPr id="7" name="head Not now"/>
          <p:cNvSpPr txBox="1"/>
          <p:nvPr/>
        </p:nvSpPr>
        <p:spPr>
          <a:xfrm>
            <a:off x="3474720" y="1280160"/>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8" name="items Not now"/>
          <p:cNvSpPr txBox="1"/>
          <p:nvPr/>
        </p:nvSpPr>
        <p:spPr>
          <a:xfrm>
            <a:off x="347472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9" name="column Before launch"/>
          <p:cNvSpPr/>
          <p:nvPr/>
        </p:nvSpPr>
        <p:spPr>
          <a:xfrm>
            <a:off x="6126480" y="1143000"/>
            <a:ext cx="2560320" cy="3154680"/>
          </a:xfrm>
          <a:prstGeom prst="roundRect">
            <a:avLst>
              <a:gd name="adj" fmla="val 2857"/>
            </a:avLst>
          </a:prstGeom>
          <a:solidFill>
            <a:srgbClr val="2A3448"/>
          </a:solidFill>
          <a:ln w="12700">
            <a:solidFill>
              <a:srgbClr val="2A3448"/>
            </a:solidFill>
            <a:prstDash val="solid"/>
          </a:ln>
        </p:spPr>
      </p:sp>
      <p:sp>
        <p:nvSpPr>
          <p:cNvPr id="10" name="head Before launch"/>
          <p:cNvSpPr txBox="1"/>
          <p:nvPr/>
        </p:nvSpPr>
        <p:spPr>
          <a:xfrm>
            <a:off x="6309360" y="1280160"/>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1" name="items Before launch"/>
          <p:cNvSpPr txBox="1"/>
          <p:nvPr/>
        </p:nvSpPr>
        <p:spPr>
          <a:xfrm>
            <a:off x="6309360" y="1783080"/>
            <a:ext cx="224028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31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15 commits in 6 steps on GitHub, milestone tags m1, m2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2026-10-20T13:04:55Z</dcterms:created>
  <dcterms:modified xsi:type="dcterms:W3CDTF">2026-10-20T13:04:55Z</dcterms:modified>
</cp:coreProperties>
</file>