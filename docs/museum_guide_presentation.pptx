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question" id="{e5c8e1d7-ddc3-fa8f-1f2b-9dad2dc8ed23}">
          <p14:sldIdLst>
            <p14:sldId id="256"/>
            <p14:sldId id="257"/>
            <p14:sldId id="258"/>
          </p14:sldIdLst>
        </p14:section>
        <p14:section name="Our MLP" id="{b6e8bc5f-7058-8fa3-511c-5599d51b4cbf}">
          <p14:sldIdLst>
            <p14:sldId id="259"/>
            <p14:sldId id="260"/>
            <p14:sldId id="261"/>
          </p14:sldIdLst>
        </p14:section>
        <p14:section name="Pretrained ResNet" id="{ecb0ff74-0ac2-1075-e72e-170620d96556}">
          <p14:sldIdLst>
            <p14:sldId id="262"/>
            <p14:sldId id="263"/>
          </p14:sldIdLst>
        </p14:section>
        <p14:section name="The answer" id="{5e1b2434-38f2-e127-0e9c-8c363d828960}">
          <p14:sldIdLst>
            <p14:sldId id="264"/>
            <p14:sldId id="265"/>
            <p14:sldId id="266"/>
          </p14:sldIdLst>
        </p14:section>
        <p14:section name="Backup" id="{23a47c87-4be2-5586-f441-6963f24fc69c}">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3F4B"/>
                </a:solidFill>
                <a:latin typeface="+mn-lt"/>
              </a:defRPr>
            </a:pPr>
            <a:r>
              <a:rPr sz="1400" b="0" i="0" u="none" strike="noStrike">
                <a:solidFill>
                  <a:srgbClr val="3A3F4B"/>
                </a:solidFill>
                <a:latin typeface="+mn-lt"/>
              </a:rPr>
              <a:t>Validation accuracy, mean of 3 seeds</a:t>
            </a:r>
          </a:p>
        </c:rich>
      </c:tx>
      <c:layout/>
      <c:overlay val="0"/>
    </c:title>
    <c:autoTitleDeleted val="0"/>
    <c:plotArea>
      <c:layout/>
      <c:barChart>
        <c:barDir val="bar"/>
        <c:grouping val="stacked"/>
        <c:varyColors val="0"/>
        <c:ser>
          <c:idx val="0"/>
          <c:order val="0"/>
          <c:tx>
            <c:strRef>
              <c:f>Sheet1!$B$1</c:f>
              <c:strCache>
                <c:ptCount val="1"/>
                <c:pt idx="0">
                  <c:v>one tool</c:v>
                </c:pt>
              </c:strCache>
            </c:strRef>
          </c:tx>
          <c:spPr>
            <a:solidFill>
              <a:srgbClr val="A9AEB8"/>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Baseline (lr 0.0001)</c:v>
                  </c:pt>
                  <c:pt idx="1">
                    <c:v>Weight decay</c:v>
                  </c:pt>
                  <c:pt idx="2">
                    <c:v>Batch norm</c:v>
                  </c:pt>
                  <c:pt idx="3">
                    <c:v>Dropout</c:v>
                  </c:pt>
                  <c:pt idx="4">
                    <c:v>Early stopping</c:v>
                  </c:pt>
                  <c:pt idx="5">
                    <c:v>Flips</c:v>
                  </c:pt>
                  <c:pt idx="6">
                    <c:v>All together</c:v>
                  </c:pt>
                </c:lvl>
              </c:multiLvlStrCache>
            </c:multiLvlStrRef>
          </c:cat>
          <c:val>
            <c:numRef>
              <c:f>Sheet1!$B$2:$B$8</c:f>
              <c:numCache>
                <c:formatCode>General</c:formatCode>
                <c:ptCount val="7"/>
                <c:pt idx="0">
                  <c:v>388</c:v>
                </c:pt>
                <c:pt idx="1">
                  <c:v>397</c:v>
                </c:pt>
                <c:pt idx="2">
                  <c:v>393</c:v>
                </c:pt>
                <c:pt idx="3">
                  <c:v>417</c:v>
                </c:pt>
                <c:pt idx="4">
                  <c:v>419</c:v>
                </c:pt>
                <c:pt idx="5">
                  <c:v>428</c:v>
                </c:pt>
                <c:pt idx="6">
                  <c:v>0</c:v>
                </c:pt>
              </c:numCache>
            </c:numRef>
          </c:val>
        </c:ser>
        <c:ser>
          <c:idx val="1"/>
          <c:order val="1"/>
          <c:tx>
            <c:strRef>
              <c:f>Sheet1!$C$1</c:f>
              <c:strCache>
                <c:ptCount val="1"/>
                <c:pt idx="0">
                  <c:v>all together</c:v>
                </c:pt>
              </c:strCache>
            </c:strRef>
          </c:tx>
          <c:spPr>
            <a:solidFill>
              <a:srgbClr val="2A78D6"/>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Baseline (lr 0.0001)</c:v>
                  </c:pt>
                  <c:pt idx="1">
                    <c:v>Weight decay</c:v>
                  </c:pt>
                  <c:pt idx="2">
                    <c:v>Batch norm</c:v>
                  </c:pt>
                  <c:pt idx="3">
                    <c:v>Dropout</c:v>
                  </c:pt>
                  <c:pt idx="4">
                    <c:v>Early stopping</c:v>
                  </c:pt>
                  <c:pt idx="5">
                    <c:v>Flips</c:v>
                  </c:pt>
                  <c:pt idx="6">
                    <c:v>All together</c:v>
                  </c:pt>
                </c:lvl>
              </c:multiLvlStrCache>
            </c:multiLvlStrRef>
          </c:cat>
          <c:val>
            <c:numRef>
              <c:f>Sheet1!$C$2:$C$8</c:f>
              <c:numCache>
                <c:formatCode>General</c:formatCode>
                <c:ptCount val="7"/>
                <c:pt idx="0">
                  <c:v>0</c:v>
                </c:pt>
                <c:pt idx="1">
                  <c:v>0</c:v>
                </c:pt>
                <c:pt idx="2">
                  <c:v>0</c:v>
                </c:pt>
                <c:pt idx="3">
                  <c:v>0</c:v>
                </c:pt>
                <c:pt idx="4">
                  <c:v>0</c:v>
                </c:pt>
                <c:pt idx="5">
                  <c:v>0</c:v>
                </c:pt>
                <c:pt idx="6">
                  <c:v>455</c:v>
                </c:pt>
              </c:numCache>
            </c:numRef>
          </c:val>
        </c:ser>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5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3F4B"/>
                </a:solidFill>
                <a:latin typeface="+mn-lt"/>
              </a:defRPr>
            </a:pPr>
            <a:r>
              <a:rPr sz="1400" b="0" i="0" u="none" strike="noStrike">
                <a:solidFill>
                  <a:srgbClr val="3A3F4B"/>
                </a:solidFill>
                <a:latin typeface="+mn-lt"/>
              </a:rPr>
              <a:t>Validation accuracy, mean of 3 seeds</a:t>
            </a:r>
          </a:p>
        </c:rich>
      </c:tx>
      <c:layout/>
      <c:overlay val="0"/>
    </c:title>
    <c:autoTitleDeleted val="0"/>
    <c:plotArea>
      <c:layout/>
      <c:barChart>
        <c:barDir val="bar"/>
        <c:grouping val="stacked"/>
        <c:varyColors val="0"/>
        <c:ser>
          <c:idx val="0"/>
          <c:order val="0"/>
          <c:tx>
            <c:strRef>
              <c:f>Sheet1!$B$1</c:f>
              <c:strCache>
                <c:ptCount val="1"/>
                <c:pt idx="0">
                  <c:v>other</c:v>
                </c:pt>
              </c:strCache>
            </c:strRef>
          </c:tx>
          <c:spPr>
            <a:solidFill>
              <a:srgbClr val="A9AEB8"/>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Our best MLP (pixels)</c:v>
                  </c:pt>
                  <c:pt idx="1">
                    <c:v>ResNet18, layer4 fine-tuned</c:v>
                  </c:pt>
                  <c:pt idx="2">
                    <c:v>ResNet18 frozen + linear head</c:v>
                  </c:pt>
                </c:lvl>
              </c:multiLvlStrCache>
            </c:multiLvlStrRef>
          </c:cat>
          <c:val>
            <c:numRef>
              <c:f>Sheet1!$B$2:$B$4</c:f>
              <c:numCache>
                <c:formatCode>General</c:formatCode>
                <c:ptCount val="3"/>
                <c:pt idx="0">
                  <c:v>455</c:v>
                </c:pt>
                <c:pt idx="1">
                  <c:v>854</c:v>
                </c:pt>
                <c:pt idx="2">
                  <c:v>0</c:v>
                </c:pt>
              </c:numCache>
            </c:numRef>
          </c:val>
        </c:ser>
        <c:ser>
          <c:idx val="1"/>
          <c:order val="1"/>
          <c:tx>
            <c:strRef>
              <c:f>Sheet1!$C$1</c:f>
              <c:strCache>
                <c:ptCount val="1"/>
                <c:pt idx="0">
                  <c:v>chosen</c:v>
                </c:pt>
              </c:strCache>
            </c:strRef>
          </c:tx>
          <c:spPr>
            <a:solidFill>
              <a:srgbClr val="2A78D6"/>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Our best MLP (pixels)</c:v>
                  </c:pt>
                  <c:pt idx="1">
                    <c:v>ResNet18, layer4 fine-tuned</c:v>
                  </c:pt>
                  <c:pt idx="2">
                    <c:v>ResNet18 frozen + linear head</c:v>
                  </c:pt>
                </c:lvl>
              </c:multiLvlStrCache>
            </c:multiLvlStrRef>
          </c:cat>
          <c:val>
            <c:numRef>
              <c:f>Sheet1!$C$2:$C$4</c:f>
              <c:numCache>
                <c:formatCode>General</c:formatCode>
                <c:ptCount val="3"/>
                <c:pt idx="0">
                  <c:v>0</c:v>
                </c:pt>
                <c:pt idx="1">
                  <c:v>0</c:v>
                </c:pt>
                <c:pt idx="2">
                  <c:v>881</c:v>
                </c:pt>
              </c:numCache>
            </c:numRef>
          </c:val>
        </c:ser>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1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Random folds: the painter was seen in training</c:v>
                </c:pt>
              </c:strCache>
            </c:strRef>
          </c:tx>
          <c:spPr>
            <a:solidFill>
              <a:srgbClr val="2A78D6"/>
            </a:solidFill>
            <a:effectLst/>
          </c:spPr>
          <c:invertIfNegative val="0"/>
          <c:dLbls>
            <c:numFmt formatCode="0&quot;.&quot;0&quot; %&quot;;;" sourceLinked="0"/>
            <c:txPr>
              <a:bodyPr/>
              <a:lstStyle/>
              <a:p>
                <a:pPr>
                  <a:defRPr b="0" i="0" strike="noStrike" sz="1200" u="none">
                    <a:solidFill>
                      <a:srgbClr val="3A3F4B"/>
                    </a:solidFill>
                    <a:latin typeface="+mn-lt"/>
                  </a:defRPr>
                </a:pPr>
              </a:p>
            </c:txPr>
            <c:showLegendKey val="0"/>
            <c:showVal val="1"/>
            <c:showCatName val="0"/>
            <c:showSerName val="0"/>
            <c:showPercent val="0"/>
            <c:showBubbleSize val="0"/>
            <c:showLeaderLines val="0"/>
          </c:dLbls>
          <c:cat>
            <c:multiLvlStrRef>
              <c:f>Sheet1!$A$2:$A$3</c:f>
              <c:multiLvlStrCache>
                <c:ptCount val="2"/>
                <c:lvl>
                  <c:pt idx="0">
                    <c:v>Known painters (536 images)</c:v>
                  </c:pt>
                  <c:pt idx="1">
                    <c:v>Unknown Artist (744 images, control)</c:v>
                  </c:pt>
                </c:lvl>
              </c:multiLvlStrCache>
            </c:multiLvlStrRef>
          </c:cat>
          <c:val>
            <c:numRef>
              <c:f>Sheet1!$B$2:$B$3</c:f>
              <c:numCache>
                <c:formatCode>General</c:formatCode>
                <c:ptCount val="2"/>
                <c:pt idx="0">
                  <c:v>837</c:v>
                </c:pt>
                <c:pt idx="1">
                  <c:v>846</c:v>
                </c:pt>
              </c:numCache>
            </c:numRef>
          </c:val>
        </c:ser>
        <c:ser>
          <c:idx val="1"/>
          <c:order val="1"/>
          <c:tx>
            <c:strRef>
              <c:f>Sheet1!$C$1</c:f>
              <c:strCache>
                <c:ptCount val="1"/>
                <c:pt idx="0">
                  <c:v>Painter folds: the painter was never seen</c:v>
                </c:pt>
              </c:strCache>
            </c:strRef>
          </c:tx>
          <c:spPr>
            <a:solidFill>
              <a:srgbClr val="EB6834"/>
            </a:solidFill>
            <a:effectLst/>
          </c:spPr>
          <c:invertIfNegative val="0"/>
          <c:dLbls>
            <c:numFmt formatCode="0&quot;.&quot;0&quot; %&quot;;;" sourceLinked="0"/>
            <c:txPr>
              <a:bodyPr/>
              <a:lstStyle/>
              <a:p>
                <a:pPr>
                  <a:defRPr b="0" i="0" strike="noStrike" sz="1200" u="none">
                    <a:solidFill>
                      <a:srgbClr val="3A3F4B"/>
                    </a:solidFill>
                    <a:latin typeface="+mn-lt"/>
                  </a:defRPr>
                </a:pPr>
              </a:p>
            </c:txPr>
            <c:showLegendKey val="0"/>
            <c:showVal val="1"/>
            <c:showCatName val="0"/>
            <c:showSerName val="0"/>
            <c:showPercent val="0"/>
            <c:showBubbleSize val="0"/>
            <c:showLeaderLines val="0"/>
          </c:dLbls>
          <c:cat>
            <c:multiLvlStrRef>
              <c:f>Sheet1!$A$2:$A$3</c:f>
              <c:multiLvlStrCache>
                <c:ptCount val="2"/>
                <c:lvl>
                  <c:pt idx="0">
                    <c:v>Known painters (536 images)</c:v>
                  </c:pt>
                  <c:pt idx="1">
                    <c:v>Unknown Artist (744 images, control)</c:v>
                  </c:pt>
                </c:lvl>
              </c:multiLvlStrCache>
            </c:multiLvlStrRef>
          </c:cat>
          <c:val>
            <c:numRef>
              <c:f>Sheet1!$C$2:$C$3</c:f>
              <c:numCache>
                <c:formatCode>General</c:formatCode>
                <c:ptCount val="2"/>
                <c:pt idx="0">
                  <c:v>723</c:v>
                </c:pt>
                <c:pt idx="1">
                  <c:v>844</c:v>
                </c:pt>
              </c:numCache>
            </c:numRef>
          </c:val>
        </c:ser>
        <c:dLbls>
          <c:numFmt formatCode="0&quot;.&quot;0&quot; %&quot;;;" sourceLinked="0"/>
          <c:txPr>
            <a:bodyPr/>
            <a:lstStyle/>
            <a:p>
              <a:pPr>
                <a:defRPr b="0" i="0" strike="noStrike" sz="1200" u="none">
                  <a:solidFill>
                    <a:srgbClr val="3A3F4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950"/>
          <c:min val="5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3F4B"/>
                </a:solidFill>
                <a:latin typeface="+mn-lt"/>
              </a:defRPr>
            </a:pPr>
            <a:r>
              <a:rPr sz="1400" b="0" i="0" u="none" strike="noStrike">
                <a:solidFill>
                  <a:srgbClr val="3A3F4B"/>
                </a:solidFill>
                <a:latin typeface="+mn-lt"/>
              </a:rPr>
              <a:t>Test accuracy, 220 new paintings</a:t>
            </a:r>
          </a:p>
        </c:rich>
      </c:tx>
      <c:layout/>
      <c:overlay val="0"/>
    </c:title>
    <c:autoTitleDeleted val="0"/>
    <c:plotArea>
      <c:layout/>
      <c:barChart>
        <c:barDir val="bar"/>
        <c:grouping val="stacked"/>
        <c:varyColors val="0"/>
        <c:ser>
          <c:idx val="0"/>
          <c:order val="0"/>
          <c:tx>
            <c:strRef>
              <c:f>Sheet1!$B$1</c:f>
              <c:strCache>
                <c:ptCount val="1"/>
                <c:pt idx="0">
                  <c:v>Baseline</c:v>
                </c:pt>
              </c:strCache>
            </c:strRef>
          </c:tx>
          <c:spPr>
            <a:solidFill>
              <a:srgbClr val="A9AEB8"/>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Always the same style</c:v>
                  </c:pt>
                  <c:pt idx="1">
                    <c:v>Logistic regression, pixels</c:v>
                  </c:pt>
                  <c:pt idx="2">
                    <c:v>Our MLP, pixels</c:v>
                  </c:pt>
                  <c:pt idx="3">
                    <c:v>Logistic regression, hand-made</c:v>
                  </c:pt>
                  <c:pt idx="4">
                    <c:v>Random forest, hand-made</c:v>
                  </c:pt>
                  <c:pt idx="5">
                    <c:v>ResNet18 frozen + linear head (ours)</c:v>
                  </c:pt>
                  <c:pt idx="6">
                    <c:v>ResNet18 frozen + logistic regression</c:v>
                  </c:pt>
                  <c:pt idx="7">
                    <c:v>ResNet18, layer4 fine-tuned</c:v>
                  </c:pt>
                </c:lvl>
              </c:multiLvlStrCache>
            </c:multiLvlStrRef>
          </c:cat>
          <c:val>
            <c:numRef>
              <c:f>Sheet1!$B$2:$B$9</c:f>
              <c:numCache>
                <c:formatCode>General</c:formatCode>
                <c:ptCount val="8"/>
                <c:pt idx="0">
                  <c:v>191</c:v>
                </c:pt>
                <c:pt idx="1">
                  <c:v>0</c:v>
                </c:pt>
                <c:pt idx="2">
                  <c:v>0</c:v>
                </c:pt>
                <c:pt idx="3">
                  <c:v>0</c:v>
                </c:pt>
                <c:pt idx="4">
                  <c:v>0</c:v>
                </c:pt>
                <c:pt idx="5">
                  <c:v>0</c:v>
                </c:pt>
                <c:pt idx="6">
                  <c:v>0</c:v>
                </c:pt>
                <c:pt idx="7">
                  <c:v>0</c:v>
                </c:pt>
              </c:numCache>
            </c:numRef>
          </c:val>
        </c:ser>
        <c:ser>
          <c:idx val="1"/>
          <c:order val="1"/>
          <c:tx>
            <c:strRef>
              <c:f>Sheet1!$C$1</c:f>
              <c:strCache>
                <c:ptCount val="1"/>
                <c:pt idx="0">
                  <c:v>Classical</c:v>
                </c:pt>
              </c:strCache>
            </c:strRef>
          </c:tx>
          <c:spPr>
            <a:solidFill>
              <a:srgbClr val="EB6834"/>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Always the same style</c:v>
                  </c:pt>
                  <c:pt idx="1">
                    <c:v>Logistic regression, pixels</c:v>
                  </c:pt>
                  <c:pt idx="2">
                    <c:v>Our MLP, pixels</c:v>
                  </c:pt>
                  <c:pt idx="3">
                    <c:v>Logistic regression, hand-made</c:v>
                  </c:pt>
                  <c:pt idx="4">
                    <c:v>Random forest, hand-made</c:v>
                  </c:pt>
                  <c:pt idx="5">
                    <c:v>ResNet18 frozen + linear head (ours)</c:v>
                  </c:pt>
                  <c:pt idx="6">
                    <c:v>ResNet18 frozen + logistic regression</c:v>
                  </c:pt>
                  <c:pt idx="7">
                    <c:v>ResNet18, layer4 fine-tuned</c:v>
                  </c:pt>
                </c:lvl>
              </c:multiLvlStrCache>
            </c:multiLvlStrRef>
          </c:cat>
          <c:val>
            <c:numRef>
              <c:f>Sheet1!$C$2:$C$9</c:f>
              <c:numCache>
                <c:formatCode>General</c:formatCode>
                <c:ptCount val="8"/>
                <c:pt idx="0">
                  <c:v>0</c:v>
                </c:pt>
                <c:pt idx="1">
                  <c:v>327</c:v>
                </c:pt>
                <c:pt idx="2">
                  <c:v>0</c:v>
                </c:pt>
                <c:pt idx="3">
                  <c:v>614</c:v>
                </c:pt>
                <c:pt idx="4">
                  <c:v>673</c:v>
                </c:pt>
                <c:pt idx="5">
                  <c:v>0</c:v>
                </c:pt>
                <c:pt idx="6">
                  <c:v>0</c:v>
                </c:pt>
                <c:pt idx="7">
                  <c:v>0</c:v>
                </c:pt>
              </c:numCache>
            </c:numRef>
          </c:val>
        </c:ser>
        <c:ser>
          <c:idx val="2"/>
          <c:order val="2"/>
          <c:tx>
            <c:strRef>
              <c:f>Sheet1!$D$1</c:f>
              <c:strCache>
                <c:ptCount val="1"/>
                <c:pt idx="0">
                  <c:v>Hybrid</c:v>
                </c:pt>
              </c:strCache>
            </c:strRef>
          </c:tx>
          <c:spPr>
            <a:solidFill>
              <a:srgbClr val="1BAF7A"/>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Always the same style</c:v>
                  </c:pt>
                  <c:pt idx="1">
                    <c:v>Logistic regression, pixels</c:v>
                  </c:pt>
                  <c:pt idx="2">
                    <c:v>Our MLP, pixels</c:v>
                  </c:pt>
                  <c:pt idx="3">
                    <c:v>Logistic regression, hand-made</c:v>
                  </c:pt>
                  <c:pt idx="4">
                    <c:v>Random forest, hand-made</c:v>
                  </c:pt>
                  <c:pt idx="5">
                    <c:v>ResNet18 frozen + linear head (ours)</c:v>
                  </c:pt>
                  <c:pt idx="6">
                    <c:v>ResNet18 frozen + logistic regression</c:v>
                  </c:pt>
                  <c:pt idx="7">
                    <c:v>ResNet18, layer4 fine-tuned</c:v>
                  </c:pt>
                </c:lvl>
              </c:multiLvlStrCache>
            </c:multiLvlStrRef>
          </c:cat>
          <c:val>
            <c:numRef>
              <c:f>Sheet1!$D$2:$D$9</c:f>
              <c:numCache>
                <c:formatCode>General</c:formatCode>
                <c:ptCount val="8"/>
                <c:pt idx="0">
                  <c:v>0</c:v>
                </c:pt>
                <c:pt idx="1">
                  <c:v>0</c:v>
                </c:pt>
                <c:pt idx="2">
                  <c:v>0</c:v>
                </c:pt>
                <c:pt idx="3">
                  <c:v>0</c:v>
                </c:pt>
                <c:pt idx="4">
                  <c:v>0</c:v>
                </c:pt>
                <c:pt idx="5">
                  <c:v>0</c:v>
                </c:pt>
                <c:pt idx="6">
                  <c:v>845</c:v>
                </c:pt>
                <c:pt idx="7">
                  <c:v>0</c:v>
                </c:pt>
              </c:numCache>
            </c:numRef>
          </c:val>
        </c:ser>
        <c:ser>
          <c:idx val="3"/>
          <c:order val="3"/>
          <c:tx>
            <c:strRef>
              <c:f>Sheet1!$E$1</c:f>
              <c:strCache>
                <c:ptCount val="1"/>
                <c:pt idx="0">
                  <c:v>Neural</c:v>
                </c:pt>
              </c:strCache>
            </c:strRef>
          </c:tx>
          <c:spPr>
            <a:solidFill>
              <a:srgbClr val="2A78D6"/>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Always the same style</c:v>
                  </c:pt>
                  <c:pt idx="1">
                    <c:v>Logistic regression, pixels</c:v>
                  </c:pt>
                  <c:pt idx="2">
                    <c:v>Our MLP, pixels</c:v>
                  </c:pt>
                  <c:pt idx="3">
                    <c:v>Logistic regression, hand-made</c:v>
                  </c:pt>
                  <c:pt idx="4">
                    <c:v>Random forest, hand-made</c:v>
                  </c:pt>
                  <c:pt idx="5">
                    <c:v>ResNet18 frozen + linear head (ours)</c:v>
                  </c:pt>
                  <c:pt idx="6">
                    <c:v>ResNet18 frozen + logistic regression</c:v>
                  </c:pt>
                  <c:pt idx="7">
                    <c:v>ResNet18, layer4 fine-tuned</c:v>
                  </c:pt>
                </c:lvl>
              </c:multiLvlStrCache>
            </c:multiLvlStrRef>
          </c:cat>
          <c:val>
            <c:numRef>
              <c:f>Sheet1!$E$2:$E$9</c:f>
              <c:numCache>
                <c:formatCode>General</c:formatCode>
                <c:ptCount val="8"/>
                <c:pt idx="0">
                  <c:v>0</c:v>
                </c:pt>
                <c:pt idx="1">
                  <c:v>0</c:v>
                </c:pt>
                <c:pt idx="2">
                  <c:v>414</c:v>
                </c:pt>
                <c:pt idx="3">
                  <c:v>0</c:v>
                </c:pt>
                <c:pt idx="4">
                  <c:v>0</c:v>
                </c:pt>
                <c:pt idx="5">
                  <c:v>830</c:v>
                </c:pt>
                <c:pt idx="6">
                  <c:v>0</c:v>
                </c:pt>
                <c:pt idx="7">
                  <c:v>879</c:v>
                </c:pt>
              </c:numCache>
            </c:numRef>
          </c:val>
        </c:ser>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1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3F4B"/>
                </a:solidFill>
                <a:latin typeface="+mn-lt"/>
              </a:defRPr>
            </a:pPr>
            <a:r>
              <a:rPr sz="1400" b="0" i="0" u="none" strike="noStrike">
                <a:solidFill>
                  <a:srgbClr val="3A3F4B"/>
                </a:solidFill>
                <a:latin typeface="+mn-lt"/>
              </a:rPr>
              <a:t>Share of each style found, test set (seed 0)</a:t>
            </a:r>
          </a:p>
        </c:rich>
      </c:tx>
      <c:layout/>
      <c:overlay val="0"/>
    </c:title>
    <c:autoTitleDeleted val="0"/>
    <c:plotArea>
      <c:layout/>
      <c:barChart>
        <c:barDir val="bar"/>
        <c:grouping val="clustered"/>
        <c:varyColors val="0"/>
        <c:ser>
          <c:idx val="0"/>
          <c:order val="0"/>
          <c:tx>
            <c:strRef>
              <c:f>Sheet1!$B$1</c:f>
              <c:strCache>
                <c:ptCount val="1"/>
                <c:pt idx="0">
                  <c:v>recall</c:v>
                </c:pt>
              </c:strCache>
            </c:strRef>
          </c:tx>
          <c:spPr>
            <a:solidFill>
              <a:srgbClr val="2A78D6"/>
            </a:solidFill>
            <a:effectLst/>
          </c:spPr>
          <c:invertIfNegative val="0"/>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Pop Art</c:v>
                  </c:pt>
                  <c:pt idx="1">
                    <c:v>Cubism</c:v>
                  </c:pt>
                  <c:pt idx="2">
                    <c:v>Baroque</c:v>
                  </c:pt>
                  <c:pt idx="3">
                    <c:v>Impressionism</c:v>
                  </c:pt>
                  <c:pt idx="4">
                    <c:v>Ukiyo-e</c:v>
                  </c:pt>
                </c:lvl>
              </c:multiLvlStrCache>
            </c:multiLvlStrRef>
          </c:cat>
          <c:val>
            <c:numRef>
              <c:f>Sheet1!$B$2:$B$6</c:f>
              <c:numCache>
                <c:formatCode>General</c:formatCode>
                <c:ptCount val="5"/>
                <c:pt idx="0">
                  <c:v>767</c:v>
                </c:pt>
                <c:pt idx="1">
                  <c:v>786</c:v>
                </c:pt>
                <c:pt idx="2">
                  <c:v>833</c:v>
                </c:pt>
                <c:pt idx="3">
                  <c:v>880</c:v>
                </c:pt>
                <c:pt idx="4">
                  <c:v>907</c:v>
                </c:pt>
              </c:numCache>
            </c:numRef>
          </c:val>
        </c:ser>
        <c:dLbls>
          <c:numFmt formatCode="0&quot;.&quot;0&quot; %&quot;;;"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1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Imagine you are in a museum. You point your phone at a painting, and a guide tells you its style and the story of that movement. Our museum wants exactly this, on visitors' phones and on kiosks in the galleries. We worked on five styles: Baroque, Cubism, Impressionism, Pop Art and Ukiyo-e. The kiosks have small CPUs, the team is small and the budget is limited. So the director asks one question: is a neural network worth it in production, or would a simpler classical model do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we went step by step, and each step told us what to try next. Step one: the data, and a fair test. Step two: our own network, a multi-layer perceptron built from PyTorch primitives. Step three: we watched its training from the inside and learned to diagnose failures. Step four: a pretrained convolutional network, ResNet18. Step five: a final test of every model, classical models included. Step six: the cost on a kiosk CPU. At the end of these six steps, we will have our answer. Let's start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the data. We took 1 500 paintings from WikiArt, 300 per style. We used the course script with a fixed seed, so anyone can download exactly the same images. We cut them into three piles: 1 061 to train, 219 to validate, that is, to choose our settings, and 220 to test, used only once, at the very end. One rule matters a lot: all the paintings of a known painter go to the same pile. With a random split, 23 of our 32 known painters would be in two piles, and a model could learn to recognise Monet instead of Impressionism. With our split: zero. I will come back to this, because we measured its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our own network. Our first model is the network of the course: a multi-layer perceptron built from nn.Linear layers and ReLU, with our own training loop. It reads the pixels of a 64 by 64 image: 12 288 inputs and 6.4 million parameters. Before trusting it, we ran two checks. First, a model that knows nothing should have a loss of ln 5, about 1.61. Ours started at 1.99, too confident, so we made its last layer smaller and got 1.59. Second, it must be able to learn one small batch by heart: it does, 100 percent. Then the real training. The training accuracy goes to 99.7 percent, but the validation accuracy stays around 40 percent, and the validation loss goes up after epoch 3. This is overfitting: the network learns the paintings by heart.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monitoring. We looked inside the network during training, not only at the loss. The gradient reaches every layer and only 4 percent of the neurons are dead: the training is healthy, the problem is overfitting. We also tried 8 learning rates and kept 0.0001. Then we tested the tools of session 6, each with 3 seeds, because one run on 219 images is noisy. Alone, each tool helps a little. All together, weight decay, dropout, batch norm, flips, early stopping and a cosine schedule take the MLP from 38.8 to 45.5 percent, and the gap between train and validation from 0.61 to 0.12. But one number shows the real limit: the MLP finds only 7 percent of the Cubist paintings. It sees colours, not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in step three, we wanted to be ready for problems in production, so we broke the training four times on purpose, and diagnosed each run. A learning rate 100 times too big killed 99.6 percent of the neurons of layer 2. A forgotten zero_grad made the gradients pile up: 26 times bigger after two epochs. Raw pixels, without standardisation, gave a first loss of 16 instead of 1.6. And eight sigmoid layers gave a vanishing gradient: the first layer received less than a millionth of the gradient of the last one. The lesson: two of these bugs show the same symptom, a loss stuck at ln 5. Only the monitoring, dead neurons or the gradient per layer, can tell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Our MLP sees colours but not shapes, and to see shapes, we need a convolutional network. With only 1 061 images we cannot train one from zero, so we reuse ResNet18, already trained on 1.2 million ImageNet photos. We freeze it: each painting becomes 512 numbers, and we train only one linear layer, 2 565 weights, in less than a second. Result: 88.1 percent on validation, almost twice our best MLP. We also fine-tuned the last block: 8.4 million weights for 1 061 images. It overfits: 85.4 percent. And we measured two silent bugs: forgetting model.eval() drops the score to 12.8 percent, and forgetting the ImageNet normalisation costs 6 points. Nothing crashes: only measuring shows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stronger model, we could finally test the painter rule of step one. To measure it fairly, we scored the same images twice with cross-validation, and changed only one thing: whether the model had seen other paintings by the same painter. On images by known painters: 83.7 percent when the painter was seen, 72.3 when not. 11 points of flattery. On the control group, the unknown painters, nothing changes. So the model partly recognises painters, and a random split would have given the director a score that is too good. Our split protects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the final test. We opened the 220 test paintings once, for every model, including classical models with no neural network, such as a random forest on hand-made colour and texture features. The pretrained models are at the top, from 83 to 88 percent. The random forest reaches 67, our MLP 41. Is the gap real? A paired bootstrap, 5 000 redraws of the same test paintings, gives our model a lead of 16.4 points over the random forest, between 9 and 24 points: it is not luck. One honest note: the fine-tuned model is first on the test, but it was second on validation. With about 220 images, a score moves by about 5 points by chance, so we keep the model we chose before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is it affordable on a kiosk? We timed one photo at a time, from the image to the answer. The ResNet needs 53 milliseconds on one CPU thread, 26 with four threads: faster than a blink. Even on a kiosk four times slower, it answers in a fifth of a second. The model file is 45 megabytes. And when the collection changes, we only recompute the features and retrain one layer,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the six steps together. On the test, our own MLP reached 41 percent, the best classical model 67, and the frozen ResNet18 83, at a cost a kiosk can afford. So, our answer to the director: yes, a neural network is worth it, but a pretrained one that we reuse. We recommend a frozen ResNet18 with a linear head. Why? It is accurate: one visitor in six gets a wrong style, against one in three. It is fast enough for a modest CPU, and cheap for a small team: one small layer, retrained in seconds. We do not recommend our MLP, a classical model alone, or fine-tuning for now. Before the launch, we must test real photos taken at the kiosks, add more styles, and measure the real hardware.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we did not pick the fine-tuned model: the test set is used once to report, not to choose. Validation and test point in opposite directions, and their intervals overlap, so our data cannot separate the two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work can be checked: everything runs again from the repository with two commands, and the final notebook re-trains every neural model and finds exactly the same validation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hyperparameters: all of them were chosen on the validation set (learning-rate sweep, 3 seeds per setting), and they are written once in src/museum_guide/recipes.py.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errors: the ResNet's main confusion is Cubism versus Pop Art, which share flat areas of strong colour and hard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BERT or transformers: BERT reads text, so it cannot classify paintings alone. Its image cousin ViT gives the same accuracy as ResNet18 but is about 9 times slower. CLIP, trained on images with captions, reaches about 89 percent with no training at all and about 95 percent with our linear head, on validation. Two cautions: it probably saw WikiArt during its training, and we did not reopen the test set. It is our first next step, and it would also answer visitors' questions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11887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1645920"/>
            <a:ext cx="8046720" cy="411480"/>
          </a:xfrm>
          <a:prstGeom prst="rect">
            <a:avLst/>
          </a:prstGeom>
          <a:noFill/>
          <a:ln/>
        </p:spPr>
        <p:txBody>
          <a:bodyPr wrap="square" rtlCol="0"/>
          <a:lstStyle>
            <a:lvl1pPr algn="l" indent="0" marL="0">
              <a:buNone/>
              <a:defRPr lang="en-US" sz="1700" dirty="0">
                <a:solidFill>
                  <a:schemeClr val="bg1"/>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F6473"/>
                </a:solidFill>
              </a:rPr>
              <a:t>Museum guide · MSA-DATB09-03 final project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C9CED8"/>
                </a:solidFill>
              </a:rPr>
              <a:t>Museum guide · MSA-DATB09-03 final project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ED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1188720"/>
          </a:xfrm>
          <a:prstGeom prst="rect">
            <a:avLst/>
          </a:prstGeom>
          <a:noFill/>
          <a:ln/>
        </p:spPr>
        <p:txBody>
          <a:bodyPr wrap="square" lIns="0" tIns="0" rIns="0" bIns="0" rtlCol="0" anchor="t"/>
          <a:lstStyle/>
          <a:p>
            <a:pPr algn="l" indent="0" marL="0">
              <a:buNone/>
            </a:pPr>
            <a:r>
              <a:rPr lang="en-US" sz="3400" b="1" dirty="0">
                <a:solidFill>
                  <a:schemeClr val="bg1"/>
                </a:solidFill>
              </a:rPr>
              <a:t>Is a neural network worth it on a museum kiosk?</a:t>
            </a:r>
            <a:endParaRPr lang="en-US" sz="3400" dirty="0"/>
          </a:p>
        </p:txBody>
      </p:sp>
      <p:sp>
        <p:nvSpPr>
          <p:cNvPr id="3" name="Text 0"/>
          <p:cNvSpPr/>
          <p:nvPr>
            <p:ph idx="101" type="body" hasCustomPrompt="1"/>
          </p:nvPr>
        </p:nvSpPr>
        <p:spPr>
          <a:xfrm>
            <a:off x="548640" y="1645920"/>
            <a:ext cx="8046720" cy="411480"/>
          </a:xfrm>
          <a:prstGeom prst="rect">
            <a:avLst/>
          </a:prstGeom>
          <a:noFill/>
          <a:ln/>
        </p:spPr>
        <p:txBody>
          <a:bodyPr wrap="square" lIns="0" tIns="0" rIns="0" bIns="0" rtlCol="0" anchor="t"/>
          <a:lstStyle/>
          <a:p>
            <a:pPr algn="l" indent="0" marL="0">
              <a:buNone/>
            </a:pPr>
            <a:r>
              <a:rPr lang="en-US" sz="1700" dirty="0">
                <a:solidFill>
                  <a:schemeClr val="bg1"/>
                </a:solidFill>
              </a:rPr>
              <a:t>Recognising painting styles with an MLP and a pretrained ResNet18</a:t>
            </a:r>
            <a:endParaRPr lang="en-US" sz="1700" dirty="0"/>
          </a:p>
        </p:txBody>
      </p:sp>
      <p:sp>
        <p:nvSpPr>
          <p:cNvPr id="4" name="frame Baroque"/>
          <p:cNvSpPr/>
          <p:nvPr/>
        </p:nvSpPr>
        <p:spPr>
          <a:xfrm>
            <a:off x="662940" y="2331720"/>
            <a:ext cx="1417320" cy="1417320"/>
          </a:xfrm>
          <a:prstGeom prst="rect">
            <a:avLst/>
          </a:prstGeom>
          <a:solidFill>
            <a:schemeClr val="bg1"/>
          </a:solidFill>
          <a:ln w="12700">
            <a:solidFill>
              <a:schemeClr val="bg1"/>
            </a:solidFill>
            <a:prstDash val="solid"/>
          </a:ln>
        </p:spPr>
      </p:sp>
      <p:sp>
        <p:nvSpPr>
          <p:cNvPr id="5" name="colour Baroque"/>
          <p:cNvSpPr/>
          <p:nvPr/>
        </p:nvSpPr>
        <p:spPr>
          <a:xfrm>
            <a:off x="708660" y="2377440"/>
            <a:ext cx="1325880" cy="1325880"/>
          </a:xfrm>
          <a:prstGeom prst="rect">
            <a:avLst/>
          </a:prstGeom>
          <a:solidFill>
            <a:srgbClr val="2A78D6"/>
          </a:solidFill>
          <a:ln w="12700">
            <a:solidFill>
              <a:srgbClr val="2A78D6"/>
            </a:solidFill>
            <a:prstDash val="solid"/>
          </a:ln>
        </p:spPr>
      </p:sp>
      <p:sp>
        <p:nvSpPr>
          <p:cNvPr id="6" name="label Baroque"/>
          <p:cNvSpPr txBox="1"/>
          <p:nvPr/>
        </p:nvSpPr>
        <p:spPr>
          <a:xfrm>
            <a:off x="617220" y="3813048"/>
            <a:ext cx="1508760" cy="274320"/>
          </a:xfrm>
          <a:prstGeom prst="rect">
            <a:avLst/>
          </a:prstGeom>
          <a:noFill/>
          <a:ln/>
        </p:spPr>
        <p:txBody>
          <a:bodyPr wrap="square" lIns="0" tIns="0" rIns="0" bIns="0" rtlCol="0" anchor="ctr"/>
          <a:lstStyle/>
          <a:p>
            <a:pPr algn="ctr" indent="0" marL="0">
              <a:buNone/>
            </a:pPr>
            <a:r>
              <a:rPr lang="en-US" sz="1300" dirty="0">
                <a:solidFill>
                  <a:srgbClr val="C9CED8"/>
                </a:solidFill>
              </a:rPr>
              <a:t>Baroque</a:t>
            </a:r>
            <a:endParaRPr lang="en-US" sz="1300" dirty="0"/>
          </a:p>
        </p:txBody>
      </p:sp>
      <p:sp>
        <p:nvSpPr>
          <p:cNvPr id="7" name="frame Cubism"/>
          <p:cNvSpPr/>
          <p:nvPr/>
        </p:nvSpPr>
        <p:spPr>
          <a:xfrm>
            <a:off x="2263140" y="2331720"/>
            <a:ext cx="1417320" cy="1417320"/>
          </a:xfrm>
          <a:prstGeom prst="rect">
            <a:avLst/>
          </a:prstGeom>
          <a:solidFill>
            <a:schemeClr val="bg1"/>
          </a:solidFill>
          <a:ln w="12700">
            <a:solidFill>
              <a:schemeClr val="bg1"/>
            </a:solidFill>
            <a:prstDash val="solid"/>
          </a:ln>
        </p:spPr>
      </p:sp>
      <p:sp>
        <p:nvSpPr>
          <p:cNvPr id="8" name="colour Cubism"/>
          <p:cNvSpPr/>
          <p:nvPr/>
        </p:nvSpPr>
        <p:spPr>
          <a:xfrm>
            <a:off x="2308860" y="2377440"/>
            <a:ext cx="1325880" cy="1325880"/>
          </a:xfrm>
          <a:prstGeom prst="rect">
            <a:avLst/>
          </a:prstGeom>
          <a:solidFill>
            <a:srgbClr val="EB6834"/>
          </a:solidFill>
          <a:ln w="12700">
            <a:solidFill>
              <a:srgbClr val="EB6834"/>
            </a:solidFill>
            <a:prstDash val="solid"/>
          </a:ln>
        </p:spPr>
      </p:sp>
      <p:sp>
        <p:nvSpPr>
          <p:cNvPr id="9" name="label Cubism"/>
          <p:cNvSpPr txBox="1"/>
          <p:nvPr/>
        </p:nvSpPr>
        <p:spPr>
          <a:xfrm>
            <a:off x="2217420" y="3813048"/>
            <a:ext cx="1508760" cy="274320"/>
          </a:xfrm>
          <a:prstGeom prst="rect">
            <a:avLst/>
          </a:prstGeom>
          <a:noFill/>
          <a:ln/>
        </p:spPr>
        <p:txBody>
          <a:bodyPr wrap="square" lIns="0" tIns="0" rIns="0" bIns="0" rtlCol="0" anchor="ctr"/>
          <a:lstStyle/>
          <a:p>
            <a:pPr algn="ctr" indent="0" marL="0">
              <a:buNone/>
            </a:pPr>
            <a:r>
              <a:rPr lang="en-US" sz="1300" dirty="0">
                <a:solidFill>
                  <a:srgbClr val="C9CED8"/>
                </a:solidFill>
              </a:rPr>
              <a:t>Cubism</a:t>
            </a:r>
            <a:endParaRPr lang="en-US" sz="1300" dirty="0"/>
          </a:p>
        </p:txBody>
      </p:sp>
      <p:sp>
        <p:nvSpPr>
          <p:cNvPr id="10" name="frame Impressionism"/>
          <p:cNvSpPr/>
          <p:nvPr/>
        </p:nvSpPr>
        <p:spPr>
          <a:xfrm>
            <a:off x="3863340" y="2331720"/>
            <a:ext cx="1417320" cy="1417320"/>
          </a:xfrm>
          <a:prstGeom prst="rect">
            <a:avLst/>
          </a:prstGeom>
          <a:solidFill>
            <a:schemeClr val="bg1"/>
          </a:solidFill>
          <a:ln w="12700">
            <a:solidFill>
              <a:schemeClr val="bg1"/>
            </a:solidFill>
            <a:prstDash val="solid"/>
          </a:ln>
        </p:spPr>
      </p:sp>
      <p:sp>
        <p:nvSpPr>
          <p:cNvPr id="11" name="colour Impressionism"/>
          <p:cNvSpPr/>
          <p:nvPr/>
        </p:nvSpPr>
        <p:spPr>
          <a:xfrm>
            <a:off x="3909060" y="2377440"/>
            <a:ext cx="1325880" cy="1325880"/>
          </a:xfrm>
          <a:prstGeom prst="rect">
            <a:avLst/>
          </a:prstGeom>
          <a:solidFill>
            <a:srgbClr val="1BAF7A"/>
          </a:solidFill>
          <a:ln w="12700">
            <a:solidFill>
              <a:srgbClr val="1BAF7A"/>
            </a:solidFill>
            <a:prstDash val="solid"/>
          </a:ln>
        </p:spPr>
      </p:sp>
      <p:sp>
        <p:nvSpPr>
          <p:cNvPr id="12" name="label Impressionism"/>
          <p:cNvSpPr txBox="1"/>
          <p:nvPr/>
        </p:nvSpPr>
        <p:spPr>
          <a:xfrm>
            <a:off x="3817620" y="3813048"/>
            <a:ext cx="1508760" cy="274320"/>
          </a:xfrm>
          <a:prstGeom prst="rect">
            <a:avLst/>
          </a:prstGeom>
          <a:noFill/>
          <a:ln/>
        </p:spPr>
        <p:txBody>
          <a:bodyPr wrap="square" lIns="0" tIns="0" rIns="0" bIns="0" rtlCol="0" anchor="ctr"/>
          <a:lstStyle/>
          <a:p>
            <a:pPr algn="ctr" indent="0" marL="0">
              <a:buNone/>
            </a:pPr>
            <a:r>
              <a:rPr lang="en-US" sz="1300" dirty="0">
                <a:solidFill>
                  <a:srgbClr val="C9CED8"/>
                </a:solidFill>
              </a:rPr>
              <a:t>Impressionism</a:t>
            </a:r>
            <a:endParaRPr lang="en-US" sz="1300" dirty="0"/>
          </a:p>
        </p:txBody>
      </p:sp>
      <p:sp>
        <p:nvSpPr>
          <p:cNvPr id="13" name="frame Pop Art"/>
          <p:cNvSpPr/>
          <p:nvPr/>
        </p:nvSpPr>
        <p:spPr>
          <a:xfrm>
            <a:off x="5463540" y="2331720"/>
            <a:ext cx="1417320" cy="1417320"/>
          </a:xfrm>
          <a:prstGeom prst="rect">
            <a:avLst/>
          </a:prstGeom>
          <a:solidFill>
            <a:schemeClr val="bg1"/>
          </a:solidFill>
          <a:ln w="12700">
            <a:solidFill>
              <a:schemeClr val="bg1"/>
            </a:solidFill>
            <a:prstDash val="solid"/>
          </a:ln>
        </p:spPr>
      </p:sp>
      <p:sp>
        <p:nvSpPr>
          <p:cNvPr id="14" name="colour Pop Art"/>
          <p:cNvSpPr/>
          <p:nvPr/>
        </p:nvSpPr>
        <p:spPr>
          <a:xfrm>
            <a:off x="5509260" y="2377440"/>
            <a:ext cx="1325880" cy="1325880"/>
          </a:xfrm>
          <a:prstGeom prst="rect">
            <a:avLst/>
          </a:prstGeom>
          <a:solidFill>
            <a:srgbClr val="EDA100"/>
          </a:solidFill>
          <a:ln w="12700">
            <a:solidFill>
              <a:srgbClr val="EDA100"/>
            </a:solidFill>
            <a:prstDash val="solid"/>
          </a:ln>
        </p:spPr>
      </p:sp>
      <p:sp>
        <p:nvSpPr>
          <p:cNvPr id="15" name="label Pop Art"/>
          <p:cNvSpPr txBox="1"/>
          <p:nvPr/>
        </p:nvSpPr>
        <p:spPr>
          <a:xfrm>
            <a:off x="5417820" y="3813048"/>
            <a:ext cx="1508760" cy="274320"/>
          </a:xfrm>
          <a:prstGeom prst="rect">
            <a:avLst/>
          </a:prstGeom>
          <a:noFill/>
          <a:ln/>
        </p:spPr>
        <p:txBody>
          <a:bodyPr wrap="square" lIns="0" tIns="0" rIns="0" bIns="0" rtlCol="0" anchor="ctr"/>
          <a:lstStyle/>
          <a:p>
            <a:pPr algn="ctr" indent="0" marL="0">
              <a:buNone/>
            </a:pPr>
            <a:r>
              <a:rPr lang="en-US" sz="1300" dirty="0">
                <a:solidFill>
                  <a:srgbClr val="C9CED8"/>
                </a:solidFill>
              </a:rPr>
              <a:t>Pop Art</a:t>
            </a:r>
            <a:endParaRPr lang="en-US" sz="1300" dirty="0"/>
          </a:p>
        </p:txBody>
      </p:sp>
      <p:sp>
        <p:nvSpPr>
          <p:cNvPr id="16" name="frame Ukiyo-e"/>
          <p:cNvSpPr/>
          <p:nvPr/>
        </p:nvSpPr>
        <p:spPr>
          <a:xfrm>
            <a:off x="7063740" y="2331720"/>
            <a:ext cx="1417320" cy="1417320"/>
          </a:xfrm>
          <a:prstGeom prst="rect">
            <a:avLst/>
          </a:prstGeom>
          <a:solidFill>
            <a:schemeClr val="bg1"/>
          </a:solidFill>
          <a:ln w="12700">
            <a:solidFill>
              <a:schemeClr val="bg1"/>
            </a:solidFill>
            <a:prstDash val="solid"/>
          </a:ln>
        </p:spPr>
      </p:sp>
      <p:sp>
        <p:nvSpPr>
          <p:cNvPr id="17" name="colour Ukiyo-e"/>
          <p:cNvSpPr/>
          <p:nvPr/>
        </p:nvSpPr>
        <p:spPr>
          <a:xfrm>
            <a:off x="7109460" y="2377440"/>
            <a:ext cx="1325880" cy="1325880"/>
          </a:xfrm>
          <a:prstGeom prst="rect">
            <a:avLst/>
          </a:prstGeom>
          <a:solidFill>
            <a:srgbClr val="E87BA4"/>
          </a:solidFill>
          <a:ln w="12700">
            <a:solidFill>
              <a:srgbClr val="E87BA4"/>
            </a:solidFill>
            <a:prstDash val="solid"/>
          </a:ln>
        </p:spPr>
      </p:sp>
      <p:sp>
        <p:nvSpPr>
          <p:cNvPr id="18" name="label Ukiyo-e"/>
          <p:cNvSpPr txBox="1"/>
          <p:nvPr/>
        </p:nvSpPr>
        <p:spPr>
          <a:xfrm>
            <a:off x="7018020" y="3813048"/>
            <a:ext cx="1508760" cy="274320"/>
          </a:xfrm>
          <a:prstGeom prst="rect">
            <a:avLst/>
          </a:prstGeom>
          <a:noFill/>
          <a:ln/>
        </p:spPr>
        <p:txBody>
          <a:bodyPr wrap="square" lIns="0" tIns="0" rIns="0" bIns="0" rtlCol="0" anchor="ctr"/>
          <a:lstStyle/>
          <a:p>
            <a:pPr algn="ctr" indent="0" marL="0">
              <a:buNone/>
            </a:pPr>
            <a:r>
              <a:rPr lang="en-US" sz="1300" dirty="0">
                <a:solidFill>
                  <a:srgbClr val="C9CED8"/>
                </a:solidFill>
              </a:rPr>
              <a:t>Ukiyo-e</a:t>
            </a:r>
            <a:endParaRPr lang="en-US" sz="1300" dirty="0"/>
          </a:p>
        </p:txBody>
      </p:sp>
      <p:sp>
        <p:nvSpPr>
          <p:cNvPr id="19" name="byline"/>
          <p:cNvSpPr txBox="1"/>
          <p:nvPr/>
        </p:nvSpPr>
        <p:spPr>
          <a:xfrm>
            <a:off x="548640" y="4434840"/>
            <a:ext cx="8046720" cy="320040"/>
          </a:xfrm>
          <a:prstGeom prst="rect">
            <a:avLst/>
          </a:prstGeom>
          <a:noFill/>
          <a:ln/>
        </p:spPr>
        <p:txBody>
          <a:bodyPr wrap="square" lIns="0" tIns="0" rIns="0" bIns="0" rtlCol="0" anchor="ctr"/>
          <a:lstStyle/>
          <a:p>
            <a:pPr indent="0" marL="0">
              <a:buNone/>
            </a:pPr>
            <a:r>
              <a:rPr lang="en-US" sz="1300" dirty="0">
                <a:solidFill>
                  <a:srgbClr val="C9CED8"/>
                </a:solidFill>
              </a:rPr>
              <a:t>MSA-DATB09-03 · Final project · Benjamin Caujolle · paintings not shown in this public copy (WikiArt licence)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Six steps to answer the director</a:t>
            </a:r>
            <a:endParaRPr lang="en-US" sz="3000" dirty="0"/>
          </a:p>
        </p:txBody>
      </p:sp>
      <p:sp>
        <p:nvSpPr>
          <p:cNvPr id="3" name="note The question"/>
          <p:cNvSpPr/>
          <p:nvPr/>
        </p:nvSpPr>
        <p:spPr>
          <a:xfrm>
            <a:off x="457200" y="960120"/>
            <a:ext cx="8229600" cy="914400"/>
          </a:xfrm>
          <a:prstGeom prst="roundRect">
            <a:avLst>
              <a:gd name="adj" fmla="val 8000"/>
            </a:avLst>
          </a:prstGeom>
          <a:solidFill>
            <a:schemeClr val="bg2"/>
          </a:solidFill>
          <a:ln w="12700">
            <a:solidFill>
              <a:schemeClr val="bg2"/>
            </a:solidFill>
            <a:prstDash val="solid"/>
          </a:ln>
        </p:spPr>
      </p:sp>
      <p:sp>
        <p:nvSpPr>
          <p:cNvPr id="4" name="text The question"/>
          <p:cNvSpPr txBox="1"/>
          <p:nvPr/>
        </p:nvSpPr>
        <p:spPr>
          <a:xfrm>
            <a:off x="621792" y="1069848"/>
            <a:ext cx="7900416" cy="69494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The question</a:t>
            </a:r>
            <a:endParaRPr lang="en-US" sz="1400" dirty="0"/>
          </a:p>
          <a:p>
            <a:pPr indent="0" marL="0">
              <a:spcAft>
                <a:spcPts val="400"/>
              </a:spcAft>
              <a:buNone/>
            </a:pPr>
            <a:r>
              <a:rPr lang="en-US" sz="1400" dirty="0">
                <a:solidFill>
                  <a:schemeClr val="tx1"/>
                </a:solidFill>
              </a:rPr>
              <a:t>Is a neural network worth it on a kiosk with a small CPU and a small team, or would a simpler classical model do the job?</a:t>
            </a:r>
            <a:endParaRPr lang="en-US" sz="1400" dirty="0"/>
          </a:p>
        </p:txBody>
      </p:sp>
      <p:sp>
        <p:nvSpPr>
          <p:cNvPr id="5" name="step 1"/>
          <p:cNvSpPr/>
          <p:nvPr/>
        </p:nvSpPr>
        <p:spPr>
          <a:xfrm>
            <a:off x="457200" y="2011680"/>
            <a:ext cx="2560320" cy="1188720"/>
          </a:xfrm>
          <a:prstGeom prst="roundRect">
            <a:avLst>
              <a:gd name="adj" fmla="val 6154"/>
            </a:avLst>
          </a:prstGeom>
          <a:solidFill>
            <a:schemeClr val="bg2"/>
          </a:solidFill>
          <a:ln w="12700">
            <a:solidFill>
              <a:schemeClr val="bg2"/>
            </a:solidFill>
            <a:prstDash val="solid"/>
          </a:ln>
        </p:spPr>
      </p:sp>
      <p:sp>
        <p:nvSpPr>
          <p:cNvPr id="6" name="step circle 1"/>
          <p:cNvSpPr/>
          <p:nvPr/>
        </p:nvSpPr>
        <p:spPr>
          <a:xfrm>
            <a:off x="621792" y="2194560"/>
            <a:ext cx="457200" cy="457200"/>
          </a:xfrm>
          <a:prstGeom prst="ellipse">
            <a:avLst/>
          </a:prstGeom>
          <a:solidFill>
            <a:schemeClr val="accent1"/>
          </a:solidFill>
          <a:ln w="12700">
            <a:solidFill>
              <a:schemeClr val="accent1"/>
            </a:solidFill>
            <a:prstDash val="solid"/>
          </a:ln>
        </p:spPr>
      </p:sp>
      <p:sp>
        <p:nvSpPr>
          <p:cNvPr id="7" name="step number 1"/>
          <p:cNvSpPr txBox="1"/>
          <p:nvPr/>
        </p:nvSpPr>
        <p:spPr>
          <a:xfrm>
            <a:off x="621792"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step text 1"/>
          <p:cNvSpPr txBox="1"/>
          <p:nvPr/>
        </p:nvSpPr>
        <p:spPr>
          <a:xfrm>
            <a:off x="1207008" y="2148840"/>
            <a:ext cx="1691640" cy="1024128"/>
          </a:xfrm>
          <a:prstGeom prst="rect">
            <a:avLst/>
          </a:prstGeom>
          <a:noFill/>
          <a:ln/>
        </p:spPr>
        <p:txBody>
          <a:bodyPr wrap="square" lIns="0" tIns="0" rIns="0" bIns="0" rtlCol="0" anchor="t"/>
          <a:lstStyle/>
          <a:p>
            <a:pPr indent="0" marL="0">
              <a:buNone/>
            </a:pPr>
            <a:r>
              <a:rPr lang="en-US" sz="1400" b="1" dirty="0">
                <a:solidFill>
                  <a:schemeClr val="tx2"/>
                </a:solidFill>
              </a:rPr>
              <a:t>Data and a fair split</a:t>
            </a:r>
            <a:endParaRPr lang="en-US" sz="1400" dirty="0"/>
          </a:p>
          <a:p>
            <a:pPr indent="0" marL="0">
              <a:buNone/>
            </a:pPr>
            <a:r>
              <a:rPr lang="en-US" sz="1200" dirty="0">
                <a:solidFill>
                  <a:schemeClr val="tx1"/>
                </a:solidFill>
              </a:rPr>
              <a:t>1 500 WikiArt paintings, 5 styles, split by painter</a:t>
            </a:r>
            <a:endParaRPr lang="en-US" sz="1400" dirty="0"/>
          </a:p>
        </p:txBody>
      </p:sp>
      <p:sp>
        <p:nvSpPr>
          <p:cNvPr id="9" name="step 2"/>
          <p:cNvSpPr/>
          <p:nvPr/>
        </p:nvSpPr>
        <p:spPr>
          <a:xfrm>
            <a:off x="3291840" y="2011680"/>
            <a:ext cx="2560320" cy="1188720"/>
          </a:xfrm>
          <a:prstGeom prst="roundRect">
            <a:avLst>
              <a:gd name="adj" fmla="val 6154"/>
            </a:avLst>
          </a:prstGeom>
          <a:solidFill>
            <a:schemeClr val="bg2"/>
          </a:solidFill>
          <a:ln w="12700">
            <a:solidFill>
              <a:schemeClr val="bg2"/>
            </a:solidFill>
            <a:prstDash val="solid"/>
          </a:ln>
        </p:spPr>
      </p:sp>
      <p:sp>
        <p:nvSpPr>
          <p:cNvPr id="10" name="step circle 2"/>
          <p:cNvSpPr/>
          <p:nvPr/>
        </p:nvSpPr>
        <p:spPr>
          <a:xfrm>
            <a:off x="3456432" y="2194560"/>
            <a:ext cx="457200" cy="457200"/>
          </a:xfrm>
          <a:prstGeom prst="ellipse">
            <a:avLst/>
          </a:prstGeom>
          <a:solidFill>
            <a:schemeClr val="accent1"/>
          </a:solidFill>
          <a:ln w="12700">
            <a:solidFill>
              <a:schemeClr val="accent1"/>
            </a:solidFill>
            <a:prstDash val="solid"/>
          </a:ln>
        </p:spPr>
      </p:sp>
      <p:sp>
        <p:nvSpPr>
          <p:cNvPr id="11" name="step number 2"/>
          <p:cNvSpPr txBox="1"/>
          <p:nvPr/>
        </p:nvSpPr>
        <p:spPr>
          <a:xfrm>
            <a:off x="3456432"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step text 2"/>
          <p:cNvSpPr txBox="1"/>
          <p:nvPr/>
        </p:nvSpPr>
        <p:spPr>
          <a:xfrm>
            <a:off x="4041648" y="2148840"/>
            <a:ext cx="1691640" cy="1024128"/>
          </a:xfrm>
          <a:prstGeom prst="rect">
            <a:avLst/>
          </a:prstGeom>
          <a:noFill/>
          <a:ln/>
        </p:spPr>
        <p:txBody>
          <a:bodyPr wrap="square" lIns="0" tIns="0" rIns="0" bIns="0" rtlCol="0" anchor="t"/>
          <a:lstStyle/>
          <a:p>
            <a:pPr indent="0" marL="0">
              <a:buNone/>
            </a:pPr>
            <a:r>
              <a:rPr lang="en-US" sz="1400" b="1" dirty="0">
                <a:solidFill>
                  <a:schemeClr val="tx2"/>
                </a:solidFill>
              </a:rPr>
              <a:t>Our own network (MLP)</a:t>
            </a:r>
            <a:endParaRPr lang="en-US" sz="1400" dirty="0"/>
          </a:p>
          <a:p>
            <a:pPr indent="0" marL="0">
              <a:buNone/>
            </a:pPr>
            <a:r>
              <a:rPr lang="en-US" sz="1200" dirty="0">
                <a:solidFill>
                  <a:schemeClr val="tx1"/>
                </a:solidFill>
              </a:rPr>
              <a:t>built from nn.Linear, trained on the pixels</a:t>
            </a:r>
            <a:endParaRPr lang="en-US" sz="1400" dirty="0"/>
          </a:p>
        </p:txBody>
      </p:sp>
      <p:sp>
        <p:nvSpPr>
          <p:cNvPr id="13" name="step 3"/>
          <p:cNvSpPr/>
          <p:nvPr/>
        </p:nvSpPr>
        <p:spPr>
          <a:xfrm>
            <a:off x="6126480" y="2011680"/>
            <a:ext cx="2560320" cy="1188720"/>
          </a:xfrm>
          <a:prstGeom prst="roundRect">
            <a:avLst>
              <a:gd name="adj" fmla="val 6154"/>
            </a:avLst>
          </a:prstGeom>
          <a:solidFill>
            <a:schemeClr val="bg2"/>
          </a:solidFill>
          <a:ln w="12700">
            <a:solidFill>
              <a:schemeClr val="bg2"/>
            </a:solidFill>
            <a:prstDash val="solid"/>
          </a:ln>
        </p:spPr>
      </p:sp>
      <p:sp>
        <p:nvSpPr>
          <p:cNvPr id="14" name="step circle 3"/>
          <p:cNvSpPr/>
          <p:nvPr/>
        </p:nvSpPr>
        <p:spPr>
          <a:xfrm>
            <a:off x="6291072" y="2194560"/>
            <a:ext cx="457200" cy="457200"/>
          </a:xfrm>
          <a:prstGeom prst="ellipse">
            <a:avLst/>
          </a:prstGeom>
          <a:solidFill>
            <a:schemeClr val="accent1"/>
          </a:solidFill>
          <a:ln w="12700">
            <a:solidFill>
              <a:schemeClr val="accent1"/>
            </a:solidFill>
            <a:prstDash val="solid"/>
          </a:ln>
        </p:spPr>
      </p:sp>
      <p:sp>
        <p:nvSpPr>
          <p:cNvPr id="15" name="step number 3"/>
          <p:cNvSpPr txBox="1"/>
          <p:nvPr/>
        </p:nvSpPr>
        <p:spPr>
          <a:xfrm>
            <a:off x="6291072"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step text 3"/>
          <p:cNvSpPr txBox="1"/>
          <p:nvPr/>
        </p:nvSpPr>
        <p:spPr>
          <a:xfrm>
            <a:off x="6876288" y="2148840"/>
            <a:ext cx="1691640" cy="1024128"/>
          </a:xfrm>
          <a:prstGeom prst="rect">
            <a:avLst/>
          </a:prstGeom>
          <a:noFill/>
          <a:ln/>
        </p:spPr>
        <p:txBody>
          <a:bodyPr wrap="square" lIns="0" tIns="0" rIns="0" bIns="0" rtlCol="0" anchor="t"/>
          <a:lstStyle/>
          <a:p>
            <a:pPr indent="0" marL="0">
              <a:buNone/>
            </a:pPr>
            <a:r>
              <a:rPr lang="en-US" sz="1400" b="1" dirty="0">
                <a:solidFill>
                  <a:schemeClr val="tx2"/>
                </a:solidFill>
              </a:rPr>
              <a:t>Monitoring and diagnosis</a:t>
            </a:r>
            <a:endParaRPr lang="en-US" sz="1400" dirty="0"/>
          </a:p>
          <a:p>
            <a:pPr indent="0" marL="0">
              <a:buNone/>
            </a:pPr>
            <a:r>
              <a:rPr lang="en-US" sz="1200" dirty="0">
                <a:solidFill>
                  <a:schemeClr val="tx1"/>
                </a:solidFill>
              </a:rPr>
              <a:t>look inside the training, fix it, break it on purpose</a:t>
            </a:r>
            <a:endParaRPr lang="en-US" sz="1400" dirty="0"/>
          </a:p>
        </p:txBody>
      </p:sp>
      <p:sp>
        <p:nvSpPr>
          <p:cNvPr id="17" name="step 4"/>
          <p:cNvSpPr/>
          <p:nvPr/>
        </p:nvSpPr>
        <p:spPr>
          <a:xfrm>
            <a:off x="457200" y="3355848"/>
            <a:ext cx="2560320" cy="1188720"/>
          </a:xfrm>
          <a:prstGeom prst="roundRect">
            <a:avLst>
              <a:gd name="adj" fmla="val 6154"/>
            </a:avLst>
          </a:prstGeom>
          <a:solidFill>
            <a:schemeClr val="bg2"/>
          </a:solidFill>
          <a:ln w="12700">
            <a:solidFill>
              <a:schemeClr val="bg2"/>
            </a:solidFill>
            <a:prstDash val="solid"/>
          </a:ln>
        </p:spPr>
      </p:sp>
      <p:sp>
        <p:nvSpPr>
          <p:cNvPr id="18" name="step circle 4"/>
          <p:cNvSpPr/>
          <p:nvPr/>
        </p:nvSpPr>
        <p:spPr>
          <a:xfrm>
            <a:off x="621792" y="3538728"/>
            <a:ext cx="457200" cy="457200"/>
          </a:xfrm>
          <a:prstGeom prst="ellipse">
            <a:avLst/>
          </a:prstGeom>
          <a:solidFill>
            <a:schemeClr val="accent1"/>
          </a:solidFill>
          <a:ln w="12700">
            <a:solidFill>
              <a:schemeClr val="accent1"/>
            </a:solidFill>
            <a:prstDash val="solid"/>
          </a:ln>
        </p:spPr>
      </p:sp>
      <p:sp>
        <p:nvSpPr>
          <p:cNvPr id="19" name="step number 4"/>
          <p:cNvSpPr txBox="1"/>
          <p:nvPr/>
        </p:nvSpPr>
        <p:spPr>
          <a:xfrm>
            <a:off x="621792" y="35387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text 4"/>
          <p:cNvSpPr txBox="1"/>
          <p:nvPr/>
        </p:nvSpPr>
        <p:spPr>
          <a:xfrm>
            <a:off x="1207008" y="3493008"/>
            <a:ext cx="1691640" cy="1024128"/>
          </a:xfrm>
          <a:prstGeom prst="rect">
            <a:avLst/>
          </a:prstGeom>
          <a:noFill/>
          <a:ln/>
        </p:spPr>
        <p:txBody>
          <a:bodyPr wrap="square" lIns="0" tIns="0" rIns="0" bIns="0" rtlCol="0" anchor="t"/>
          <a:lstStyle/>
          <a:p>
            <a:pPr indent="0" marL="0">
              <a:buNone/>
            </a:pPr>
            <a:r>
              <a:rPr lang="en-US" sz="1400" b="1" dirty="0">
                <a:solidFill>
                  <a:schemeClr val="tx2"/>
                </a:solidFill>
              </a:rPr>
              <a:t>A pretrained ResNet18</a:t>
            </a:r>
            <a:endParaRPr lang="en-US" sz="1400" dirty="0"/>
          </a:p>
          <a:p>
            <a:pPr indent="0" marL="0">
              <a:buNone/>
            </a:pPr>
            <a:r>
              <a:rPr lang="en-US" sz="1200" dirty="0">
                <a:solidFill>
                  <a:schemeClr val="tx1"/>
                </a:solidFill>
              </a:rPr>
              <a:t>reuse a network trained on 1.2 million photos</a:t>
            </a:r>
            <a:endParaRPr lang="en-US" sz="1400" dirty="0"/>
          </a:p>
        </p:txBody>
      </p:sp>
      <p:sp>
        <p:nvSpPr>
          <p:cNvPr id="21" name="step 5"/>
          <p:cNvSpPr/>
          <p:nvPr/>
        </p:nvSpPr>
        <p:spPr>
          <a:xfrm>
            <a:off x="3291840" y="3355848"/>
            <a:ext cx="2560320" cy="1188720"/>
          </a:xfrm>
          <a:prstGeom prst="roundRect">
            <a:avLst>
              <a:gd name="adj" fmla="val 6154"/>
            </a:avLst>
          </a:prstGeom>
          <a:solidFill>
            <a:schemeClr val="bg2"/>
          </a:solidFill>
          <a:ln w="12700">
            <a:solidFill>
              <a:schemeClr val="bg2"/>
            </a:solidFill>
            <a:prstDash val="solid"/>
          </a:ln>
        </p:spPr>
      </p:sp>
      <p:sp>
        <p:nvSpPr>
          <p:cNvPr id="22" name="step circle 5"/>
          <p:cNvSpPr/>
          <p:nvPr/>
        </p:nvSpPr>
        <p:spPr>
          <a:xfrm>
            <a:off x="3456432" y="3538728"/>
            <a:ext cx="457200" cy="457200"/>
          </a:xfrm>
          <a:prstGeom prst="ellipse">
            <a:avLst/>
          </a:prstGeom>
          <a:solidFill>
            <a:schemeClr val="accent1"/>
          </a:solidFill>
          <a:ln w="12700">
            <a:solidFill>
              <a:schemeClr val="accent1"/>
            </a:solidFill>
            <a:prstDash val="solid"/>
          </a:ln>
        </p:spPr>
      </p:sp>
      <p:sp>
        <p:nvSpPr>
          <p:cNvPr id="23" name="step number 5"/>
          <p:cNvSpPr txBox="1"/>
          <p:nvPr/>
        </p:nvSpPr>
        <p:spPr>
          <a:xfrm>
            <a:off x="3456432" y="35387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step text 5"/>
          <p:cNvSpPr txBox="1"/>
          <p:nvPr/>
        </p:nvSpPr>
        <p:spPr>
          <a:xfrm>
            <a:off x="4041648" y="3493008"/>
            <a:ext cx="1691640" cy="1024128"/>
          </a:xfrm>
          <a:prstGeom prst="rect">
            <a:avLst/>
          </a:prstGeom>
          <a:noFill/>
          <a:ln/>
        </p:spPr>
        <p:txBody>
          <a:bodyPr wrap="square" lIns="0" tIns="0" rIns="0" bIns="0" rtlCol="0" anchor="t"/>
          <a:lstStyle/>
          <a:p>
            <a:pPr indent="0" marL="0">
              <a:buNone/>
            </a:pPr>
            <a:r>
              <a:rPr lang="en-US" sz="1400" b="1" dirty="0">
                <a:solidFill>
                  <a:schemeClr val="tx2"/>
                </a:solidFill>
              </a:rPr>
              <a:t>The final test</a:t>
            </a:r>
            <a:endParaRPr lang="en-US" sz="1400" dirty="0"/>
          </a:p>
          <a:p>
            <a:pPr indent="0" marL="0">
              <a:buNone/>
            </a:pPr>
            <a:r>
              <a:rPr lang="en-US" sz="1200" dirty="0">
                <a:solidFill>
                  <a:schemeClr val="tx1"/>
                </a:solidFill>
              </a:rPr>
              <a:t>every model once on 220 new paintings, classical models too</a:t>
            </a:r>
            <a:endParaRPr lang="en-US" sz="1400" dirty="0"/>
          </a:p>
        </p:txBody>
      </p:sp>
      <p:sp>
        <p:nvSpPr>
          <p:cNvPr id="25" name="step 6"/>
          <p:cNvSpPr/>
          <p:nvPr/>
        </p:nvSpPr>
        <p:spPr>
          <a:xfrm>
            <a:off x="6126480" y="3355848"/>
            <a:ext cx="2560320" cy="1188720"/>
          </a:xfrm>
          <a:prstGeom prst="roundRect">
            <a:avLst>
              <a:gd name="adj" fmla="val 6154"/>
            </a:avLst>
          </a:prstGeom>
          <a:solidFill>
            <a:schemeClr val="bg2"/>
          </a:solidFill>
          <a:ln w="12700">
            <a:solidFill>
              <a:schemeClr val="bg2"/>
            </a:solidFill>
            <a:prstDash val="solid"/>
          </a:ln>
        </p:spPr>
      </p:sp>
      <p:sp>
        <p:nvSpPr>
          <p:cNvPr id="26" name="step circle 6"/>
          <p:cNvSpPr/>
          <p:nvPr/>
        </p:nvSpPr>
        <p:spPr>
          <a:xfrm>
            <a:off x="6291072" y="3538728"/>
            <a:ext cx="457200" cy="457200"/>
          </a:xfrm>
          <a:prstGeom prst="ellipse">
            <a:avLst/>
          </a:prstGeom>
          <a:solidFill>
            <a:schemeClr val="accent1"/>
          </a:solidFill>
          <a:ln w="12700">
            <a:solidFill>
              <a:schemeClr val="accent1"/>
            </a:solidFill>
            <a:prstDash val="solid"/>
          </a:ln>
        </p:spPr>
      </p:sp>
      <p:sp>
        <p:nvSpPr>
          <p:cNvPr id="27" name="step number 6"/>
          <p:cNvSpPr txBox="1"/>
          <p:nvPr/>
        </p:nvSpPr>
        <p:spPr>
          <a:xfrm>
            <a:off x="6291072" y="35387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8" name="step text 6"/>
          <p:cNvSpPr txBox="1"/>
          <p:nvPr/>
        </p:nvSpPr>
        <p:spPr>
          <a:xfrm>
            <a:off x="6876288" y="3493008"/>
            <a:ext cx="1691640" cy="1024128"/>
          </a:xfrm>
          <a:prstGeom prst="rect">
            <a:avLst/>
          </a:prstGeom>
          <a:noFill/>
          <a:ln/>
        </p:spPr>
        <p:txBody>
          <a:bodyPr wrap="square" lIns="0" tIns="0" rIns="0" bIns="0" rtlCol="0" anchor="t"/>
          <a:lstStyle/>
          <a:p>
            <a:pPr indent="0" marL="0">
              <a:buNone/>
            </a:pPr>
            <a:r>
              <a:rPr lang="en-US" sz="1400" b="1" dirty="0">
                <a:solidFill>
                  <a:schemeClr val="tx2"/>
                </a:solidFill>
              </a:rPr>
              <a:t>The cost on a kiosk</a:t>
            </a:r>
            <a:endParaRPr lang="en-US" sz="1400" dirty="0"/>
          </a:p>
          <a:p>
            <a:pPr indent="0" marL="0">
              <a:buNone/>
            </a:pPr>
            <a:r>
              <a:rPr lang="en-US" sz="1200" dirty="0">
                <a:solidFill>
                  <a:schemeClr val="tx1"/>
                </a:solidFill>
              </a:rPr>
              <a:t>time per photo, size, training time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A fair test: one painter, one part</a:t>
            </a:r>
            <a:endParaRPr lang="en-US" sz="3000" dirty="0"/>
          </a:p>
        </p:txBody>
      </p:sp>
      <p:sp>
        <p:nvSpPr>
          <p:cNvPr id="3" name="step tag 1"/>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1 OF 6 · DATA</a:t>
            </a:r>
            <a:endParaRPr lang="en-US" sz="1100" dirty="0"/>
          </a:p>
        </p:txBody>
      </p:sp>
      <p:sp>
        <p:nvSpPr>
          <p:cNvPr id="4" name="split bullets"/>
          <p:cNvSpPr txBox="1"/>
          <p:nvPr/>
        </p:nvSpPr>
        <p:spPr>
          <a:xfrm>
            <a:off x="457200" y="1143000"/>
            <a:ext cx="402336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1 500 WikiArt paintings: 5 styles, 300 per style</a:t>
            </a:r>
            <a:endParaRPr lang="en-US" sz="1500" dirty="0"/>
          </a:p>
          <a:p>
            <a:pPr marL="342900" indent="-342900">
              <a:spcAft>
                <a:spcPts val="800"/>
              </a:spcAft>
              <a:buSzPct val="100000"/>
              <a:buChar char="•"/>
            </a:pPr>
            <a:r>
              <a:rPr lang="en-US" sz="1500" dirty="0">
                <a:solidFill>
                  <a:schemeClr val="tx1"/>
                </a:solidFill>
              </a:rPr>
              <a:t>Same share of each style in every part</a:t>
            </a:r>
            <a:endParaRPr lang="en-US" sz="1500" dirty="0"/>
          </a:p>
          <a:p>
            <a:pPr marL="342900" indent="-342900">
              <a:spcAft>
                <a:spcPts val="800"/>
              </a:spcAft>
              <a:buSzPct val="100000"/>
              <a:buChar char="•"/>
            </a:pPr>
            <a:r>
              <a:rPr lang="en-US" sz="1500" dirty="0">
                <a:solidFill>
                  <a:schemeClr val="tx1"/>
                </a:solidFill>
              </a:rPr>
              <a:t>All the paintings of a known painter go to the same part</a:t>
            </a:r>
            <a:endParaRPr lang="en-US" sz="1500" dirty="0"/>
          </a:p>
          <a:p>
            <a:pPr marL="342900" indent="-342900">
              <a:spcAft>
                <a:spcPts val="800"/>
              </a:spcAft>
              <a:buSzPct val="100000"/>
              <a:buChar char="•"/>
            </a:pPr>
            <a:r>
              <a:rPr lang="en-US" sz="1500" dirty="0">
                <a:solidFill>
                  <a:schemeClr val="tx1"/>
                </a:solidFill>
              </a:rPr>
              <a:t>Test set locked until the very end, then used once</a:t>
            </a:r>
            <a:endParaRPr lang="en-US" sz="1500" dirty="0"/>
          </a:p>
        </p:txBody>
      </p:sp>
      <p:sp>
        <p:nvSpPr>
          <p:cNvPr id="5" name="split panel"/>
          <p:cNvSpPr/>
          <p:nvPr/>
        </p:nvSpPr>
        <p:spPr>
          <a:xfrm>
            <a:off x="4754880" y="1097280"/>
            <a:ext cx="3931920" cy="3474720"/>
          </a:xfrm>
          <a:prstGeom prst="roundRect">
            <a:avLst>
              <a:gd name="adj" fmla="val 2105"/>
            </a:avLst>
          </a:prstGeom>
          <a:solidFill>
            <a:schemeClr val="bg2"/>
          </a:solidFill>
          <a:ln w="12700">
            <a:solidFill>
              <a:schemeClr val="bg2"/>
            </a:solidFill>
            <a:prstDash val="solid"/>
          </a:ln>
        </p:spPr>
      </p:sp>
      <p:sp>
        <p:nvSpPr>
          <p:cNvPr id="6" name="split caption"/>
          <p:cNvSpPr txBox="1"/>
          <p:nvPr/>
        </p:nvSpPr>
        <p:spPr>
          <a:xfrm>
            <a:off x="4983480" y="1234440"/>
            <a:ext cx="3474720" cy="274320"/>
          </a:xfrm>
          <a:prstGeom prst="rect">
            <a:avLst/>
          </a:prstGeom>
          <a:noFill/>
          <a:ln/>
        </p:spPr>
        <p:txBody>
          <a:bodyPr wrap="square" lIns="0" tIns="0" rIns="0" bIns="0" rtlCol="0" anchor="ctr"/>
          <a:lstStyle/>
          <a:p>
            <a:pPr indent="0" marL="0">
              <a:buNone/>
            </a:pPr>
            <a:r>
              <a:rPr lang="en-US" sz="1300" b="1" dirty="0">
                <a:solidFill>
                  <a:schemeClr val="tx2"/>
                </a:solidFill>
              </a:rPr>
              <a:t>How the paintings are split</a:t>
            </a:r>
            <a:endParaRPr lang="en-US" sz="1300" dirty="0"/>
          </a:p>
        </p:txBody>
      </p:sp>
      <p:sp>
        <p:nvSpPr>
          <p:cNvPr id="7" name="bar train"/>
          <p:cNvSpPr/>
          <p:nvPr/>
        </p:nvSpPr>
        <p:spPr>
          <a:xfrm>
            <a:off x="4983480" y="1645920"/>
            <a:ext cx="2457785" cy="411480"/>
          </a:xfrm>
          <a:prstGeom prst="rect">
            <a:avLst/>
          </a:prstGeom>
          <a:solidFill>
            <a:schemeClr val="accent1"/>
          </a:solidFill>
          <a:ln w="19050">
            <a:solidFill>
              <a:schemeClr val="bg2"/>
            </a:solidFill>
            <a:prstDash val="solid"/>
          </a:ln>
        </p:spPr>
      </p:sp>
      <p:sp>
        <p:nvSpPr>
          <p:cNvPr id="8" name="label train"/>
          <p:cNvSpPr txBox="1"/>
          <p:nvPr/>
        </p:nvSpPr>
        <p:spPr>
          <a:xfrm>
            <a:off x="4983480" y="2103120"/>
            <a:ext cx="2457785" cy="457200"/>
          </a:xfrm>
          <a:prstGeom prst="rect">
            <a:avLst/>
          </a:prstGeom>
          <a:noFill/>
          <a:ln/>
        </p:spPr>
        <p:txBody>
          <a:bodyPr wrap="square" lIns="0" tIns="0" rIns="0" bIns="0" rtlCol="0" anchor="ctr"/>
          <a:lstStyle/>
          <a:p>
            <a:pPr algn="ctr" indent="0" marL="0">
              <a:buNone/>
            </a:pPr>
            <a:r>
              <a:rPr lang="en-US" sz="1200" dirty="0">
                <a:solidFill>
                  <a:schemeClr val="tx1"/>
                </a:solidFill>
              </a:rPr>
              <a:t>1 061</a:t>
            </a:r>
            <a:endParaRPr lang="en-US" sz="1200" dirty="0"/>
          </a:p>
          <a:p>
            <a:pPr algn="ctr" indent="0" marL="0">
              <a:buNone/>
            </a:pPr>
            <a:r>
              <a:rPr lang="en-US" sz="1200" dirty="0">
                <a:solidFill>
                  <a:schemeClr val="tx1"/>
                </a:solidFill>
              </a:rPr>
              <a:t>train</a:t>
            </a:r>
            <a:endParaRPr lang="en-US" sz="1200" dirty="0"/>
          </a:p>
        </p:txBody>
      </p:sp>
      <p:sp>
        <p:nvSpPr>
          <p:cNvPr id="9" name="bar validation"/>
          <p:cNvSpPr/>
          <p:nvPr/>
        </p:nvSpPr>
        <p:spPr>
          <a:xfrm>
            <a:off x="7441265" y="1645920"/>
            <a:ext cx="507309" cy="411480"/>
          </a:xfrm>
          <a:prstGeom prst="rect">
            <a:avLst/>
          </a:prstGeom>
          <a:solidFill>
            <a:schemeClr val="accent4"/>
          </a:solidFill>
          <a:ln w="19050">
            <a:solidFill>
              <a:schemeClr val="bg2"/>
            </a:solidFill>
            <a:prstDash val="solid"/>
          </a:ln>
        </p:spPr>
      </p:sp>
      <p:sp>
        <p:nvSpPr>
          <p:cNvPr id="10" name="label validation"/>
          <p:cNvSpPr txBox="1"/>
          <p:nvPr/>
        </p:nvSpPr>
        <p:spPr>
          <a:xfrm>
            <a:off x="7349825" y="2103120"/>
            <a:ext cx="690189" cy="457200"/>
          </a:xfrm>
          <a:prstGeom prst="rect">
            <a:avLst/>
          </a:prstGeom>
          <a:noFill/>
          <a:ln/>
        </p:spPr>
        <p:txBody>
          <a:bodyPr wrap="square" lIns="0" tIns="0" rIns="0" bIns="0" rtlCol="0" anchor="ctr"/>
          <a:lstStyle/>
          <a:p>
            <a:pPr algn="ctr" indent="0" marL="0">
              <a:buNone/>
            </a:pPr>
            <a:r>
              <a:rPr lang="en-US" sz="1200" dirty="0">
                <a:solidFill>
                  <a:schemeClr val="tx1"/>
                </a:solidFill>
              </a:rPr>
              <a:t>219</a:t>
            </a:r>
            <a:endParaRPr lang="en-US" sz="1200" dirty="0"/>
          </a:p>
          <a:p>
            <a:pPr algn="ctr" indent="0" marL="0">
              <a:buNone/>
            </a:pPr>
            <a:r>
              <a:rPr lang="en-US" sz="1200" dirty="0">
                <a:solidFill>
                  <a:schemeClr val="tx1"/>
                </a:solidFill>
              </a:rPr>
              <a:t>validation</a:t>
            </a:r>
            <a:endParaRPr lang="en-US" sz="1200" dirty="0"/>
          </a:p>
        </p:txBody>
      </p:sp>
      <p:sp>
        <p:nvSpPr>
          <p:cNvPr id="11" name="bar test"/>
          <p:cNvSpPr/>
          <p:nvPr/>
        </p:nvSpPr>
        <p:spPr>
          <a:xfrm>
            <a:off x="7948574" y="1645920"/>
            <a:ext cx="509626" cy="411480"/>
          </a:xfrm>
          <a:prstGeom prst="rect">
            <a:avLst/>
          </a:prstGeom>
          <a:solidFill>
            <a:schemeClr val="tx2"/>
          </a:solidFill>
          <a:ln w="19050">
            <a:solidFill>
              <a:schemeClr val="bg2"/>
            </a:solidFill>
            <a:prstDash val="solid"/>
          </a:ln>
        </p:spPr>
      </p:sp>
      <p:sp>
        <p:nvSpPr>
          <p:cNvPr id="12" name="label test"/>
          <p:cNvSpPr txBox="1"/>
          <p:nvPr/>
        </p:nvSpPr>
        <p:spPr>
          <a:xfrm>
            <a:off x="7857134" y="2103120"/>
            <a:ext cx="692506" cy="457200"/>
          </a:xfrm>
          <a:prstGeom prst="rect">
            <a:avLst/>
          </a:prstGeom>
          <a:noFill/>
          <a:ln/>
        </p:spPr>
        <p:txBody>
          <a:bodyPr wrap="square" lIns="0" tIns="0" rIns="0" bIns="0" rtlCol="0" anchor="ctr"/>
          <a:lstStyle/>
          <a:p>
            <a:pPr algn="ctr" indent="0" marL="0">
              <a:buNone/>
            </a:pPr>
            <a:r>
              <a:rPr lang="en-US" sz="1200" dirty="0">
                <a:solidFill>
                  <a:schemeClr val="tx1"/>
                </a:solidFill>
              </a:rPr>
              <a:t>220</a:t>
            </a:r>
            <a:endParaRPr lang="en-US" sz="1200" dirty="0"/>
          </a:p>
          <a:p>
            <a:pPr algn="ctr" indent="0" marL="0">
              <a:buNone/>
            </a:pPr>
            <a:r>
              <a:rPr lang="en-US" sz="1200" dirty="0">
                <a:solidFill>
                  <a:schemeClr val="tx1"/>
                </a:solidFill>
              </a:rPr>
              <a:t>test</a:t>
            </a:r>
            <a:endParaRPr lang="en-US" sz="1200" dirty="0"/>
          </a:p>
        </p:txBody>
      </p:sp>
      <p:sp>
        <p:nvSpPr>
          <p:cNvPr id="13" name="zero shared"/>
          <p:cNvSpPr txBox="1"/>
          <p:nvPr/>
        </p:nvSpPr>
        <p:spPr>
          <a:xfrm>
            <a:off x="4983480" y="2743200"/>
            <a:ext cx="822960" cy="91440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0</a:t>
            </a:r>
            <a:endParaRPr lang="en-US" sz="6000" dirty="0"/>
          </a:p>
        </p:txBody>
      </p:sp>
      <p:sp>
        <p:nvSpPr>
          <p:cNvPr id="14" name="zero caption"/>
          <p:cNvSpPr txBox="1"/>
          <p:nvPr/>
        </p:nvSpPr>
        <p:spPr>
          <a:xfrm>
            <a:off x="5852160" y="2788920"/>
            <a:ext cx="2697480" cy="868680"/>
          </a:xfrm>
          <a:prstGeom prst="rect">
            <a:avLst/>
          </a:prstGeom>
          <a:noFill/>
          <a:ln/>
        </p:spPr>
        <p:txBody>
          <a:bodyPr wrap="square" lIns="0" tIns="0" rIns="0" bIns="0" rtlCol="0" anchor="ctr"/>
          <a:lstStyle/>
          <a:p>
            <a:pPr indent="0" marL="0">
              <a:buNone/>
            </a:pPr>
            <a:r>
              <a:rPr lang="en-US" sz="1500" b="1" dirty="0">
                <a:solidFill>
                  <a:schemeClr val="tx2"/>
                </a:solidFill>
              </a:rPr>
              <a:t>known painters in two parts</a:t>
            </a:r>
            <a:endParaRPr lang="en-US" sz="1500" dirty="0"/>
          </a:p>
          <a:p>
            <a:pPr indent="0" marL="0">
              <a:buNone/>
            </a:pPr>
            <a:r>
              <a:rPr lang="en-US" sz="1400" dirty="0">
                <a:solidFill>
                  <a:schemeClr val="tx1"/>
                </a:solidFill>
              </a:rPr>
              <a:t>a random split would share 23 of 32</a:t>
            </a:r>
            <a:endParaRPr lang="en-US" sz="1500" dirty="0"/>
          </a:p>
        </p:txBody>
      </p:sp>
      <p:sp>
        <p:nvSpPr>
          <p:cNvPr id="15" name="split note"/>
          <p:cNvSpPr txBox="1"/>
          <p:nvPr/>
        </p:nvSpPr>
        <p:spPr>
          <a:xfrm>
            <a:off x="4983480" y="3794760"/>
            <a:ext cx="3520440" cy="640080"/>
          </a:xfrm>
          <a:prstGeom prst="rect">
            <a:avLst/>
          </a:prstGeom>
          <a:noFill/>
          <a:ln/>
        </p:spPr>
        <p:txBody>
          <a:bodyPr wrap="square" lIns="0" tIns="0" rIns="0" bIns="0" rtlCol="0" anchor="t"/>
          <a:lstStyle/>
          <a:p>
            <a:pPr indent="0" marL="0">
              <a:buNone/>
            </a:pPr>
            <a:r>
              <a:rPr lang="en-US" sz="1200" dirty="0">
                <a:solidFill>
                  <a:srgbClr val="5F6473"/>
                </a:solidFill>
              </a:rPr>
              <a:t>Otherwise a model can recognise the painter instead of the style (measured later: +11 points).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Our MLP learns the paintings by heart</a:t>
            </a:r>
            <a:endParaRPr lang="en-US" sz="3000" dirty="0"/>
          </a:p>
        </p:txBody>
      </p:sp>
      <p:sp>
        <p:nvSpPr>
          <p:cNvPr id="3" name="step tag 2"/>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2 OF 6 · OUR MLP</a:t>
            </a:r>
            <a:endParaRPr lang="en-US" sz="1100" dirty="0"/>
          </a:p>
        </p:txBody>
      </p:sp>
      <p:pic>
        <p:nvPicPr>
          <p:cNvPr id="4" name="baseline curves" descr="Training and validation loss and accuracy of the MLP baseline: training accuracy reaches 99.7 % while validation stays near 40 %">    </p:cNvPr>
          <p:cNvPicPr>
            <a:picLocks noChangeAspect="1"/>
          </p:cNvPicPr>
          <p:nvPr/>
        </p:nvPicPr>
        <p:blipFill>
          <a:blip r:embed="rId1"/>
          <a:stretch>
            <a:fillRect/>
          </a:stretch>
        </p:blipFill>
        <p:spPr>
          <a:xfrm>
            <a:off x="1397096" y="960120"/>
            <a:ext cx="6349808" cy="2560320"/>
          </a:xfrm>
          <a:prstGeom prst="rect">
            <a:avLst/>
          </a:prstGeom>
        </p:spPr>
      </p:pic>
      <p:sp>
        <p:nvSpPr>
          <p:cNvPr id="5" name="note The network"/>
          <p:cNvSpPr/>
          <p:nvPr/>
        </p:nvSpPr>
        <p:spPr>
          <a:xfrm>
            <a:off x="457200" y="3657600"/>
            <a:ext cx="2606040" cy="960120"/>
          </a:xfrm>
          <a:prstGeom prst="roundRect">
            <a:avLst>
              <a:gd name="adj" fmla="val 7619"/>
            </a:avLst>
          </a:prstGeom>
          <a:solidFill>
            <a:schemeClr val="bg2"/>
          </a:solidFill>
          <a:ln w="12700">
            <a:solidFill>
              <a:schemeClr val="bg2"/>
            </a:solidFill>
            <a:prstDash val="solid"/>
          </a:ln>
        </p:spPr>
      </p:sp>
      <p:sp>
        <p:nvSpPr>
          <p:cNvPr id="6" name="text The network"/>
          <p:cNvSpPr txBox="1"/>
          <p:nvPr/>
        </p:nvSpPr>
        <p:spPr>
          <a:xfrm>
            <a:off x="621792" y="3767328"/>
            <a:ext cx="2276856" cy="74066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The network</a:t>
            </a:r>
            <a:endParaRPr lang="en-US" sz="1500" dirty="0"/>
          </a:p>
          <a:p>
            <a:pPr indent="0" marL="0">
              <a:spcAft>
                <a:spcPts val="400"/>
              </a:spcAft>
              <a:buNone/>
            </a:pPr>
            <a:r>
              <a:rPr lang="en-US" sz="1400" dirty="0">
                <a:solidFill>
                  <a:schemeClr val="tx1"/>
                </a:solidFill>
              </a:rPr>
              <a:t>nn.Linear layers, 12 288 → 512 → 256 → 5, 6.4 M parameters</a:t>
            </a:r>
            <a:endParaRPr lang="en-US" sz="1500" dirty="0"/>
          </a:p>
        </p:txBody>
      </p:sp>
      <p:sp>
        <p:nvSpPr>
          <p:cNvPr id="7" name="note Two checks first"/>
          <p:cNvSpPr/>
          <p:nvPr/>
        </p:nvSpPr>
        <p:spPr>
          <a:xfrm>
            <a:off x="3268980" y="3657600"/>
            <a:ext cx="2606040" cy="960120"/>
          </a:xfrm>
          <a:prstGeom prst="roundRect">
            <a:avLst>
              <a:gd name="adj" fmla="val 7619"/>
            </a:avLst>
          </a:prstGeom>
          <a:solidFill>
            <a:schemeClr val="bg2"/>
          </a:solidFill>
          <a:ln w="12700">
            <a:solidFill>
              <a:schemeClr val="bg2"/>
            </a:solidFill>
            <a:prstDash val="solid"/>
          </a:ln>
        </p:spPr>
      </p:sp>
      <p:sp>
        <p:nvSpPr>
          <p:cNvPr id="8" name="text Two checks first"/>
          <p:cNvSpPr txBox="1"/>
          <p:nvPr/>
        </p:nvSpPr>
        <p:spPr>
          <a:xfrm>
            <a:off x="3433572" y="3767328"/>
            <a:ext cx="2276856" cy="74066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Two checks first</a:t>
            </a:r>
            <a:endParaRPr lang="en-US" sz="1500" dirty="0"/>
          </a:p>
          <a:p>
            <a:pPr indent="0" marL="0">
              <a:spcAft>
                <a:spcPts val="400"/>
              </a:spcAft>
              <a:buNone/>
            </a:pPr>
            <a:r>
              <a:rPr lang="en-US" sz="1400" dirty="0">
                <a:solidFill>
                  <a:schemeClr val="tx1"/>
                </a:solidFill>
              </a:rPr>
              <a:t>first loss 1.59 ≈ ln 5; one batch learned 100 %</a:t>
            </a:r>
            <a:endParaRPr lang="en-US" sz="1500" dirty="0"/>
          </a:p>
        </p:txBody>
      </p:sp>
      <p:sp>
        <p:nvSpPr>
          <p:cNvPr id="9" name="note The problem"/>
          <p:cNvSpPr/>
          <p:nvPr/>
        </p:nvSpPr>
        <p:spPr>
          <a:xfrm>
            <a:off x="6080760" y="3657600"/>
            <a:ext cx="2606040" cy="960120"/>
          </a:xfrm>
          <a:prstGeom prst="roundRect">
            <a:avLst>
              <a:gd name="adj" fmla="val 7619"/>
            </a:avLst>
          </a:prstGeom>
          <a:solidFill>
            <a:schemeClr val="bg2"/>
          </a:solidFill>
          <a:ln w="12700">
            <a:solidFill>
              <a:schemeClr val="bg2"/>
            </a:solidFill>
            <a:prstDash val="solid"/>
          </a:ln>
        </p:spPr>
      </p:sp>
      <p:sp>
        <p:nvSpPr>
          <p:cNvPr id="10" name="text The problem"/>
          <p:cNvSpPr txBox="1"/>
          <p:nvPr/>
        </p:nvSpPr>
        <p:spPr>
          <a:xfrm>
            <a:off x="6245352" y="3767328"/>
            <a:ext cx="2276856" cy="740664"/>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The problem</a:t>
            </a:r>
            <a:endParaRPr lang="en-US" sz="1500" dirty="0"/>
          </a:p>
          <a:p>
            <a:pPr indent="0" marL="0">
              <a:spcAft>
                <a:spcPts val="400"/>
              </a:spcAft>
              <a:buNone/>
            </a:pPr>
            <a:r>
              <a:rPr lang="en-US" sz="1400" dirty="0">
                <a:solidFill>
                  <a:schemeClr val="tx1"/>
                </a:solidFill>
              </a:rPr>
              <a:t>99.7 % on train, 40.6 % on validation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Healthy training, but the MLP overfits</a:t>
            </a:r>
            <a:endParaRPr lang="en-US" sz="3000" dirty="0"/>
          </a:p>
        </p:txBody>
      </p:sp>
      <p:sp>
        <p:nvSpPr>
          <p:cNvPr id="3" name="step tag 3"/>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3 OF 6 · MONITORING</a:t>
            </a:r>
            <a:endParaRPr lang="en-US" sz="1100" dirty="0"/>
          </a:p>
        </p:txBody>
      </p:sp>
      <p:graphicFrame>
        <p:nvGraphicFramePr>
          <p:cNvPr id="4" name="chart regularisation" descr=""/>
          <p:cNvGraphicFramePr/>
          <p:nvPr/>
        </p:nvGraphicFramePr>
        <p:xfrm>
          <a:off x="365760" y="1005840"/>
          <a:ext cx="4937760" cy="3611880"/>
        </p:xfrm>
        <a:graphic xmlns:a="http://schemas.openxmlformats.org/drawingml/2006/main">
          <a:graphicData uri="http://schemas.openxmlformats.org/drawingml/2006/chart">
            <c:chart xmlns:c="http://schemas.openxmlformats.org/drawingml/2006/chart" r:id="rId1"/>
          </a:graphicData>
        </a:graphic>
      </p:graphicFrame>
      <p:sp>
        <p:nvSpPr>
          <p:cNvPr id="5" name="monitoring bullets"/>
          <p:cNvSpPr txBox="1"/>
          <p:nvPr/>
        </p:nvSpPr>
        <p:spPr>
          <a:xfrm>
            <a:off x="5532120" y="1097280"/>
            <a:ext cx="3154680" cy="3520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Gradients reach every layer and only 4 % of neurons are dead: the training is healthy</a:t>
            </a:r>
            <a:endParaRPr lang="en-US" sz="1400" dirty="0"/>
          </a:p>
          <a:p>
            <a:pPr marL="342900" indent="-342900">
              <a:spcAft>
                <a:spcPts val="800"/>
              </a:spcAft>
              <a:buSzPct val="100000"/>
              <a:buChar char="•"/>
            </a:pPr>
            <a:r>
              <a:rPr lang="en-US" sz="1400" dirty="0">
                <a:solidFill>
                  <a:schemeClr val="tx1"/>
                </a:solidFill>
              </a:rPr>
              <a:t>Learning-rate sweep: 0.0001 is best; 0.001 overfits after 2 epochs</a:t>
            </a:r>
            <a:endParaRPr lang="en-US" sz="1400" dirty="0"/>
          </a:p>
          <a:p>
            <a:pPr marL="342900" indent="-342900">
              <a:spcAft>
                <a:spcPts val="800"/>
              </a:spcAft>
              <a:buSzPct val="100000"/>
              <a:buChar char="•"/>
            </a:pPr>
            <a:r>
              <a:rPr lang="en-US" sz="1400" dirty="0">
                <a:solidFill>
                  <a:schemeClr val="tx1"/>
                </a:solidFill>
              </a:rPr>
              <a:t>All tools together: gap train - validation 0.61 → 0.12</a:t>
            </a:r>
            <a:endParaRPr lang="en-US" sz="1400" dirty="0"/>
          </a:p>
          <a:p>
            <a:pPr marL="342900" indent="-342900">
              <a:spcAft>
                <a:spcPts val="800"/>
              </a:spcAft>
              <a:buSzPct val="100000"/>
              <a:buChar char="•"/>
            </a:pPr>
            <a:r>
              <a:rPr lang="en-US" sz="1400" dirty="0">
                <a:solidFill>
                  <a:schemeClr val="tx1"/>
                </a:solidFill>
              </a:rPr>
              <a:t>But only 7 % of Cubist paintings are found: the MLP sees colours, not shapes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Four broken runs, four signatures</a:t>
            </a:r>
            <a:endParaRPr lang="en-US" sz="3000" dirty="0"/>
          </a:p>
        </p:txBody>
      </p:sp>
      <p:sp>
        <p:nvSpPr>
          <p:cNvPr id="3" name="step tag 3"/>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3 OF 6 · MONITORING</a:t>
            </a:r>
            <a:endParaRPr lang="en-US" sz="1100" dirty="0"/>
          </a:p>
        </p:txBody>
      </p:sp>
      <p:graphicFrame>
        <p:nvGraphicFramePr>
          <p:cNvPr id="7" name="doctor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91640"/>
                <a:gridCol w="2514600"/>
                <a:gridCol w="2240280"/>
                <a:gridCol w="1783080"/>
              </a:tblGrid>
              <a:tr h="384048">
                <a:tc>
                  <a:txBody>
                    <a:bodyPr/>
                    <a:lstStyle/>
                    <a:p>
                      <a:pPr indent="0" marL="0">
                        <a:buNone/>
                      </a:pPr>
                      <a:r>
                        <a:rPr lang="en-US" sz="1300" b="1" dirty="0">
                          <a:solidFill>
                            <a:schemeClr val="bg1"/>
                          </a:solidFill>
                        </a:rPr>
                        <a:t>Bug we caused</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Symptom we measured</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Cause</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Cure → result</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r>
              <a:tr h="566928">
                <a:tc>
                  <a:txBody>
                    <a:bodyPr/>
                    <a:lstStyle/>
                    <a:p>
                      <a:pPr indent="0" marL="0">
                        <a:buNone/>
                      </a:pPr>
                      <a:r>
                        <a:rPr lang="en-US" sz="1300" dirty="0">
                          <a:solidFill>
                            <a:schemeClr val="tx1"/>
                          </a:solidFill>
                        </a:rPr>
                        <a:t>Learning rate too big</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loss stuck at ln 5; 99.6 % of neurons dead in layer 2</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steps push every ReLU below 0</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lr 0.0001 → 43.8 %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566928">
                <a:tc>
                  <a:txBody>
                    <a:bodyPr/>
                    <a:lstStyle/>
                    <a:p>
                      <a:pPr indent="0" marL="0">
                        <a:buNone/>
                      </a:pPr>
                      <a:r>
                        <a:rPr lang="en-US" sz="1300" dirty="0">
                          <a:solidFill>
                            <a:schemeClr val="tx1"/>
                          </a:solidFill>
                        </a:rPr>
                        <a:t>zero_grad() forgotten</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loss jumps to 4.9, then one class only</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gradients pile up: x26 in 2 epochs</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zero_grad() → 41.1 %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566928">
                <a:tc>
                  <a:txBody>
                    <a:bodyPr/>
                    <a:lstStyle/>
                    <a:p>
                      <a:pPr indent="0" marL="0">
                        <a:buNone/>
                      </a:pPr>
                      <a:r>
                        <a:rPr lang="en-US" sz="1300" dirty="0">
                          <a:solidFill>
                            <a:schemeClr val="tx1"/>
                          </a:solidFill>
                        </a:rPr>
                        <a:t>Raw pixels (0 to 255)</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first loss 16.3 instead of 1.6</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inputs dozens of times too big</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standardise → 43.8 %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566928">
                <a:tc>
                  <a:txBody>
                    <a:bodyPr/>
                    <a:lstStyle/>
                    <a:p>
                      <a:pPr indent="0" marL="0">
                        <a:buNone/>
                      </a:pPr>
                      <a:r>
                        <a:rPr lang="en-US" sz="1300" dirty="0">
                          <a:solidFill>
                            <a:schemeClr val="tx1"/>
                          </a:solidFill>
                        </a:rPr>
                        <a:t>8 sigmoid layers</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loss stuck at ln 5</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vanishing gradient: layer 1 gets 6e-7 of layer 9</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ReLU + He init → 39.3 %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bl>
          </a:graphicData>
        </a:graphic>
      </p:graphicFrame>
      <p:sp>
        <p:nvSpPr>
          <p:cNvPr id="5" name="note Lesson"/>
          <p:cNvSpPr/>
          <p:nvPr/>
        </p:nvSpPr>
        <p:spPr>
          <a:xfrm>
            <a:off x="457200" y="3794760"/>
            <a:ext cx="8229600" cy="822960"/>
          </a:xfrm>
          <a:prstGeom prst="roundRect">
            <a:avLst>
              <a:gd name="adj" fmla="val 8889"/>
            </a:avLst>
          </a:prstGeom>
          <a:solidFill>
            <a:schemeClr val="bg2"/>
          </a:solidFill>
          <a:ln w="12700">
            <a:solidFill>
              <a:schemeClr val="bg2"/>
            </a:solidFill>
            <a:prstDash val="solid"/>
          </a:ln>
        </p:spPr>
      </p:sp>
      <p:sp>
        <p:nvSpPr>
          <p:cNvPr id="6" name="text Lesson"/>
          <p:cNvSpPr txBox="1"/>
          <p:nvPr/>
        </p:nvSpPr>
        <p:spPr>
          <a:xfrm>
            <a:off x="621792" y="3904488"/>
            <a:ext cx="7900416" cy="60350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Lesson</a:t>
            </a:r>
            <a:endParaRPr lang="en-US" sz="1400" dirty="0"/>
          </a:p>
          <a:p>
            <a:pPr indent="0" marL="0">
              <a:spcAft>
                <a:spcPts val="400"/>
              </a:spcAft>
              <a:buNone/>
            </a:pPr>
            <a:r>
              <a:rPr lang="en-US" sz="1400" dirty="0">
                <a:solidFill>
                  <a:schemeClr val="tx1"/>
                </a:solidFill>
              </a:rPr>
              <a:t>Same symptom (loss stuck at ln 5), two causes: only the monitor (dead neurons, gradient per layer) tells them apart.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A pretrained ResNet18 sees shapes</a:t>
            </a:r>
            <a:endParaRPr lang="en-US" sz="3000" dirty="0"/>
          </a:p>
        </p:txBody>
      </p:sp>
      <p:sp>
        <p:nvSpPr>
          <p:cNvPr id="3" name="step tag 4"/>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4 OF 6 · RESNET18</a:t>
            </a:r>
            <a:endParaRPr lang="en-US" sz="1100" dirty="0"/>
          </a:p>
        </p:txBody>
      </p:sp>
      <p:graphicFrame>
        <p:nvGraphicFramePr>
          <p:cNvPr id="4" name="chart resnet" descr=""/>
          <p:cNvGraphicFramePr/>
          <p:nvPr/>
        </p:nvGraphicFramePr>
        <p:xfrm>
          <a:off x="365760" y="1005840"/>
          <a:ext cx="4480560" cy="3611880"/>
        </p:xfrm>
        <a:graphic xmlns:a="http://schemas.openxmlformats.org/drawingml/2006/main">
          <a:graphicData uri="http://schemas.openxmlformats.org/drawingml/2006/chart">
            <c:chart xmlns:c="http://schemas.openxmlformats.org/drawingml/2006/chart" r:id="rId1"/>
          </a:graphicData>
        </a:graphic>
      </p:graphicFrame>
      <p:sp>
        <p:nvSpPr>
          <p:cNvPr id="5" name="note Frozen features"/>
          <p:cNvSpPr/>
          <p:nvPr/>
        </p:nvSpPr>
        <p:spPr>
          <a:xfrm>
            <a:off x="5074920" y="1051560"/>
            <a:ext cx="3611880" cy="1097280"/>
          </a:xfrm>
          <a:prstGeom prst="roundRect">
            <a:avLst>
              <a:gd name="adj" fmla="val 6667"/>
            </a:avLst>
          </a:prstGeom>
          <a:solidFill>
            <a:schemeClr val="bg2"/>
          </a:solidFill>
          <a:ln w="12700">
            <a:solidFill>
              <a:schemeClr val="bg2"/>
            </a:solidFill>
            <a:prstDash val="solid"/>
          </a:ln>
        </p:spPr>
      </p:sp>
      <p:sp>
        <p:nvSpPr>
          <p:cNvPr id="6" name="text Frozen features"/>
          <p:cNvSpPr txBox="1"/>
          <p:nvPr/>
        </p:nvSpPr>
        <p:spPr>
          <a:xfrm>
            <a:off x="5239512" y="1161288"/>
            <a:ext cx="3282696" cy="87782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Frozen features</a:t>
            </a:r>
            <a:endParaRPr lang="en-US" sz="1500" dirty="0"/>
          </a:p>
          <a:p>
            <a:pPr indent="0" marL="0">
              <a:spcAft>
                <a:spcPts val="400"/>
              </a:spcAft>
              <a:buNone/>
            </a:pPr>
            <a:r>
              <a:rPr lang="en-US" sz="1400" dirty="0">
                <a:solidFill>
                  <a:schemeClr val="tx1"/>
                </a:solidFill>
              </a:rPr>
              <a:t>Each painting → 512 numbers (15.5 ms). Only one linear layer is trained: 2 565 weights, 0.4 s.</a:t>
            </a:r>
            <a:endParaRPr lang="en-US" sz="1500" dirty="0"/>
          </a:p>
        </p:txBody>
      </p:sp>
      <p:sp>
        <p:nvSpPr>
          <p:cNvPr id="7" name="note Fine-tuning layer4"/>
          <p:cNvSpPr/>
          <p:nvPr/>
        </p:nvSpPr>
        <p:spPr>
          <a:xfrm>
            <a:off x="5074920" y="2286000"/>
            <a:ext cx="3611880" cy="1097280"/>
          </a:xfrm>
          <a:prstGeom prst="roundRect">
            <a:avLst>
              <a:gd name="adj" fmla="val 6667"/>
            </a:avLst>
          </a:prstGeom>
          <a:solidFill>
            <a:schemeClr val="bg2"/>
          </a:solidFill>
          <a:ln w="12700">
            <a:solidFill>
              <a:schemeClr val="bg2"/>
            </a:solidFill>
            <a:prstDash val="solid"/>
          </a:ln>
        </p:spPr>
      </p:sp>
      <p:sp>
        <p:nvSpPr>
          <p:cNvPr id="8" name="text Fine-tuning layer4"/>
          <p:cNvSpPr txBox="1"/>
          <p:nvPr/>
        </p:nvSpPr>
        <p:spPr>
          <a:xfrm>
            <a:off x="5239512" y="2395728"/>
            <a:ext cx="3282696" cy="87782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Fine-tuning layer4</a:t>
            </a:r>
            <a:endParaRPr lang="en-US" sz="1500" dirty="0"/>
          </a:p>
          <a:p>
            <a:pPr indent="0" marL="0">
              <a:spcAft>
                <a:spcPts val="400"/>
              </a:spcAft>
              <a:buNone/>
            </a:pPr>
            <a:r>
              <a:rPr lang="en-US" sz="1400" dirty="0">
                <a:solidFill>
                  <a:schemeClr val="tx1"/>
                </a:solidFill>
              </a:rPr>
              <a:t>8.4 M weights for 1 061 images: 99.9 % on train, 85.4 % on validation. It overfits.</a:t>
            </a:r>
            <a:endParaRPr lang="en-US" sz="1500" dirty="0"/>
          </a:p>
        </p:txBody>
      </p:sp>
      <p:sp>
        <p:nvSpPr>
          <p:cNvPr id="9" name="note Two silent bugs"/>
          <p:cNvSpPr/>
          <p:nvPr/>
        </p:nvSpPr>
        <p:spPr>
          <a:xfrm>
            <a:off x="5074920" y="3520440"/>
            <a:ext cx="3611880" cy="1097280"/>
          </a:xfrm>
          <a:prstGeom prst="roundRect">
            <a:avLst>
              <a:gd name="adj" fmla="val 6667"/>
            </a:avLst>
          </a:prstGeom>
          <a:solidFill>
            <a:schemeClr val="bg2"/>
          </a:solidFill>
          <a:ln w="12700">
            <a:solidFill>
              <a:schemeClr val="bg2"/>
            </a:solidFill>
            <a:prstDash val="solid"/>
          </a:ln>
        </p:spPr>
      </p:sp>
      <p:sp>
        <p:nvSpPr>
          <p:cNvPr id="10" name="text Two silent bugs"/>
          <p:cNvSpPr txBox="1"/>
          <p:nvPr/>
        </p:nvSpPr>
        <p:spPr>
          <a:xfrm>
            <a:off x="5239512" y="3630168"/>
            <a:ext cx="3282696" cy="877824"/>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Two silent bugs</a:t>
            </a:r>
            <a:endParaRPr lang="en-US" sz="1500" dirty="0"/>
          </a:p>
          <a:p>
            <a:pPr indent="0" marL="0">
              <a:spcAft>
                <a:spcPts val="400"/>
              </a:spcAft>
              <a:buNone/>
            </a:pPr>
            <a:r>
              <a:rPr lang="en-US" sz="1400" dirty="0">
                <a:solidFill>
                  <a:schemeClr val="tx1"/>
                </a:solidFill>
              </a:rPr>
              <a:t>No model.eval(): 12.8 %. No ImageNet normalisation: 81.7 %.</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Seeing the painter inflates the score</a:t>
            </a:r>
            <a:endParaRPr lang="en-US" sz="3000" dirty="0"/>
          </a:p>
        </p:txBody>
      </p:sp>
      <p:sp>
        <p:nvSpPr>
          <p:cNvPr id="3" name="step tag 4"/>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4 OF 6 · RESNET18</a:t>
            </a:r>
            <a:endParaRPr lang="en-US" sz="1100" dirty="0"/>
          </a:p>
        </p:txBody>
      </p:sp>
      <p:graphicFrame>
        <p:nvGraphicFramePr>
          <p:cNvPr id="4" name="chart leakage" descr=""/>
          <p:cNvGraphicFramePr/>
          <p:nvPr/>
        </p:nvGraphicFramePr>
        <p:xfrm>
          <a:off x="365760" y="100584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5" name="card +11.4"/>
          <p:cNvSpPr/>
          <p:nvPr/>
        </p:nvSpPr>
        <p:spPr>
          <a:xfrm>
            <a:off x="5760720" y="1051560"/>
            <a:ext cx="2926080" cy="1600200"/>
          </a:xfrm>
          <a:prstGeom prst="roundRect">
            <a:avLst>
              <a:gd name="adj" fmla="val 4571"/>
            </a:avLst>
          </a:prstGeom>
          <a:solidFill>
            <a:schemeClr val="accent1"/>
          </a:solidFill>
          <a:ln w="12700">
            <a:solidFill>
              <a:schemeClr val="accent1"/>
            </a:solidFill>
            <a:prstDash val="solid"/>
          </a:ln>
        </p:spPr>
      </p:sp>
      <p:sp>
        <p:nvSpPr>
          <p:cNvPr id="6" name="value +11.4"/>
          <p:cNvSpPr txBox="1"/>
          <p:nvPr/>
        </p:nvSpPr>
        <p:spPr>
          <a:xfrm>
            <a:off x="5943600" y="1188720"/>
            <a:ext cx="2560320" cy="73152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+11.4</a:t>
            </a:r>
            <a:endParaRPr lang="en-US" sz="4000" dirty="0"/>
          </a:p>
        </p:txBody>
      </p:sp>
      <p:sp>
        <p:nvSpPr>
          <p:cNvPr id="7" name="caption +11.4"/>
          <p:cNvSpPr txBox="1"/>
          <p:nvPr/>
        </p:nvSpPr>
        <p:spPr>
          <a:xfrm>
            <a:off x="5943600" y="1965960"/>
            <a:ext cx="2560320" cy="548640"/>
          </a:xfrm>
          <a:prstGeom prst="rect">
            <a:avLst/>
          </a:prstGeom>
          <a:noFill/>
          <a:ln/>
        </p:spPr>
        <p:txBody>
          <a:bodyPr wrap="square" lIns="0" tIns="0" rIns="0" bIns="0" rtlCol="0" anchor="t"/>
          <a:lstStyle/>
          <a:p>
            <a:pPr indent="0" marL="0">
              <a:buNone/>
            </a:pPr>
            <a:r>
              <a:rPr lang="en-US" sz="1400" dirty="0">
                <a:solidFill>
                  <a:schemeClr val="bg1"/>
                </a:solidFill>
              </a:rPr>
              <a:t>points when the painter was seen in training</a:t>
            </a:r>
            <a:endParaRPr lang="en-US" sz="1400" dirty="0"/>
          </a:p>
        </p:txBody>
      </p:sp>
      <p:sp>
        <p:nvSpPr>
          <p:cNvPr id="8" name="leakage bullets"/>
          <p:cNvSpPr txBox="1"/>
          <p:nvPr/>
        </p:nvSpPr>
        <p:spPr>
          <a:xfrm>
            <a:off x="5760720" y="2834640"/>
            <a:ext cx="2926080" cy="1783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Same images, same model: 5-fold cross-validation on train + validation</a:t>
            </a:r>
            <a:endParaRPr lang="en-US" sz="1400" dirty="0"/>
          </a:p>
          <a:p>
            <a:pPr marL="342900" indent="-342900">
              <a:spcAft>
                <a:spcPts val="800"/>
              </a:spcAft>
              <a:buSzPct val="100000"/>
              <a:buChar char="•"/>
            </a:pPr>
            <a:r>
              <a:rPr lang="en-US" sz="1400" dirty="0">
                <a:solidFill>
                  <a:schemeClr val="tx1"/>
                </a:solidFill>
              </a:rPr>
              <a:t>Control group (unknown painters): no change</a:t>
            </a:r>
            <a:endParaRPr lang="en-US" sz="1400" dirty="0"/>
          </a:p>
          <a:p>
            <a:pPr marL="342900" indent="-342900">
              <a:spcAft>
                <a:spcPts val="800"/>
              </a:spcAft>
              <a:buSzPct val="100000"/>
              <a:buChar char="•"/>
            </a:pPr>
            <a:r>
              <a:rPr lang="en-US" sz="1400" dirty="0">
                <a:solidFill>
                  <a:schemeClr val="tx1"/>
                </a:solidFill>
              </a:rPr>
              <a:t>So we split by painter: a random split would flatter the score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Final test: the pretrained network wins</a:t>
            </a:r>
            <a:endParaRPr lang="en-US" sz="3000" dirty="0"/>
          </a:p>
        </p:txBody>
      </p:sp>
      <p:sp>
        <p:nvSpPr>
          <p:cNvPr id="3" name="step tag 5"/>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5 OF 6 · FINAL TEST</a:t>
            </a:r>
            <a:endParaRPr lang="en-US" sz="1100" dirty="0"/>
          </a:p>
        </p:txBody>
      </p:sp>
      <p:graphicFrame>
        <p:nvGraphicFramePr>
          <p:cNvPr id="4" name="chart final test" descr=""/>
          <p:cNvGraphicFramePr/>
          <p:nvPr/>
        </p:nvGraphicFramePr>
        <p:xfrm>
          <a:off x="274320" y="960120"/>
          <a:ext cx="5806440" cy="3703320"/>
        </p:xfrm>
        <a:graphic xmlns:a="http://schemas.openxmlformats.org/drawingml/2006/main">
          <a:graphicData uri="http://schemas.openxmlformats.org/drawingml/2006/chart">
            <c:chart xmlns:c="http://schemas.openxmlformats.org/drawingml/2006/chart" r:id="rId1"/>
          </a:graphicData>
        </a:graphic>
      </p:graphicFrame>
      <p:sp>
        <p:nvSpPr>
          <p:cNvPr id="5" name="card +16.4"/>
          <p:cNvSpPr/>
          <p:nvPr/>
        </p:nvSpPr>
        <p:spPr>
          <a:xfrm>
            <a:off x="6263640" y="1051560"/>
            <a:ext cx="2423160" cy="1965960"/>
          </a:xfrm>
          <a:prstGeom prst="roundRect">
            <a:avLst>
              <a:gd name="adj" fmla="val 3721"/>
            </a:avLst>
          </a:prstGeom>
          <a:solidFill>
            <a:schemeClr val="accent1"/>
          </a:solidFill>
          <a:ln w="12700">
            <a:solidFill>
              <a:schemeClr val="accent1"/>
            </a:solidFill>
            <a:prstDash val="solid"/>
          </a:ln>
        </p:spPr>
      </p:sp>
      <p:sp>
        <p:nvSpPr>
          <p:cNvPr id="6" name="value +16.4"/>
          <p:cNvSpPr txBox="1"/>
          <p:nvPr/>
        </p:nvSpPr>
        <p:spPr>
          <a:xfrm>
            <a:off x="6446520" y="1188720"/>
            <a:ext cx="2057400" cy="73152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+16.4</a:t>
            </a:r>
            <a:endParaRPr lang="en-US" sz="4000" dirty="0"/>
          </a:p>
        </p:txBody>
      </p:sp>
      <p:sp>
        <p:nvSpPr>
          <p:cNvPr id="7" name="caption +16.4"/>
          <p:cNvSpPr txBox="1"/>
          <p:nvPr/>
        </p:nvSpPr>
        <p:spPr>
          <a:xfrm>
            <a:off x="6446520" y="1965960"/>
            <a:ext cx="2057400" cy="914400"/>
          </a:xfrm>
          <a:prstGeom prst="rect">
            <a:avLst/>
          </a:prstGeom>
          <a:noFill/>
          <a:ln/>
        </p:spPr>
        <p:txBody>
          <a:bodyPr wrap="square" lIns="0" tIns="0" rIns="0" bIns="0" rtlCol="0" anchor="t"/>
          <a:lstStyle/>
          <a:p>
            <a:pPr indent="0" marL="0">
              <a:buNone/>
            </a:pPr>
            <a:r>
              <a:rPr lang="en-US" sz="1300" dirty="0">
                <a:solidFill>
                  <a:schemeClr val="bg1"/>
                </a:solidFill>
              </a:rPr>
              <a:t>points over the best classical model (95 % interval 9.1 to 24.1)</a:t>
            </a:r>
            <a:endParaRPr lang="en-US" sz="1300" dirty="0"/>
          </a:p>
        </p:txBody>
      </p:sp>
      <p:sp>
        <p:nvSpPr>
          <p:cNvPr id="8" name="note Honest note"/>
          <p:cNvSpPr/>
          <p:nvPr/>
        </p:nvSpPr>
        <p:spPr>
          <a:xfrm>
            <a:off x="6263640" y="3154680"/>
            <a:ext cx="2423160" cy="1463040"/>
          </a:xfrm>
          <a:prstGeom prst="roundRect">
            <a:avLst>
              <a:gd name="adj" fmla="val 5000"/>
            </a:avLst>
          </a:prstGeom>
          <a:solidFill>
            <a:schemeClr val="bg2"/>
          </a:solidFill>
          <a:ln w="12700">
            <a:solidFill>
              <a:schemeClr val="bg2"/>
            </a:solidFill>
            <a:prstDash val="solid"/>
          </a:ln>
        </p:spPr>
      </p:sp>
      <p:sp>
        <p:nvSpPr>
          <p:cNvPr id="9" name="text Honest note"/>
          <p:cNvSpPr txBox="1"/>
          <p:nvPr/>
        </p:nvSpPr>
        <p:spPr>
          <a:xfrm>
            <a:off x="6428232" y="3264408"/>
            <a:ext cx="2093976" cy="124358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Honest note</a:t>
            </a:r>
            <a:endParaRPr lang="en-US" sz="1400" dirty="0"/>
          </a:p>
          <a:p>
            <a:pPr indent="0" marL="0">
              <a:spcAft>
                <a:spcPts val="400"/>
              </a:spcAft>
              <a:buNone/>
            </a:pPr>
            <a:r>
              <a:rPr lang="en-US" sz="1200" dirty="0">
                <a:solidFill>
                  <a:schemeClr val="tx1"/>
                </a:solidFill>
              </a:rPr>
              <a:t>Fine-tuned: 1st on test (87.9 %), 2nd on validation (85.4 %). We keep the model chosen before the test.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Fast and cheap enough for a kiosk</a:t>
            </a:r>
            <a:endParaRPr lang="en-US" sz="3000" dirty="0"/>
          </a:p>
        </p:txBody>
      </p:sp>
      <p:sp>
        <p:nvSpPr>
          <p:cNvPr id="3" name="step tag 6"/>
          <p:cNvSpPr txBox="1"/>
          <p:nvPr/>
        </p:nvSpPr>
        <p:spPr>
          <a:xfrm>
            <a:off x="457200" y="54864"/>
            <a:ext cx="8229600" cy="23774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STEP 6 OF 6 · KIOSK COST</a:t>
            </a:r>
            <a:endParaRPr lang="en-US" sz="1100" dirty="0"/>
          </a:p>
        </p:txBody>
      </p:sp>
      <p:sp>
        <p:nvSpPr>
          <p:cNvPr id="4" name="card 53 ms"/>
          <p:cNvSpPr/>
          <p:nvPr/>
        </p:nvSpPr>
        <p:spPr>
          <a:xfrm>
            <a:off x="457200" y="1097280"/>
            <a:ext cx="1920240" cy="1828800"/>
          </a:xfrm>
          <a:prstGeom prst="roundRect">
            <a:avLst>
              <a:gd name="adj" fmla="val 4000"/>
            </a:avLst>
          </a:prstGeom>
          <a:solidFill>
            <a:schemeClr val="accent1"/>
          </a:solidFill>
          <a:ln w="12700">
            <a:solidFill>
              <a:schemeClr val="accent1"/>
            </a:solidFill>
            <a:prstDash val="solid"/>
          </a:ln>
        </p:spPr>
      </p:sp>
      <p:sp>
        <p:nvSpPr>
          <p:cNvPr id="5" name="value 53 ms"/>
          <p:cNvSpPr txBox="1"/>
          <p:nvPr/>
        </p:nvSpPr>
        <p:spPr>
          <a:xfrm>
            <a:off x="640080" y="1234440"/>
            <a:ext cx="1554480" cy="73152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53 ms</a:t>
            </a:r>
            <a:endParaRPr lang="en-US" sz="3600" dirty="0"/>
          </a:p>
        </p:txBody>
      </p:sp>
      <p:sp>
        <p:nvSpPr>
          <p:cNvPr id="6" name="caption 53 ms"/>
          <p:cNvSpPr txBox="1"/>
          <p:nvPr/>
        </p:nvSpPr>
        <p:spPr>
          <a:xfrm>
            <a:off x="640080" y="2011680"/>
            <a:ext cx="1554480" cy="777240"/>
          </a:xfrm>
          <a:prstGeom prst="rect">
            <a:avLst/>
          </a:prstGeom>
          <a:noFill/>
          <a:ln/>
        </p:spPr>
        <p:txBody>
          <a:bodyPr wrap="square" lIns="0" tIns="0" rIns="0" bIns="0" rtlCol="0" anchor="t"/>
          <a:lstStyle/>
          <a:p>
            <a:pPr indent="0" marL="0">
              <a:buNone/>
            </a:pPr>
            <a:r>
              <a:rPr lang="en-US" sz="1400" dirty="0">
                <a:solidFill>
                  <a:schemeClr val="bg1"/>
                </a:solidFill>
              </a:rPr>
              <a:t>per photo on one CPU thread</a:t>
            </a:r>
            <a:endParaRPr lang="en-US" sz="1400" dirty="0"/>
          </a:p>
        </p:txBody>
      </p:sp>
      <p:sp>
        <p:nvSpPr>
          <p:cNvPr id="7" name="card 26 ms"/>
          <p:cNvSpPr/>
          <p:nvPr/>
        </p:nvSpPr>
        <p:spPr>
          <a:xfrm>
            <a:off x="2560320" y="1097280"/>
            <a:ext cx="1920240" cy="1828800"/>
          </a:xfrm>
          <a:prstGeom prst="roundRect">
            <a:avLst>
              <a:gd name="adj" fmla="val 4000"/>
            </a:avLst>
          </a:prstGeom>
          <a:solidFill>
            <a:schemeClr val="bg2"/>
          </a:solidFill>
          <a:ln w="12700">
            <a:solidFill>
              <a:schemeClr val="bg2"/>
            </a:solidFill>
            <a:prstDash val="solid"/>
          </a:ln>
        </p:spPr>
      </p:sp>
      <p:sp>
        <p:nvSpPr>
          <p:cNvPr id="8" name="value 26 ms"/>
          <p:cNvSpPr txBox="1"/>
          <p:nvPr/>
        </p:nvSpPr>
        <p:spPr>
          <a:xfrm>
            <a:off x="2743200" y="1234440"/>
            <a:ext cx="1554480" cy="73152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26 ms</a:t>
            </a:r>
            <a:endParaRPr lang="en-US" sz="3600" dirty="0"/>
          </a:p>
        </p:txBody>
      </p:sp>
      <p:sp>
        <p:nvSpPr>
          <p:cNvPr id="9" name="caption 26 ms"/>
          <p:cNvSpPr txBox="1"/>
          <p:nvPr/>
        </p:nvSpPr>
        <p:spPr>
          <a:xfrm>
            <a:off x="2743200" y="2011680"/>
            <a:ext cx="1554480" cy="777240"/>
          </a:xfrm>
          <a:prstGeom prst="rect">
            <a:avLst/>
          </a:prstGeom>
          <a:noFill/>
          <a:ln/>
        </p:spPr>
        <p:txBody>
          <a:bodyPr wrap="square" lIns="0" tIns="0" rIns="0" bIns="0" rtlCol="0" anchor="t"/>
          <a:lstStyle/>
          <a:p>
            <a:pPr indent="0" marL="0">
              <a:buNone/>
            </a:pPr>
            <a:r>
              <a:rPr lang="en-US" sz="1400" dirty="0">
                <a:solidFill>
                  <a:schemeClr val="tx1"/>
                </a:solidFill>
              </a:rPr>
              <a:t>per photo with 4 threads</a:t>
            </a:r>
            <a:endParaRPr lang="en-US" sz="1400" dirty="0"/>
          </a:p>
        </p:txBody>
      </p:sp>
      <p:sp>
        <p:nvSpPr>
          <p:cNvPr id="10" name="card 45 MB"/>
          <p:cNvSpPr/>
          <p:nvPr/>
        </p:nvSpPr>
        <p:spPr>
          <a:xfrm>
            <a:off x="4663440" y="1097280"/>
            <a:ext cx="1920240" cy="1828800"/>
          </a:xfrm>
          <a:prstGeom prst="roundRect">
            <a:avLst>
              <a:gd name="adj" fmla="val 4000"/>
            </a:avLst>
          </a:prstGeom>
          <a:solidFill>
            <a:schemeClr val="bg2"/>
          </a:solidFill>
          <a:ln w="12700">
            <a:solidFill>
              <a:schemeClr val="bg2"/>
            </a:solidFill>
            <a:prstDash val="solid"/>
          </a:ln>
        </p:spPr>
      </p:sp>
      <p:sp>
        <p:nvSpPr>
          <p:cNvPr id="11" name="value 45 MB"/>
          <p:cNvSpPr txBox="1"/>
          <p:nvPr/>
        </p:nvSpPr>
        <p:spPr>
          <a:xfrm>
            <a:off x="4846320" y="1234440"/>
            <a:ext cx="1554480" cy="73152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45 MB</a:t>
            </a:r>
            <a:endParaRPr lang="en-US" sz="3600" dirty="0"/>
          </a:p>
        </p:txBody>
      </p:sp>
      <p:sp>
        <p:nvSpPr>
          <p:cNvPr id="12" name="caption 45 MB"/>
          <p:cNvSpPr txBox="1"/>
          <p:nvPr/>
        </p:nvSpPr>
        <p:spPr>
          <a:xfrm>
            <a:off x="4846320" y="2011680"/>
            <a:ext cx="1554480" cy="777240"/>
          </a:xfrm>
          <a:prstGeom prst="rect">
            <a:avLst/>
          </a:prstGeom>
          <a:noFill/>
          <a:ln/>
        </p:spPr>
        <p:txBody>
          <a:bodyPr wrap="square" lIns="0" tIns="0" rIns="0" bIns="0" rtlCol="0" anchor="t"/>
          <a:lstStyle/>
          <a:p>
            <a:pPr indent="0" marL="0">
              <a:buNone/>
            </a:pPr>
            <a:r>
              <a:rPr lang="en-US" sz="1400" dirty="0">
                <a:solidFill>
                  <a:schemeClr val="tx1"/>
                </a:solidFill>
              </a:rPr>
              <a:t>model file (11 M numbers)</a:t>
            </a:r>
            <a:endParaRPr lang="en-US" sz="1400" dirty="0"/>
          </a:p>
        </p:txBody>
      </p:sp>
      <p:sp>
        <p:nvSpPr>
          <p:cNvPr id="13" name="card 17 s"/>
          <p:cNvSpPr/>
          <p:nvPr/>
        </p:nvSpPr>
        <p:spPr>
          <a:xfrm>
            <a:off x="6766560" y="1097280"/>
            <a:ext cx="1920240" cy="1828800"/>
          </a:xfrm>
          <a:prstGeom prst="roundRect">
            <a:avLst>
              <a:gd name="adj" fmla="val 4000"/>
            </a:avLst>
          </a:prstGeom>
          <a:solidFill>
            <a:schemeClr val="bg2"/>
          </a:solidFill>
          <a:ln w="12700">
            <a:solidFill>
              <a:schemeClr val="bg2"/>
            </a:solidFill>
            <a:prstDash val="solid"/>
          </a:ln>
        </p:spPr>
      </p:sp>
      <p:sp>
        <p:nvSpPr>
          <p:cNvPr id="14" name="value 17 s"/>
          <p:cNvSpPr txBox="1"/>
          <p:nvPr/>
        </p:nvSpPr>
        <p:spPr>
          <a:xfrm>
            <a:off x="6949440" y="1234440"/>
            <a:ext cx="1554480" cy="73152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17 s</a:t>
            </a:r>
            <a:endParaRPr lang="en-US" sz="3600" dirty="0"/>
          </a:p>
        </p:txBody>
      </p:sp>
      <p:sp>
        <p:nvSpPr>
          <p:cNvPr id="15" name="caption 17 s"/>
          <p:cNvSpPr txBox="1"/>
          <p:nvPr/>
        </p:nvSpPr>
        <p:spPr>
          <a:xfrm>
            <a:off x="6949440" y="2011680"/>
            <a:ext cx="1554480" cy="777240"/>
          </a:xfrm>
          <a:prstGeom prst="rect">
            <a:avLst/>
          </a:prstGeom>
          <a:noFill/>
          <a:ln/>
        </p:spPr>
        <p:txBody>
          <a:bodyPr wrap="square" lIns="0" tIns="0" rIns="0" bIns="0" rtlCol="0" anchor="t"/>
          <a:lstStyle/>
          <a:p>
            <a:pPr indent="0" marL="0">
              <a:buNone/>
            </a:pPr>
            <a:r>
              <a:rPr lang="en-US" sz="1400" dirty="0">
                <a:solidFill>
                  <a:schemeClr val="tx1"/>
                </a:solidFill>
              </a:rPr>
              <a:t>training on a laptop, no GPU</a:t>
            </a:r>
            <a:endParaRPr lang="en-US" sz="1400" dirty="0"/>
          </a:p>
        </p:txBody>
      </p:sp>
      <p:sp>
        <p:nvSpPr>
          <p:cNvPr id="16" name="note In practice"/>
          <p:cNvSpPr/>
          <p:nvPr/>
        </p:nvSpPr>
        <p:spPr>
          <a:xfrm>
            <a:off x="457200" y="3154680"/>
            <a:ext cx="8229600" cy="1143000"/>
          </a:xfrm>
          <a:prstGeom prst="roundRect">
            <a:avLst>
              <a:gd name="adj" fmla="val 6400"/>
            </a:avLst>
          </a:prstGeom>
          <a:solidFill>
            <a:schemeClr val="bg2"/>
          </a:solidFill>
          <a:ln w="12700">
            <a:solidFill>
              <a:schemeClr val="bg2"/>
            </a:solidFill>
            <a:prstDash val="solid"/>
          </a:ln>
        </p:spPr>
      </p:sp>
      <p:sp>
        <p:nvSpPr>
          <p:cNvPr id="17" name="text In practice"/>
          <p:cNvSpPr txBox="1"/>
          <p:nvPr/>
        </p:nvSpPr>
        <p:spPr>
          <a:xfrm>
            <a:off x="621792" y="3264408"/>
            <a:ext cx="7900416" cy="92354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In practice</a:t>
            </a:r>
            <a:endParaRPr lang="en-US" sz="1500" dirty="0"/>
          </a:p>
          <a:p>
            <a:pPr indent="0" marL="0">
              <a:spcAft>
                <a:spcPts val="400"/>
              </a:spcAft>
              <a:buNone/>
            </a:pPr>
            <a:r>
              <a:rPr lang="en-US" sz="1400" dirty="0">
                <a:solidFill>
                  <a:schemeClr val="tx1"/>
                </a:solidFill>
              </a:rPr>
              <a:t>A kiosk 4 times slower still answers in about 0.2 s. Random forest: 24 ms and 26 MB, but 67.3 %. When the collection changes: compute the new features, retrain one layer, in seconds.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bg1"/>
                </a:solidFill>
              </a:rPr>
              <a:t>Our choice: frozen ResNet18 + linear head</a:t>
            </a:r>
            <a:endParaRPr lang="en-US" sz="3000" dirty="0"/>
          </a:p>
        </p:txBody>
      </p:sp>
      <p:sp>
        <p:nvSpPr>
          <p:cNvPr id="3" name="journey"/>
          <p:cNvSpPr txBox="1"/>
          <p:nvPr/>
        </p:nvSpPr>
        <p:spPr>
          <a:xfrm>
            <a:off x="457200" y="1051560"/>
            <a:ext cx="8229600" cy="365760"/>
          </a:xfrm>
          <a:prstGeom prst="rect">
            <a:avLst/>
          </a:prstGeom>
          <a:noFill/>
          <a:ln/>
        </p:spPr>
        <p:txBody>
          <a:bodyPr wrap="square" lIns="0" tIns="0" rIns="0" bIns="0" rtlCol="0" anchor="ctr"/>
          <a:lstStyle/>
          <a:p>
            <a:pPr algn="ctr" indent="0" marL="0">
              <a:buNone/>
            </a:pPr>
            <a:r>
              <a:rPr lang="en-US" sz="1400" dirty="0">
                <a:solidFill>
                  <a:srgbClr val="C9CED8"/>
                </a:solidFill>
              </a:rPr>
              <a:t>Test, 220 new paintings:  our MLP 41.4 %  →  best classical 67.3 %  →  frozen ResNet18 83.0 %</a:t>
            </a:r>
            <a:endParaRPr lang="en-US" sz="1400" dirty="0"/>
          </a:p>
        </p:txBody>
      </p:sp>
      <p:sp>
        <p:nvSpPr>
          <p:cNvPr id="4" name="column Why"/>
          <p:cNvSpPr/>
          <p:nvPr/>
        </p:nvSpPr>
        <p:spPr>
          <a:xfrm>
            <a:off x="457200" y="1600200"/>
            <a:ext cx="2560320" cy="2880360"/>
          </a:xfrm>
          <a:prstGeom prst="roundRect">
            <a:avLst>
              <a:gd name="adj" fmla="val 2857"/>
            </a:avLst>
          </a:prstGeom>
          <a:solidFill>
            <a:srgbClr val="2A3448"/>
          </a:solidFill>
          <a:ln w="12700">
            <a:solidFill>
              <a:srgbClr val="2A3448"/>
            </a:solidFill>
            <a:prstDash val="solid"/>
          </a:ln>
        </p:spPr>
      </p:sp>
      <p:sp>
        <p:nvSpPr>
          <p:cNvPr id="5" name="head Why"/>
          <p:cNvSpPr txBox="1"/>
          <p:nvPr/>
        </p:nvSpPr>
        <p:spPr>
          <a:xfrm>
            <a:off x="640080" y="1719072"/>
            <a:ext cx="2194560" cy="41148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Why</a:t>
            </a:r>
            <a:endParaRPr lang="en-US" sz="2000" dirty="0"/>
          </a:p>
        </p:txBody>
      </p:sp>
      <p:sp>
        <p:nvSpPr>
          <p:cNvPr id="6" name="items Why"/>
          <p:cNvSpPr txBox="1"/>
          <p:nvPr/>
        </p:nvSpPr>
        <p:spPr>
          <a:xfrm>
            <a:off x="640080" y="2212848"/>
            <a:ext cx="224028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1 visitor in 6 gets a wrong style, against 1 in 3 with the best classical model</a:t>
            </a:r>
            <a:endParaRPr lang="en-US" sz="1400" dirty="0"/>
          </a:p>
          <a:p>
            <a:pPr marL="342900" indent="-342900">
              <a:spcAft>
                <a:spcPts val="800"/>
              </a:spcAft>
              <a:buSzPct val="100000"/>
              <a:buChar char="•"/>
            </a:pPr>
            <a:r>
              <a:rPr lang="en-US" sz="1400" dirty="0">
                <a:solidFill>
                  <a:schemeClr val="bg1"/>
                </a:solidFill>
              </a:rPr>
              <a:t>53 ms per photo on a modest CPU</a:t>
            </a:r>
            <a:endParaRPr lang="en-US" sz="1400" dirty="0"/>
          </a:p>
          <a:p>
            <a:pPr marL="342900" indent="-342900">
              <a:spcAft>
                <a:spcPts val="800"/>
              </a:spcAft>
              <a:buSzPct val="100000"/>
              <a:buChar char="•"/>
            </a:pPr>
            <a:r>
              <a:rPr lang="en-US" sz="1400" dirty="0">
                <a:solidFill>
                  <a:schemeClr val="bg1"/>
                </a:solidFill>
              </a:rPr>
              <a:t>Retrained in seconds when the collection changes</a:t>
            </a:r>
            <a:endParaRPr lang="en-US" sz="1400" dirty="0"/>
          </a:p>
        </p:txBody>
      </p:sp>
      <p:sp>
        <p:nvSpPr>
          <p:cNvPr id="7" name="column Not now"/>
          <p:cNvSpPr/>
          <p:nvPr/>
        </p:nvSpPr>
        <p:spPr>
          <a:xfrm>
            <a:off x="3291840" y="1600200"/>
            <a:ext cx="2560320" cy="2880360"/>
          </a:xfrm>
          <a:prstGeom prst="roundRect">
            <a:avLst>
              <a:gd name="adj" fmla="val 2857"/>
            </a:avLst>
          </a:prstGeom>
          <a:solidFill>
            <a:srgbClr val="2A3448"/>
          </a:solidFill>
          <a:ln w="12700">
            <a:solidFill>
              <a:srgbClr val="2A3448"/>
            </a:solidFill>
            <a:prstDash val="solid"/>
          </a:ln>
        </p:spPr>
      </p:sp>
      <p:sp>
        <p:nvSpPr>
          <p:cNvPr id="8" name="head Not now"/>
          <p:cNvSpPr txBox="1"/>
          <p:nvPr/>
        </p:nvSpPr>
        <p:spPr>
          <a:xfrm>
            <a:off x="3474720" y="1719072"/>
            <a:ext cx="219456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Not now</a:t>
            </a:r>
            <a:endParaRPr lang="en-US" sz="2000" dirty="0"/>
          </a:p>
        </p:txBody>
      </p:sp>
      <p:sp>
        <p:nvSpPr>
          <p:cNvPr id="9" name="items Not now"/>
          <p:cNvSpPr txBox="1"/>
          <p:nvPr/>
        </p:nvSpPr>
        <p:spPr>
          <a:xfrm>
            <a:off x="3474720" y="2212848"/>
            <a:ext cx="224028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Our MLP on pixels: 41 %</a:t>
            </a:r>
            <a:endParaRPr lang="en-US" sz="1400" dirty="0"/>
          </a:p>
          <a:p>
            <a:pPr marL="342900" indent="-342900">
              <a:spcAft>
                <a:spcPts val="800"/>
              </a:spcAft>
              <a:buSzPct val="100000"/>
              <a:buChar char="•"/>
            </a:pPr>
            <a:r>
              <a:rPr lang="en-US" sz="1400" dirty="0">
                <a:solidFill>
                  <a:schemeClr val="bg1"/>
                </a:solidFill>
              </a:rPr>
              <a:t>A classical model alone: 61 to 67 %</a:t>
            </a:r>
            <a:endParaRPr lang="en-US" sz="1400" dirty="0"/>
          </a:p>
          <a:p>
            <a:pPr marL="342900" indent="-342900">
              <a:spcAft>
                <a:spcPts val="800"/>
              </a:spcAft>
              <a:buSzPct val="100000"/>
              <a:buChar char="•"/>
            </a:pPr>
            <a:r>
              <a:rPr lang="en-US" sz="1400" dirty="0">
                <a:solidFill>
                  <a:schemeClr val="bg1"/>
                </a:solidFill>
              </a:rPr>
              <a:t>Fine-tuning: slower, not proven better</a:t>
            </a:r>
            <a:endParaRPr lang="en-US" sz="1400" dirty="0"/>
          </a:p>
        </p:txBody>
      </p:sp>
      <p:sp>
        <p:nvSpPr>
          <p:cNvPr id="10" name="column Before launch"/>
          <p:cNvSpPr/>
          <p:nvPr/>
        </p:nvSpPr>
        <p:spPr>
          <a:xfrm>
            <a:off x="6126480" y="1600200"/>
            <a:ext cx="2560320" cy="2880360"/>
          </a:xfrm>
          <a:prstGeom prst="roundRect">
            <a:avLst>
              <a:gd name="adj" fmla="val 2857"/>
            </a:avLst>
          </a:prstGeom>
          <a:solidFill>
            <a:srgbClr val="2A3448"/>
          </a:solidFill>
          <a:ln w="12700">
            <a:solidFill>
              <a:srgbClr val="2A3448"/>
            </a:solidFill>
            <a:prstDash val="solid"/>
          </a:ln>
        </p:spPr>
      </p:sp>
      <p:sp>
        <p:nvSpPr>
          <p:cNvPr id="11" name="head Before launch"/>
          <p:cNvSpPr txBox="1"/>
          <p:nvPr/>
        </p:nvSpPr>
        <p:spPr>
          <a:xfrm>
            <a:off x="6309360" y="1719072"/>
            <a:ext cx="2194560" cy="41148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Before launch</a:t>
            </a:r>
            <a:endParaRPr lang="en-US" sz="2000" dirty="0"/>
          </a:p>
        </p:txBody>
      </p:sp>
      <p:sp>
        <p:nvSpPr>
          <p:cNvPr id="12" name="items Before launch"/>
          <p:cNvSpPr txBox="1"/>
          <p:nvPr/>
        </p:nvSpPr>
        <p:spPr>
          <a:xfrm>
            <a:off x="6309360" y="2212848"/>
            <a:ext cx="224028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Test a few hundred real kiosk photos</a:t>
            </a:r>
            <a:endParaRPr lang="en-US" sz="1400" dirty="0"/>
          </a:p>
          <a:p>
            <a:pPr marL="342900" indent="-342900">
              <a:spcAft>
                <a:spcPts val="800"/>
              </a:spcAft>
              <a:buSzPct val="100000"/>
              <a:buChar char="•"/>
            </a:pPr>
            <a:r>
              <a:rPr lang="en-US" sz="1400" dirty="0">
                <a:solidFill>
                  <a:schemeClr val="bg1"/>
                </a:solidFill>
              </a:rPr>
              <a:t>Add more styles and paintings</a:t>
            </a:r>
            <a:endParaRPr lang="en-US" sz="1400" dirty="0"/>
          </a:p>
          <a:p>
            <a:pPr marL="342900" indent="-342900">
              <a:spcAft>
                <a:spcPts val="800"/>
              </a:spcAft>
              <a:buSzPct val="100000"/>
              <a:buChar char="•"/>
            </a:pPr>
            <a:r>
              <a:rPr lang="en-US" sz="1400" dirty="0">
                <a:solidFill>
                  <a:schemeClr val="bg1"/>
                </a:solidFill>
              </a:rPr>
              <a:t>Measure the real kiosk hardware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ED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Backup: validation and test disagree</a:t>
            </a:r>
            <a:endParaRPr lang="en-US" sz="3000" dirty="0"/>
          </a:p>
        </p:txBody>
      </p:sp>
      <p:graphicFrame>
        <p:nvGraphicFramePr>
          <p:cNvPr id="13" name="disagreement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91840"/>
                <a:gridCol w="1554480"/>
                <a:gridCol w="1371600"/>
                <a:gridCol w="2011680"/>
              </a:tblGrid>
              <a:tr h="411480">
                <a:tc>
                  <a:txBody>
                    <a:bodyPr/>
                    <a:lstStyle/>
                    <a:p>
                      <a:pPr indent="0" marL="0">
                        <a:buNone/>
                      </a:pPr>
                      <a:r>
                        <a:rPr lang="en-US" sz="1400" b="1" dirty="0">
                          <a:solidFill>
                            <a:schemeClr val="bg1"/>
                          </a:solidFill>
                        </a:rPr>
                        <a:t>Model</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Validation (219)</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Test (220)</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Test, 95 % interval</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ResNet18 frozen + linear head (chosen)</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400" dirty="0">
                          <a:solidFill>
                            <a:schemeClr val="tx1"/>
                          </a:solidFill>
                        </a:rPr>
                        <a:t>88.1 %</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400" dirty="0">
                          <a:solidFill>
                            <a:schemeClr val="tx1"/>
                          </a:solidFill>
                        </a:rPr>
                        <a:t>83.0 %</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400" dirty="0">
                          <a:solidFill>
                            <a:schemeClr val="tx1"/>
                          </a:solidFill>
                        </a:rPr>
                        <a:t>78.6 % to 88.6 %</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502920">
                <a:tc>
                  <a:txBody>
                    <a:bodyPr/>
                    <a:lstStyle/>
                    <a:p>
                      <a:pPr indent="0" marL="0">
                        <a:buNone/>
                      </a:pPr>
                      <a:r>
                        <a:rPr lang="en-US" sz="1400" dirty="0">
                          <a:solidFill>
                            <a:schemeClr val="tx1"/>
                          </a:solidFill>
                        </a:rPr>
                        <a:t>ResNet18, layer4 fine-tuned</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400" dirty="0">
                          <a:solidFill>
                            <a:schemeClr val="tx1"/>
                          </a:solidFill>
                        </a:rPr>
                        <a:t>85.4 %</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400" dirty="0">
                          <a:solidFill>
                            <a:schemeClr val="tx1"/>
                          </a:solidFill>
                        </a:rPr>
                        <a:t>87.9 %</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400" dirty="0">
                          <a:solidFill>
                            <a:schemeClr val="tx1"/>
                          </a:solidFill>
                        </a:rPr>
                        <a:t>84.1 % to 92.7 %</a:t>
                      </a:r>
                      <a:endParaRPr lang="en-US" sz="1400" dirty="0"/>
                    </a:p>
                  </a:txBody>
                  <a:tcPr marL="73152" marR="73152" marT="73152" marB="73152"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bl>
          </a:graphicData>
        </a:graphic>
      </p:graphicFrame>
      <p:sp>
        <p:nvSpPr>
          <p:cNvPr id="4" name="disagreement bullets"/>
          <p:cNvSpPr txBox="1"/>
          <p:nvPr/>
        </p:nvSpPr>
        <p:spPr>
          <a:xfrm>
            <a:off x="457200" y="2697480"/>
            <a:ext cx="82296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With about 220 paintings per set, a score moves by about 5 points just by chance</a:t>
            </a:r>
            <a:endParaRPr lang="en-US" sz="1500" dirty="0"/>
          </a:p>
          <a:p>
            <a:pPr marL="342900" indent="-342900">
              <a:spcAft>
                <a:spcPts val="800"/>
              </a:spcAft>
              <a:buSzPct val="100000"/>
              <a:buChar char="•"/>
            </a:pPr>
            <a:r>
              <a:rPr lang="en-US" sz="1500" dirty="0">
                <a:solidFill>
                  <a:schemeClr val="tx1"/>
                </a:solidFill>
              </a:rPr>
              <a:t>We chose the model on validation, before the test: choosing on the test would make its score too optimistic</a:t>
            </a:r>
            <a:endParaRPr lang="en-US" sz="1500" dirty="0"/>
          </a:p>
          <a:p>
            <a:pPr marL="342900" indent="-342900">
              <a:spcAft>
                <a:spcPts val="800"/>
              </a:spcAft>
              <a:buSzPct val="100000"/>
              <a:buChar char="•"/>
            </a:pPr>
            <a:r>
              <a:rPr lang="en-US" sz="1500" dirty="0">
                <a:solidFill>
                  <a:schemeClr val="tx1"/>
                </a:solidFill>
              </a:rPr>
              <a:t>Both models have the same speed and size at inference; fine-tuning is the first thing to retry with more data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Backup: why you can trust the numbers</a:t>
            </a:r>
            <a:endParaRPr lang="en-US" sz="3000" dirty="0"/>
          </a:p>
        </p:txBody>
      </p:sp>
      <p:sp>
        <p:nvSpPr>
          <p:cNvPr id="3" name="note Reproducible"/>
          <p:cNvSpPr/>
          <p:nvPr/>
        </p:nvSpPr>
        <p:spPr>
          <a:xfrm>
            <a:off x="457200" y="1097280"/>
            <a:ext cx="4023360" cy="1600200"/>
          </a:xfrm>
          <a:prstGeom prst="roundRect">
            <a:avLst>
              <a:gd name="adj" fmla="val 4571"/>
            </a:avLst>
          </a:prstGeom>
          <a:solidFill>
            <a:schemeClr val="bg2"/>
          </a:solidFill>
          <a:ln w="12700">
            <a:solidFill>
              <a:schemeClr val="bg2"/>
            </a:solidFill>
            <a:prstDash val="solid"/>
          </a:ln>
        </p:spPr>
      </p:sp>
      <p:sp>
        <p:nvSpPr>
          <p:cNvPr id="4" name="text Reproducible"/>
          <p:cNvSpPr txBox="1"/>
          <p:nvPr/>
        </p:nvSpPr>
        <p:spPr>
          <a:xfrm>
            <a:off x="621792" y="1207008"/>
            <a:ext cx="3694176" cy="138074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Reproducible</a:t>
            </a:r>
            <a:endParaRPr lang="en-US" sz="1500" dirty="0"/>
          </a:p>
          <a:p>
            <a:pPr indent="0" marL="0">
              <a:spcAft>
                <a:spcPts val="400"/>
              </a:spcAft>
              <a:buNone/>
            </a:pPr>
            <a:r>
              <a:rPr lang="en-US" sz="1400" dirty="0">
                <a:solidFill>
                  <a:schemeClr val="tx1"/>
                </a:solidFill>
              </a:rPr>
              <a:t>Fixed seeds and a pinned dataset revision. Notebook 06 trains the 9 neural models again and gets the same validation scores, to 4 decimals.</a:t>
            </a:r>
            <a:endParaRPr lang="en-US" sz="1500" dirty="0"/>
          </a:p>
        </p:txBody>
      </p:sp>
      <p:sp>
        <p:nvSpPr>
          <p:cNvPr id="5" name="note Tested"/>
          <p:cNvSpPr/>
          <p:nvPr/>
        </p:nvSpPr>
        <p:spPr>
          <a:xfrm>
            <a:off x="4663440" y="1097280"/>
            <a:ext cx="4023360" cy="1600200"/>
          </a:xfrm>
          <a:prstGeom prst="roundRect">
            <a:avLst>
              <a:gd name="adj" fmla="val 4571"/>
            </a:avLst>
          </a:prstGeom>
          <a:solidFill>
            <a:schemeClr val="bg2"/>
          </a:solidFill>
          <a:ln w="12700">
            <a:solidFill>
              <a:schemeClr val="bg2"/>
            </a:solidFill>
            <a:prstDash val="solid"/>
          </a:ln>
        </p:spPr>
      </p:sp>
      <p:sp>
        <p:nvSpPr>
          <p:cNvPr id="6" name="text Tested"/>
          <p:cNvSpPr txBox="1"/>
          <p:nvPr/>
        </p:nvSpPr>
        <p:spPr>
          <a:xfrm>
            <a:off x="4828032" y="1207008"/>
            <a:ext cx="3694176" cy="138074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Tested</a:t>
            </a:r>
            <a:endParaRPr lang="en-US" sz="1500" dirty="0"/>
          </a:p>
          <a:p>
            <a:pPr indent="0" marL="0">
              <a:spcAft>
                <a:spcPts val="400"/>
              </a:spcAft>
              <a:buNone/>
            </a:pPr>
            <a:r>
              <a:rPr lang="en-US" sz="1400" dirty="0">
                <a:solidFill>
                  <a:schemeClr val="tx1"/>
                </a:solidFill>
              </a:rPr>
              <a:t>33 automatic tests: split without painter leakage, parameter counts, training loop, metrics, benchmark helpers.</a:t>
            </a:r>
            <a:endParaRPr lang="en-US" sz="1500" dirty="0"/>
          </a:p>
        </p:txBody>
      </p:sp>
      <p:sp>
        <p:nvSpPr>
          <p:cNvPr id="7" name="note Versioned"/>
          <p:cNvSpPr/>
          <p:nvPr/>
        </p:nvSpPr>
        <p:spPr>
          <a:xfrm>
            <a:off x="457200" y="2880360"/>
            <a:ext cx="4023360" cy="1600200"/>
          </a:xfrm>
          <a:prstGeom prst="roundRect">
            <a:avLst>
              <a:gd name="adj" fmla="val 4571"/>
            </a:avLst>
          </a:prstGeom>
          <a:solidFill>
            <a:schemeClr val="bg2"/>
          </a:solidFill>
          <a:ln w="12700">
            <a:solidFill>
              <a:schemeClr val="bg2"/>
            </a:solidFill>
            <a:prstDash val="solid"/>
          </a:ln>
        </p:spPr>
      </p:sp>
      <p:sp>
        <p:nvSpPr>
          <p:cNvPr id="8" name="text Versioned"/>
          <p:cNvSpPr txBox="1"/>
          <p:nvPr/>
        </p:nvSpPr>
        <p:spPr>
          <a:xfrm>
            <a:off x="621792" y="2990088"/>
            <a:ext cx="3694176" cy="138074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Versioned</a:t>
            </a:r>
            <a:endParaRPr lang="en-US" sz="1500" dirty="0"/>
          </a:p>
          <a:p>
            <a:pPr indent="0" marL="0">
              <a:spcAft>
                <a:spcPts val="400"/>
              </a:spcAft>
              <a:buNone/>
            </a:pPr>
            <a:r>
              <a:rPr lang="en-US" sz="1400" dirty="0">
                <a:solidFill>
                  <a:schemeClr val="tx1"/>
                </a:solidFill>
              </a:rPr>
              <a:t>Small commits, one step at a time, on GitHub; milestone tags m1, m2, m3 and v1.0. Every number is saved in reports/results/*.json.</a:t>
            </a:r>
            <a:endParaRPr lang="en-US" sz="1500" dirty="0"/>
          </a:p>
        </p:txBody>
      </p:sp>
      <p:sp>
        <p:nvSpPr>
          <p:cNvPr id="9" name="note Honest"/>
          <p:cNvSpPr/>
          <p:nvPr/>
        </p:nvSpPr>
        <p:spPr>
          <a:xfrm>
            <a:off x="4663440" y="2880360"/>
            <a:ext cx="4023360" cy="1600200"/>
          </a:xfrm>
          <a:prstGeom prst="roundRect">
            <a:avLst>
              <a:gd name="adj" fmla="val 4571"/>
            </a:avLst>
          </a:prstGeom>
          <a:solidFill>
            <a:schemeClr val="bg2"/>
          </a:solidFill>
          <a:ln w="12700">
            <a:solidFill>
              <a:schemeClr val="bg2"/>
            </a:solidFill>
            <a:prstDash val="solid"/>
          </a:ln>
        </p:spPr>
      </p:sp>
      <p:sp>
        <p:nvSpPr>
          <p:cNvPr id="10" name="text Honest"/>
          <p:cNvSpPr txBox="1"/>
          <p:nvPr/>
        </p:nvSpPr>
        <p:spPr>
          <a:xfrm>
            <a:off x="4828032" y="2990088"/>
            <a:ext cx="3694176" cy="1380744"/>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Honest</a:t>
            </a:r>
            <a:endParaRPr lang="en-US" sz="1500" dirty="0"/>
          </a:p>
          <a:p>
            <a:pPr indent="0" marL="0">
              <a:spcAft>
                <a:spcPts val="400"/>
              </a:spcAft>
              <a:buNone/>
            </a:pPr>
            <a:r>
              <a:rPr lang="en-US" sz="1400" dirty="0">
                <a:solidFill>
                  <a:schemeClr val="tx1"/>
                </a:solidFill>
              </a:rPr>
              <a:t>Test set used once; 3 seeds for noisy runs; 95 % bootstrap intervals; no image of the paintings in Git (licence).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Backup: the training recipes</a:t>
            </a:r>
            <a:endParaRPr lang="en-US" sz="3000" dirty="0"/>
          </a:p>
        </p:txBody>
      </p:sp>
      <p:graphicFrame>
        <p:nvGraphicFramePr>
          <p:cNvPr id="15" name="recipes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1737360"/>
                <a:gridCol w="1280160"/>
                <a:gridCol w="3474720"/>
              </a:tblGrid>
              <a:tr h="0">
                <a:tc>
                  <a:txBody>
                    <a:bodyPr/>
                    <a:lstStyle/>
                    <a:p>
                      <a:pPr indent="0" marL="0">
                        <a:buNone/>
                      </a:pPr>
                      <a:r>
                        <a:rPr lang="en-US" sz="1200" b="1" dirty="0">
                          <a:solidFill>
                            <a:schemeClr val="bg1"/>
                          </a:solidFill>
                        </a:rPr>
                        <a:t>Model</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Input</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Trained weights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Settings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rPr>
                        <a:t>Regularised MLP</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32 x 32 pixels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1.7 M</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512-256 hidden, batch norm, dropout 0.5 (0.2 input), AdamW lr 0.0001, wd 5, flips, cosine, 60 epochs, early stopping 8</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0">
                <a:tc>
                  <a:txBody>
                    <a:bodyPr/>
                    <a:lstStyle/>
                    <a:p>
                      <a:pPr indent="0" marL="0">
                        <a:buNone/>
                      </a:pPr>
                      <a:r>
                        <a:rPr lang="en-US" sz="1200" dirty="0">
                          <a:solidFill>
                            <a:schemeClr val="tx1"/>
                          </a:solidFill>
                        </a:rPr>
                        <a:t>Linear probe</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512 ResNet18 features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2 565</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AdamW lr 0.001, wd 0.01, early stopping 20</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0">
                <a:tc>
                  <a:txBody>
                    <a:bodyPr/>
                    <a:lstStyle/>
                    <a:p>
                      <a:pPr indent="0" marL="0">
                        <a:buNone/>
                      </a:pPr>
                      <a:r>
                        <a:rPr lang="en-US" sz="1200" dirty="0">
                          <a:solidFill>
                            <a:schemeClr val="tx1"/>
                          </a:solidFill>
                        </a:rPr>
                        <a:t>Fine-tuned ResNet18</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224 x 224 pixels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8.4 M</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layer4 lr 0.0001, head lr 0.001, wd 0.01, random crop + flip, cosine, 10 epochs, early stopping 3</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0">
                <a:tc>
                  <a:txBody>
                    <a:bodyPr/>
                    <a:lstStyle/>
                    <a:p>
                      <a:pPr indent="0" marL="0">
                        <a:buNone/>
                      </a:pPr>
                      <a:r>
                        <a:rPr lang="en-US" sz="1200" dirty="0">
                          <a:solidFill>
                            <a:schemeClr val="tx1"/>
                          </a:solidFill>
                        </a:rPr>
                        <a:t>Random forest</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102 hand-made features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500 trees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200" dirty="0">
                          <a:solidFill>
                            <a:schemeClr val="tx1"/>
                          </a:solidFill>
                        </a:rPr>
                        <a:t>chosen on validation: min 1 sample per leaf, sqrt features</a:t>
                      </a:r>
                      <a:endParaRPr lang="en-US" sz="12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Backup: where the chosen model fails</a:t>
            </a:r>
            <a:endParaRPr lang="en-US" sz="3000" dirty="0"/>
          </a:p>
        </p:txBody>
      </p:sp>
      <p:graphicFrame>
        <p:nvGraphicFramePr>
          <p:cNvPr id="3" name="chart per class" descr=""/>
          <p:cNvGraphicFramePr/>
          <p:nvPr/>
        </p:nvGraphicFramePr>
        <p:xfrm>
          <a:off x="365760" y="1005840"/>
          <a:ext cx="4937760" cy="3611880"/>
        </p:xfrm>
        <a:graphic xmlns:a="http://schemas.openxmlformats.org/drawingml/2006/main">
          <a:graphicData uri="http://schemas.openxmlformats.org/drawingml/2006/chart">
            <c:chart xmlns:c="http://schemas.openxmlformats.org/drawingml/2006/chart" r:id="rId1"/>
          </a:graphicData>
        </a:graphic>
      </p:graphicFrame>
      <p:sp>
        <p:nvSpPr>
          <p:cNvPr id="4" name="per class bullets"/>
          <p:cNvSpPr txBox="1"/>
          <p:nvPr/>
        </p:nvSpPr>
        <p:spPr>
          <a:xfrm>
            <a:off x="5532120" y="1097280"/>
            <a:ext cx="3154680" cy="3520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Easiest: Ukiyo-e and Impressionism</a:t>
            </a:r>
            <a:endParaRPr lang="en-US" sz="1400" dirty="0"/>
          </a:p>
          <a:p>
            <a:pPr marL="342900" indent="-342900">
              <a:spcAft>
                <a:spcPts val="800"/>
              </a:spcAft>
              <a:buSzPct val="100000"/>
              <a:buChar char="•"/>
            </a:pPr>
            <a:r>
              <a:rPr lang="en-US" sz="1400" dirty="0">
                <a:solidFill>
                  <a:schemeClr val="tx1"/>
                </a:solidFill>
              </a:rPr>
              <a:t>Hardest: Pop Art and Cubism; on validation they were mostly confused with each other (flat strong colours, hard edges)</a:t>
            </a:r>
            <a:endParaRPr lang="en-US" sz="1400" dirty="0"/>
          </a:p>
          <a:p>
            <a:pPr marL="342900" indent="-342900">
              <a:spcAft>
                <a:spcPts val="800"/>
              </a:spcAft>
              <a:buSzPct val="100000"/>
              <a:buChar char="•"/>
            </a:pPr>
            <a:r>
              <a:rPr lang="en-US" sz="1400" dirty="0">
                <a:solidFill>
                  <a:schemeClr val="tx1"/>
                </a:solidFill>
              </a:rPr>
              <a:t>The MLP found only 7 % of Cubist paintings; the ResNet finds most of them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Backup: what about transformers (BERT)?</a:t>
            </a:r>
            <a:endParaRPr lang="en-US" sz="3000" dirty="0"/>
          </a:p>
        </p:txBody>
      </p:sp>
      <p:graphicFrame>
        <p:nvGraphicFramePr>
          <p:cNvPr id="17" name="transformers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931920"/>
                <a:gridCol w="1280160"/>
                <a:gridCol w="1828800"/>
                <a:gridCol w="1188720"/>
              </a:tblGrid>
              <a:tr h="0">
                <a:tc>
                  <a:txBody>
                    <a:bodyPr/>
                    <a:lstStyle/>
                    <a:p>
                      <a:pPr indent="0" marL="0">
                        <a:buNone/>
                      </a:pPr>
                      <a:r>
                        <a:rPr lang="en-US" sz="1300" b="1" dirty="0">
                          <a:solidFill>
                            <a:schemeClr val="bg1"/>
                          </a:solidFill>
                        </a:rPr>
                        <a:t>Frozen network (validation, 219)</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Validation</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Time per photo vs ResNet18</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Parameters</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ResNet18 + linear head (our choice)</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88.1 %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x 1.0</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11 M</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0">
                <a:tc>
                  <a:txBody>
                    <a:bodyPr/>
                    <a:lstStyle/>
                    <a:p>
                      <a:pPr indent="0" marL="0">
                        <a:buNone/>
                      </a:pPr>
                      <a:r>
                        <a:rPr lang="en-US" sz="1300" dirty="0">
                          <a:solidFill>
                            <a:schemeClr val="tx1"/>
                          </a:solidFill>
                        </a:rPr>
                        <a:t>ViT-B/16 (BERT on image patches) + linear head</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88.1 %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x 9.1</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86 M</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0">
                <a:tc>
                  <a:txBody>
                    <a:bodyPr/>
                    <a:lstStyle/>
                    <a:p>
                      <a:pPr indent="0" marL="0">
                        <a:buNone/>
                      </a:pPr>
                      <a:r>
                        <a:rPr lang="en-US" sz="1300" dirty="0">
                          <a:solidFill>
                            <a:schemeClr val="tx1"/>
                          </a:solidFill>
                        </a:rPr>
                        <a:t>CLIP ViT-B/32, zero-shot (no training at all)</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89.0 %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x 2.7</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151 M</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r h="0">
                <a:tc>
                  <a:txBody>
                    <a:bodyPr/>
                    <a:lstStyle/>
                    <a:p>
                      <a:pPr indent="0" marL="0">
                        <a:buNone/>
                      </a:pPr>
                      <a:r>
                        <a:rPr lang="en-US" sz="1300" dirty="0">
                          <a:solidFill>
                            <a:schemeClr val="tx1"/>
                          </a:solidFill>
                        </a:rPr>
                        <a:t>CLIP ViT-B/32 + linear head</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94.7 %</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x 2.7</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c>
                  <a:txBody>
                    <a:bodyPr/>
                    <a:lstStyle/>
                    <a:p>
                      <a:pPr indent="0" marL="0">
                        <a:buNone/>
                      </a:pPr>
                      <a:r>
                        <a:rPr lang="en-US" sz="1300" dirty="0">
                          <a:solidFill>
                            <a:schemeClr val="tx1"/>
                          </a:solidFill>
                        </a:rPr>
                        <a:t>151 M</a:t>
                      </a:r>
                      <a:endParaRPr lang="en-US" sz="1300" dirty="0"/>
                    </a:p>
                  </a:txBody>
                  <a:tcPr marL="64008" marR="64008" marT="64008" marB="64008"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tcPr>
                </a:tc>
              </a:tr>
            </a:tbl>
          </a:graphicData>
        </a:graphic>
      </p:graphicFrame>
      <p:sp>
        <p:nvSpPr>
          <p:cNvPr id="4" name="transformers bullets"/>
          <p:cNvSpPr txBox="1"/>
          <p:nvPr/>
        </p:nvSpPr>
        <p:spPr>
          <a:xfrm>
            <a:off x="457200" y="3246120"/>
            <a:ext cx="8229600" cy="1417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BERT itself reads words, not pixels; its image cousins are ViT and CLIP</a:t>
            </a:r>
            <a:endParaRPr lang="en-US" sz="1400" dirty="0"/>
          </a:p>
          <a:p>
            <a:pPr marL="342900" indent="-342900">
              <a:spcAft>
                <a:spcPts val="800"/>
              </a:spcAft>
              <a:buSzPct val="100000"/>
              <a:buChar char="•"/>
            </a:pPr>
            <a:r>
              <a:rPr lang="en-US" sz="1400" dirty="0">
                <a:solidFill>
                  <a:schemeClr val="tx1"/>
                </a:solidFill>
              </a:rPr>
              <a:t>CLIP is the most accurate (+6.8 points over ResNet18, paired interval 2.3 to 11.4) but 2.7 times slower; trained on Internet images, it has probably seen WikiArt</a:t>
            </a:r>
            <a:endParaRPr lang="en-US" sz="1400" dirty="0"/>
          </a:p>
          <a:p>
            <a:pPr marL="342900" indent="-342900">
              <a:spcAft>
                <a:spcPts val="800"/>
              </a:spcAft>
              <a:buSzPct val="100000"/>
              <a:buChar char="•"/>
            </a:pPr>
            <a:r>
              <a:rPr lang="en-US" sz="1400" dirty="0">
                <a:solidFill>
                  <a:schemeClr val="tx1"/>
                </a:solidFill>
              </a:rPr>
              <a:t>Validation only, the test stays closed; CLIP is our first next step, and it can also answer questions in words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Museum Guide">
  <a:themeElements>
    <a:clrScheme name="Museum Guide">
      <a:dk1>
        <a:srgbClr val="1B1B1F"/>
      </a:dk1>
      <a:lt1>
        <a:srgbClr val="FFFFFF"/>
      </a:lt1>
      <a:dk2>
        <a:srgbClr val="1C2433"/>
      </a:dk2>
      <a:lt2>
        <a:srgbClr val="F2F3F5"/>
      </a:lt2>
      <a:accent1>
        <a:srgbClr val="2A78D6"/>
      </a:accent1>
      <a:accent2>
        <a:srgbClr val="EB6834"/>
      </a:accent2>
      <a:accent3>
        <a:srgbClr val="1BAF7A"/>
      </a:accent3>
      <a:accent4>
        <a:srgbClr val="EDA100"/>
      </a:accent4>
      <a:accent5>
        <a:srgbClr val="E87BA4"/>
      </a:accent5>
      <a:accent6>
        <a:srgbClr val="6250D6"/>
      </a:accent6>
      <a:hlink>
        <a:srgbClr val="2A78D6"/>
      </a:hlink>
      <a:folHlink>
        <a:srgbClr val="6250D6"/>
      </a:folHlink>
    </a:clrScheme>
    <a:fontScheme name="Museum Gui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a neural network worth it on a museum kiosk?</dc:title>
  <dc:subject>PptxGenJS Presentation</dc:subject>
  <dc:creator>PptxGenJS</dc:creator>
  <cp:lastModifiedBy>PptxGenJS</cp:lastModifiedBy>
  <cp:revision>1</cp:revision>
  <dcterms:created xsi:type="dcterms:W3CDTF">2026-10-21T08:27:11Z</dcterms:created>
  <dcterms:modified xsi:type="dcterms:W3CDTF">2026-10-21T08:27:11Z</dcterms:modified>
</cp:coreProperties>
</file>