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2b1f7bbd-f83b-2092-8d78-94d699bf1835}">
          <p14:sldIdLst>
            <p14:sldId id="256"/>
            <p14:sldId id="257"/>
            <p14:sldId id="258"/>
          </p14:sldIdLst>
        </p14:section>
        <p14:section name="Our MLP" id="{ecb29beb-5014-8232-be95-2d1d1e2c8be2}">
          <p14:sldIdLst>
            <p14:sldId id="259"/>
            <p14:sldId id="260"/>
          </p14:sldIdLst>
        </p14:section>
        <p14:section name="Pretrained ResNet" id="{12aa952f-1d01-c7dd-70b0-8fb98e086ba3}">
          <p14:sldIdLst>
            <p14:sldId id="261"/>
            <p14:sldId id="262"/>
          </p14:sldIdLst>
        </p14:section>
        <p14:section name="The answer" id="{e58da664-e8fb-debc-e941-8e80493e368e}">
          <p14:sldIdLst>
            <p14:sldId id="263"/>
            <p14:sldId id="264"/>
            <p14:sldId id="265"/>
            <p14:sldId id="266"/>
          </p14:sldIdLst>
        </p14:section>
        <p14:section name="Backup" id="{1a5b1e8e-e0fd-abca-294a-14c630917218}">
          <p14:sldIdLst>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 (ours)</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kiosks in its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a final test against a classical model. Step six: the cost on a kiosk.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We measured it: when the model has seen the painter, it scores 11 points higher.</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all this on 1.2 million ImageNet photos. We only have 1 061 paintings, so we keep it as it is: it is frozen. It turns each painting into 512 numbers. We remove its last layer, made for ImageNet, and add our own: from these 512 numbers to our 5 styles, 2 565 weights, the only ones we train.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the last block of ResNet18, so that it also learns from our paintings, 8.4 million weights instead of 2 565. It was less convincing than keeping it frozen: 85.4 percent instead of 88.1. With only 1 061 paintings, it starts to learn them by heart. We monitored it like the MLP: the gap between train and validation is only 0.09, against 0.61 for our first MLP.</a:t>
            </a:r>
          </a:p>
          <a:p>
            <a:pPr>
              <a:spcBef>
                <a:spcPts val="900"/>
              </a:spcBef>
            </a:pPr>
            <a:r>
              <a:rPr lang="en-US" b="1" dirty="0"/>
              <a:t>TRANSITION: We saw that ResNet18 reaches 88 percent. But to answer the director, we also need a challenger without any neural network. So now, step five: we build this classical challenger, then we test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on the same test paintings gives our model a lead of 16.4 points over the random forest, between 9 and 24 points: it is not luck. One honest note: the fine-tuned model is first here, but it was second on validation, and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test: 67.3 %, 16.4 points below the frozen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and frozen</a:t>
            </a:r>
            <a:endParaRPr lang="en-US" sz="1400" dirty="0"/>
          </a:p>
          <a:p>
            <a:pPr indent="0" marL="0">
              <a:buNone/>
            </a:pPr>
            <a:r>
              <a:rPr lang="en-US" sz="1100" dirty="0">
                <a:solidFill>
                  <a:srgbClr val="C9CED8"/>
                </a:solidFill>
              </a:rPr>
              <a:t>18 layers, 11 million weights learned on 1.2 million ImageNet photos. We do not change them.</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the only part we train</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a:t>
            </a:r>
            <a:endParaRPr lang="en-US" sz="1400" dirty="0"/>
          </a:p>
          <a:p>
            <a:pPr indent="0" marL="0">
              <a:spcAft>
                <a:spcPts val="400"/>
              </a:spcAft>
              <a:buNone/>
            </a:pPr>
            <a:r>
              <a:rPr lang="en-US" sz="1200" dirty="0">
                <a:solidFill>
                  <a:schemeClr val="tx1"/>
                </a:solidFill>
              </a:rPr>
              <a:t>Only 1 061 paintings: too few for 11 million weights. We reuse what it learned and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ess convincing"/>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ess convincing"/>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less convincing</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below the frozen version.</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6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seconds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3.0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3.0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83.0 %</a:t>
            </a:r>
            <a:endParaRPr lang="en-US" sz="3000" dirty="0"/>
          </a:p>
        </p:txBody>
      </p:sp>
      <p:sp>
        <p:nvSpPr>
          <p:cNvPr id="18" name="caption 83.0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frozen + linear head (ours)</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5"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7"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8"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0"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2026-10-21T13:10:28Z</dcterms:created>
  <dcterms:modified xsi:type="dcterms:W3CDTF">2026-10-21T13:10:28Z</dcterms:modified>
</cp:coreProperties>
</file>