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b8a762f9-c60f-67c5-bce3-c18dd96eaed9}">
          <p14:sldIdLst>
            <p14:sldId id="256"/>
            <p14:sldId id="257"/>
            <p14:sldId id="258"/>
          </p14:sldIdLst>
        </p14:section>
        <p14:section name="Our MLP" id="{b614dd4a-3125-e102-466c-caea8105ba13}">
          <p14:sldIdLst>
            <p14:sldId id="259"/>
            <p14:sldId id="260"/>
          </p14:sldIdLst>
        </p14:section>
        <p14:section name="Pretrained ResNet" id="{9a7877d0-65eb-eb2a-027b-f273edae7f08}">
          <p14:sldIdLst>
            <p14:sldId id="261"/>
          </p14:sldIdLst>
        </p14:section>
        <p14:section name="The answer" id="{4b40f9d3-42ba-a7ac-0940-a6c77271bb94}">
          <p14:sldIdLst>
            <p14:sldId id="262"/>
            <p14:sldId id="263"/>
            <p14:sldId id="264"/>
          </p14:sldIdLst>
        </p14:section>
        <p14:section name="Backup" id="{ae4b2d23-a67e-3a9f-ac23-f6d6454925c5}">
          <p14:sldIdLst>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Sheet1!$B$2:$B$5</c:f>
              <c:numCache>
                <c:formatCode>General</c:formatCode>
                <c:ptCount val="4"/>
                <c:pt idx="0">
                  <c:v>0</c:v>
                </c:pt>
                <c:pt idx="1">
                  <c:v>673</c:v>
                </c:pt>
                <c:pt idx="2">
                  <c:v>0</c:v>
                </c:pt>
                <c:pt idx="3">
                  <c:v>0</c:v>
                </c:pt>
              </c:numCache>
            </c:numRef>
          </c:val>
        </c:ser>
        <c:ser>
          <c:idx val="1"/>
          <c:order val="1"/>
          <c:tx>
            <c:strRef>
              <c:f>Sheet1!$C$1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Sheet1!$C$2:$C$5</c:f>
              <c:numCache>
                <c:formatCode>General</c:formatCode>
                <c:ptCount val="4"/>
                <c:pt idx="0">
                  <c:v>414</c:v>
                </c:pt>
                <c:pt idx="1">
                  <c:v>0</c:v>
                </c:pt>
                <c:pt idx="2">
                  <c:v>830</c:v>
                </c:pt>
                <c:pt idx="3">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point your phone at a painting in a museum, and a guide tells you its style. Our museum wants exactly this, on visitors' phones and on kiosks in the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diagnose what goes wrong and fix it. Step four: a pretrained convolutional network, ResNet18. Step five: a final test of every model, classical models included. Step six: the cost on a kiosk CPU. Each step told us what to try next. At the end of these six steps, we will have our answer.</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used the course script with a fixed seed: anyone can download the same images.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 We measured it: when the model has seen the painter, it scores 11 points higher.</a:t>
            </a:r>
          </a:p>
          <a:p>
            <a:pPr>
              <a:spcBef>
                <a:spcPts val="900"/>
              </a:spcBef>
            </a:pPr>
            <a:r>
              <a:rPr lang="en-US" b="1" dirty="0"/>
              <a:t>TRANSITION: We saw that our data is ready and our test is fair. So now, step two: we can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And the validation loss goes up after epoch 3.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the overfitting with the tools of session 6, 3 seeds each. Alone, each tool helps a little. All together, weight decay, dropout, batch norm, flips and early stopping take the MLP from 38.8 to 45.5 percent, and the gap between train and validation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convolutional network sees shapes. But with only 1 061 images, we cannot train one from zero. So we reuse ResNet18, already trained on 1.2 million ImageNet photos. We freeze it: each painting becomes 512 numbers, and we train only one linear layer, 2 565 weights, in less than a second. Result: 88.1 percent on validation, almost twice our best MLP. We also fine-tuned the last block: 8.4 million weights for 1 061 images. It overfits: 85.4 percent. We monitored it like the MLP, with train and validation curves: the gap between them is only 0.09, against 0.61 for our first MLP. It learns the styles, not the paintings by heart.</a:t>
            </a:r>
          </a:p>
          <a:p>
            <a:pPr>
              <a:spcBef>
                <a:spcPts val="900"/>
              </a:spcBef>
            </a:pPr>
            <a:r>
              <a:rPr lang="en-US" b="1" dirty="0"/>
              <a:t>TRANSITION: We saw that ResNet18 reaches 88 percent on validation. But to answer the director, we also need a challenger without any neural network. So now, step five: the final test of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classical challenger does not read pixels. We describe each painting with 102 hand-made numbers, its colours and the directions of its brush strokes, and train a random forest on them: 500 small decision trees that vote. Then we opened the 220 test paintings, only once, for every model. The pretrained models are at the top, from 83 to 88 percent. The random forest reaches 67; our MLP 41. Is the gap real? A paired bootstrap on the same test paintings gives our model a lead of 16.4 points over the random forest, between 9 and 24 points: it is not luck. One honest note: the fine-tuned model is first on the test, but it was second on validation. With 220 images, a score moves by about 5 points by chance, so we keep the model chosen before the test.</a:t>
            </a:r>
          </a:p>
          <a:p>
            <a:pPr>
              <a:spcBef>
                <a:spcPts val="900"/>
              </a:spcBef>
            </a:pPr>
            <a:r>
              <a:rPr lang="en-US" b="1" dirty="0"/>
              <a:t>TRANSITION: We saw that the pretrained network is the most accurate. But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ResNet needs 53 milliseconds on one CPU thread, 26 with four threads: faster than a blink. Even on a kiosk four times slower, it answers in a fifth of a second. The model file is 45 megabytes. And when the collection changes, we only recompute the features and retrain one layer, in seconds.</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test, our own MLP reached 41 percent, the best classical model 67, and the frozen ResNet18 83.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We do not recommend our MLP, a classical model alone, or fine-tuning for now.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test: 67.3 %, 16.4 points below the frozen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Frozen featur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Frozen featur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Frozen features</a:t>
            </a:r>
            <a:endParaRPr lang="en-US" sz="1500" dirty="0"/>
          </a:p>
          <a:p>
            <a:pPr indent="0" marL="0">
              <a:spcAft>
                <a:spcPts val="400"/>
              </a:spcAft>
              <a:buNone/>
            </a:pPr>
            <a:r>
              <a:rPr lang="en-US" sz="1400" dirty="0">
                <a:solidFill>
                  <a:schemeClr val="tx1"/>
                </a:solidFill>
              </a:rPr>
              <a:t>Each painting → 512 numbers (15.5 ms). Only one linear layer is trained: 2 565 weights, 0.4 s.</a:t>
            </a:r>
            <a:endParaRPr lang="en-US" sz="1500" dirty="0"/>
          </a:p>
        </p:txBody>
      </p:sp>
      <p:sp>
        <p:nvSpPr>
          <p:cNvPr id="7" name="note Fine-tuning layer4"/>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ayer4"/>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layer4</a:t>
            </a:r>
            <a:endParaRPr lang="en-US" sz="1500" dirty="0"/>
          </a:p>
          <a:p>
            <a:pPr indent="0" marL="0">
              <a:spcAft>
                <a:spcPts val="400"/>
              </a:spcAft>
              <a:buNone/>
            </a:pPr>
            <a:r>
              <a:rPr lang="en-US" sz="1400" dirty="0">
                <a:solidFill>
                  <a:schemeClr val="tx1"/>
                </a:solidFill>
              </a:rPr>
              <a:t>8.4 M weights for 1 061 images: 99.9 % on train, 85.4 % on validation. It overfits.</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2560320" cy="2880360"/>
          </a:xfrm>
          <a:prstGeom prst="roundRect">
            <a:avLst>
              <a:gd name="adj" fmla="val 2857"/>
            </a:avLst>
          </a:prstGeom>
          <a:solidFill>
            <a:srgbClr val="2A3448"/>
          </a:solidFill>
          <a:ln w="12700">
            <a:solidFill>
              <a:srgbClr val="2A3448"/>
            </a:solidFill>
            <a:prstDash val="solid"/>
          </a:ln>
        </p:spPr>
      </p:sp>
      <p:sp>
        <p:nvSpPr>
          <p:cNvPr id="5" name="head Why"/>
          <p:cNvSpPr txBox="1"/>
          <p:nvPr/>
        </p:nvSpPr>
        <p:spPr>
          <a:xfrm>
            <a:off x="640080" y="1719072"/>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6" name="items Why"/>
          <p:cNvSpPr txBox="1"/>
          <p:nvPr/>
        </p:nvSpPr>
        <p:spPr>
          <a:xfrm>
            <a:off x="64008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7" name="column Not now"/>
          <p:cNvSpPr/>
          <p:nvPr/>
        </p:nvSpPr>
        <p:spPr>
          <a:xfrm>
            <a:off x="3291840" y="1600200"/>
            <a:ext cx="2560320" cy="2880360"/>
          </a:xfrm>
          <a:prstGeom prst="roundRect">
            <a:avLst>
              <a:gd name="adj" fmla="val 2857"/>
            </a:avLst>
          </a:prstGeom>
          <a:solidFill>
            <a:srgbClr val="2A3448"/>
          </a:solidFill>
          <a:ln w="12700">
            <a:solidFill>
              <a:srgbClr val="2A3448"/>
            </a:solidFill>
            <a:prstDash val="solid"/>
          </a:ln>
        </p:spPr>
      </p:sp>
      <p:sp>
        <p:nvSpPr>
          <p:cNvPr id="8" name="head Not now"/>
          <p:cNvSpPr txBox="1"/>
          <p:nvPr/>
        </p:nvSpPr>
        <p:spPr>
          <a:xfrm>
            <a:off x="3474720" y="1719072"/>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9" name="items Not now"/>
          <p:cNvSpPr txBox="1"/>
          <p:nvPr/>
        </p:nvSpPr>
        <p:spPr>
          <a:xfrm>
            <a:off x="347472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The random forest alone: 67.3 %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10" name="column Before launch"/>
          <p:cNvSpPr/>
          <p:nvPr/>
        </p:nvSpPr>
        <p:spPr>
          <a:xfrm>
            <a:off x="6126480" y="1600200"/>
            <a:ext cx="2560320" cy="2880360"/>
          </a:xfrm>
          <a:prstGeom prst="roundRect">
            <a:avLst>
              <a:gd name="adj" fmla="val 2857"/>
            </a:avLst>
          </a:prstGeom>
          <a:solidFill>
            <a:srgbClr val="2A3448"/>
          </a:solidFill>
          <a:ln w="12700">
            <a:solidFill>
              <a:srgbClr val="2A3448"/>
            </a:solidFill>
            <a:prstDash val="solid"/>
          </a:ln>
        </p:spPr>
      </p:sp>
      <p:sp>
        <p:nvSpPr>
          <p:cNvPr id="11" name="head Before launch"/>
          <p:cNvSpPr txBox="1"/>
          <p:nvPr/>
        </p:nvSpPr>
        <p:spPr>
          <a:xfrm>
            <a:off x="6309360" y="1719072"/>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2" name="items Before launch"/>
          <p:cNvSpPr txBox="1"/>
          <p:nvPr/>
        </p:nvSpPr>
        <p:spPr>
          <a:xfrm>
            <a:off x="630936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random forest challenger</a:t>
            </a:r>
            <a:endParaRPr lang="en-US" sz="3000" dirty="0"/>
          </a:p>
        </p:txBody>
      </p:sp>
      <p:sp>
        <p:nvSpPr>
          <p:cNvPr id="3" name="note 102 hand-made numbers per painting"/>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102 hand-made numbers per painting"/>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102 hand-made numbers per painting</a:t>
            </a:r>
            <a:endParaRPr lang="en-US" sz="1500" dirty="0"/>
          </a:p>
          <a:p>
            <a:pPr indent="0" marL="0">
              <a:spcAft>
                <a:spcPts val="400"/>
              </a:spcAft>
              <a:buNone/>
            </a:pPr>
            <a:r>
              <a:rPr lang="en-US" sz="1400" dirty="0">
                <a:solidFill>
                  <a:schemeClr val="tx1"/>
                </a:solidFill>
              </a:rPr>
              <a:t>Colours: a histogram of hue, saturation and brightness (72) and colour statistics (10). Brush strokes: direction and strength of the edges, at two sizes (20).</a:t>
            </a:r>
            <a:endParaRPr lang="en-US" sz="1500" dirty="0"/>
          </a:p>
        </p:txBody>
      </p:sp>
      <p:sp>
        <p:nvSpPr>
          <p:cNvPr id="5" name="note 500 decision trees that vote"/>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500 decision trees that vote"/>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500 decision trees that vote</a:t>
            </a:r>
            <a:endParaRPr lang="en-US" sz="1500" dirty="0"/>
          </a:p>
          <a:p>
            <a:pPr indent="0" marL="0">
              <a:spcAft>
                <a:spcPts val="400"/>
              </a:spcAft>
              <a:buNone/>
            </a:pPr>
            <a:r>
              <a:rPr lang="en-US" sz="1400" dirty="0">
                <a:solidFill>
                  <a:schemeClr val="tx1"/>
                </a:solidFill>
              </a:rPr>
              <a:t>Each tree learns from a random draw of the training paintings and sees 10 of the 102 numbers at each question. Their mistakes differ, so the vote cancels them.</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3.0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3.0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83.0 %</a:t>
            </a:r>
            <a:endParaRPr lang="en-US" sz="3000" dirty="0"/>
          </a:p>
        </p:txBody>
      </p:sp>
      <p:sp>
        <p:nvSpPr>
          <p:cNvPr id="18" name="caption 83.0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frozen + linear head (ours)</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3"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5"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6"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18"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2026-10-21T12:06:43Z</dcterms:created>
  <dcterms:modified xsi:type="dcterms:W3CDTF">2026-10-21T12:06:43Z</dcterms:modified>
</cp:coreProperties>
</file>