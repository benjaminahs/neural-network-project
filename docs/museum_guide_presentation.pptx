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58dd4e7b-83ea-3470-e926-2c21dcb2a8e3}">
          <p14:sldIdLst>
            <p14:sldId id="256"/>
            <p14:sldId id="257"/>
            <p14:sldId id="258"/>
          </p14:sldIdLst>
        </p14:section>
        <p14:section name="Our MLP" id="{e0d5256e-f470-8fb8-0b66-670c872c8233}">
          <p14:sldIdLst>
            <p14:sldId id="259"/>
            <p14:sldId id="260"/>
          </p14:sldIdLst>
        </p14:section>
        <p14:section name="Pretrained ResNet" id="{7089e9a1-3197-81ea-2d1f-0f5aed3c1c71}">
          <p14:sldIdLst>
            <p14:sldId id="261"/>
            <p14:sldId id="262"/>
          </p14:sldIdLst>
        </p14:section>
        <p14:section name="The answer" id="{570237ec-11b4-f7ce-669d-b8eb6ca962fd}">
          <p14:sldIdLst>
            <p14:sldId id="263"/>
            <p14:sldId id="264"/>
            <p14:sldId id="265"/>
            <p14:sldId id="266"/>
          </p14:sldIdLst>
        </p14:section>
        <p14:section name="Backup" id="{f395000c-73c4-74fc-d50e-222894e442df}">
          <p14:sldIdLst>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Sheet1!$B$2:$B$5</c:f>
              <c:numCache>
                <c:formatCode>General</c:formatCode>
                <c:ptCount val="4"/>
                <c:pt idx="0">
                  <c:v>0</c:v>
                </c:pt>
                <c:pt idx="1">
                  <c:v>673</c:v>
                </c:pt>
                <c:pt idx="2">
                  <c:v>0</c:v>
                </c:pt>
                <c:pt idx="3">
                  <c:v>0</c:v>
                </c:pt>
              </c:numCache>
            </c:numRef>
          </c:val>
        </c:ser>
        <c:ser>
          <c:idx val="1"/>
          <c:order val="1"/>
          <c:tx>
            <c:strRef>
              <c:f>Sheet1!$C$1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Sheet1!$C$2:$C$5</c:f>
              <c:numCache>
                <c:formatCode>General</c:formatCode>
                <c:ptCount val="4"/>
                <c:pt idx="0">
                  <c:v>414</c:v>
                </c:pt>
                <c:pt idx="1">
                  <c:v>0</c:v>
                </c:pt>
                <c:pt idx="2">
                  <c:v>830</c:v>
                </c:pt>
                <c:pt idx="3">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point your phone at a painting in a museum, and a guide tells you its style. Our museum wants exactly this, on kiosks in its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a final test against a classical model. Step six: the cost on a kiosk. Each step told us what to try next. At the end of these six steps, we will have our answer.</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 We measured it: when the model has seen the painter, it scores 11 points higher.</a:t>
            </a:r>
          </a:p>
          <a:p>
            <a:pPr>
              <a:spcBef>
                <a:spcPts val="900"/>
              </a:spcBef>
            </a:pPr>
            <a:r>
              <a:rPr lang="en-US" b="1" dirty="0"/>
              <a:t>TRANSITION: We saw that our data is ready and our test is fair. So now, step two: we can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the overfitting with the tools of session 6, 3 seeds each. All together, weight decay, dropout, batch norm, flips and early stopping take the MLP from 38.8 to 45.5 percent, and the gap between train and validation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all this on 1.2 million ImageNet photos. We only have 1 061 paintings, so we keep it as it is: it is frozen. It turns each painting into 512 numbers. We remove its last layer, made for ImageNet, and add our own: from these 512 numbers to our 5 styles, 2 565 weights, the only ones we train. Like hiring an experienced art expert, and only teaching them our five style names.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this last layer takes less than a second, and gives 88.1 percent on validation, almost twice our best MLP. And it does see shapes: it finds 71 percent of the Cubist paintings, against 7 for our MLP. We also tried fine-tuning: we unfreeze the last block of ResNet18, so that it also learns from our paintings, 8.4 million weights instead of 2 565. It was less convincing than keeping it frozen: 85.4 percent instead of 88.1. With only 1 061 paintings, it starts to learn them by heart. We monitored it like the MLP: the gap between train and validation is only 0.09, against 0.61 for our first MLP.</a:t>
            </a:r>
          </a:p>
          <a:p>
            <a:pPr>
              <a:spcBef>
                <a:spcPts val="900"/>
              </a:spcBef>
            </a:pPr>
            <a:r>
              <a:rPr lang="en-US" b="1" dirty="0"/>
              <a:t>TRANSITION: We saw that ResNet18 reaches 88 percent. But to answer the director, we also need a challenger without any neural network. So now, step five: we build this classical challenger, then we test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 every model, on 220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from 83 to 88 percent. The random forest reaches 67; our MLP 41. Is the gap real? A paired bootstrap on the same test paintings gives our model a lead of 16.4 points over the random forest, between 9 and 24 points: it is not luck. One honest note: the fine-tuned model is first here, but it was second on validation, and we keep the model chosen before the test.</a:t>
            </a:r>
          </a:p>
          <a:p>
            <a:pPr>
              <a:spcBef>
                <a:spcPts val="900"/>
              </a:spcBef>
            </a:pPr>
            <a:r>
              <a:rPr lang="en-US" b="1" dirty="0"/>
              <a:t>TRANSITION: We saw that the pretrained network is the most accurate. But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ResNet needs 53 milliseconds on one CPU thread, 26 with four threads: faster than a blink. Even on a kiosk four times slower, it answers in a fifth of a second. The model file is 45 megabytes.</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test, our own MLP reached 41 percent, the best classical model 67, and the frozen ResNet18 83.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test: 67.3 %, 16.4 points below the frozen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ResNet18 is built: the painting (224 by 224 pixels, 3 colours) goes through a first convolution and four layers of residual blocks. At each layer the picture gets smaller (56, 28, 14, 7 pixels) but the number of channels grows (64 to 512): from edges and colours to textures, patterns and shapes. The average of the last 512 maps gives 512 numbers. All of this is frozen: 11.2 million weights learned on ImageNet. Our linear head turns the 512 numbers into 5 scores, one per style: 2 565 weights, the only ones we train. Residual means each block adds its input back through a shortcut, so the gradient reaches every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and frozen</a:t>
            </a:r>
            <a:endParaRPr lang="en-US" sz="1400" dirty="0"/>
          </a:p>
          <a:p>
            <a:pPr indent="0" marL="0">
              <a:buNone/>
            </a:pPr>
            <a:r>
              <a:rPr lang="en-US" sz="1100" dirty="0">
                <a:solidFill>
                  <a:srgbClr val="C9CED8"/>
                </a:solidFill>
              </a:rPr>
              <a:t>18 layers, 11 million weights learned on 1.2 million ImageNet photos. We do not change them.</a:t>
            </a:r>
            <a:endParaRPr lang="en-US" sz="1400" dirty="0"/>
          </a:p>
        </p:txBody>
      </p:sp>
      <p:sp>
        <p:nvSpPr>
          <p:cNvPr id="10" name="level 1"/>
          <p:cNvSpPr/>
          <p:nvPr/>
        </p:nvSpPr>
        <p:spPr>
          <a:xfrm>
            <a:off x="2057400" y="2011680"/>
            <a:ext cx="896112" cy="548640"/>
          </a:xfrm>
          <a:prstGeom prst="roundRect">
            <a:avLst>
              <a:gd name="adj" fmla="val 10000"/>
            </a:avLst>
          </a:prstGeom>
          <a:solidFill>
            <a:srgbClr val="2A3448"/>
          </a:solidFill>
          <a:ln w="12700">
            <a:solidFill>
              <a:srgbClr val="2A3448"/>
            </a:solidFill>
            <a:prstDash val="solid"/>
          </a:ln>
        </p:spPr>
      </p:sp>
      <p:sp>
        <p:nvSpPr>
          <p:cNvPr id="11" name="level text 1"/>
          <p:cNvSpPr txBox="1"/>
          <p:nvPr/>
        </p:nvSpPr>
        <p:spPr>
          <a:xfrm>
            <a:off x="205740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p:txBody>
      </p:sp>
      <p:sp>
        <p:nvSpPr>
          <p:cNvPr id="12" name="level 2"/>
          <p:cNvSpPr/>
          <p:nvPr/>
        </p:nvSpPr>
        <p:spPr>
          <a:xfrm>
            <a:off x="3063240" y="2011680"/>
            <a:ext cx="896112" cy="548640"/>
          </a:xfrm>
          <a:prstGeom prst="roundRect">
            <a:avLst>
              <a:gd name="adj" fmla="val 10000"/>
            </a:avLst>
          </a:prstGeom>
          <a:solidFill>
            <a:srgbClr val="2A3448"/>
          </a:solidFill>
          <a:ln w="12700">
            <a:solidFill>
              <a:srgbClr val="2A3448"/>
            </a:solidFill>
            <a:prstDash val="solid"/>
          </a:ln>
        </p:spPr>
      </p:sp>
      <p:sp>
        <p:nvSpPr>
          <p:cNvPr id="13" name="level text 2"/>
          <p:cNvSpPr txBox="1"/>
          <p:nvPr/>
        </p:nvSpPr>
        <p:spPr>
          <a:xfrm>
            <a:off x="306324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p:txBody>
      </p:sp>
      <p:sp>
        <p:nvSpPr>
          <p:cNvPr id="14" name="level 3"/>
          <p:cNvSpPr/>
          <p:nvPr/>
        </p:nvSpPr>
        <p:spPr>
          <a:xfrm>
            <a:off x="4069080" y="2011680"/>
            <a:ext cx="896112" cy="548640"/>
          </a:xfrm>
          <a:prstGeom prst="roundRect">
            <a:avLst>
              <a:gd name="adj" fmla="val 10000"/>
            </a:avLst>
          </a:prstGeom>
          <a:solidFill>
            <a:srgbClr val="2A3448"/>
          </a:solidFill>
          <a:ln w="12700">
            <a:solidFill>
              <a:srgbClr val="2A3448"/>
            </a:solidFill>
            <a:prstDash val="solid"/>
          </a:ln>
        </p:spPr>
      </p:sp>
      <p:sp>
        <p:nvSpPr>
          <p:cNvPr id="15" name="level text 3"/>
          <p:cNvSpPr txBox="1"/>
          <p:nvPr/>
        </p:nvSpPr>
        <p:spPr>
          <a:xfrm>
            <a:off x="406908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last layers</a:t>
            </a:r>
            <a:endParaRPr lang="en-US" sz="900" dirty="0"/>
          </a:p>
          <a:p>
            <a:pPr algn="ctr" indent="0" marL="0">
              <a:buNone/>
            </a:pPr>
            <a:r>
              <a:rPr lang="en-US" sz="1100" b="1" dirty="0">
                <a:solidFill>
                  <a:schemeClr val="bg1"/>
                </a:solidFill>
              </a:rPr>
              <a:t>shapes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the only part we train</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Why frozen"/>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Why frozen"/>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frozen</a:t>
            </a:r>
            <a:endParaRPr lang="en-US" sz="1400" dirty="0"/>
          </a:p>
          <a:p>
            <a:pPr indent="0" marL="0">
              <a:spcAft>
                <a:spcPts val="400"/>
              </a:spcAft>
              <a:buNone/>
            </a:pPr>
            <a:r>
              <a:rPr lang="en-US" sz="1200" dirty="0">
                <a:solidFill>
                  <a:schemeClr val="tx1"/>
                </a:solidFill>
              </a:rPr>
              <a:t>Only 1 061 paintings: too few for 11 million weights. We reuse what it learned and train only our new last layer, in 0.4 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ing: less convincing"/>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ess convincing"/>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less convincing</a:t>
            </a:r>
            <a:endParaRPr lang="en-US" sz="1500" dirty="0"/>
          </a:p>
          <a:p>
            <a:pPr indent="0" marL="0">
              <a:spcAft>
                <a:spcPts val="400"/>
              </a:spcAft>
              <a:buNone/>
            </a:pPr>
            <a:r>
              <a:rPr lang="en-US" sz="1400" dirty="0">
                <a:solidFill>
                  <a:schemeClr val="tx1"/>
                </a:solidFill>
              </a:rPr>
              <a:t>We also unfreeze its last block (8.4 M weights) to learn from our paintings: 85.4 % on validation, below the frozen version.</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3977640" cy="2880360"/>
          </a:xfrm>
          <a:prstGeom prst="roundRect">
            <a:avLst>
              <a:gd name="adj" fmla="val 2540"/>
            </a:avLst>
          </a:prstGeom>
          <a:solidFill>
            <a:srgbClr val="2A3448"/>
          </a:solidFill>
          <a:ln w="12700">
            <a:solidFill>
              <a:srgbClr val="2A3448"/>
            </a:solidFill>
            <a:prstDash val="solid"/>
          </a:ln>
        </p:spPr>
      </p:sp>
      <p:sp>
        <p:nvSpPr>
          <p:cNvPr id="5" name="head Why"/>
          <p:cNvSpPr txBox="1"/>
          <p:nvPr/>
        </p:nvSpPr>
        <p:spPr>
          <a:xfrm>
            <a:off x="685800" y="1737360"/>
            <a:ext cx="3520440" cy="41148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Why</a:t>
            </a:r>
            <a:endParaRPr lang="en-US" sz="2200" dirty="0"/>
          </a:p>
        </p:txBody>
      </p:sp>
      <p:sp>
        <p:nvSpPr>
          <p:cNvPr id="6" name="items Why"/>
          <p:cNvSpPr txBox="1"/>
          <p:nvPr/>
        </p:nvSpPr>
        <p:spPr>
          <a:xfrm>
            <a:off x="68580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1 visitor in 6 gets a wrong style, against 1 in 3 with the best classical model</a:t>
            </a:r>
            <a:endParaRPr lang="en-US" sz="1600" dirty="0"/>
          </a:p>
          <a:p>
            <a:pPr marL="342900" indent="-342900">
              <a:spcAft>
                <a:spcPts val="800"/>
              </a:spcAft>
              <a:buSzPct val="100000"/>
              <a:buChar char="•"/>
            </a:pPr>
            <a:r>
              <a:rPr lang="en-US" sz="1600" dirty="0">
                <a:solidFill>
                  <a:schemeClr val="bg1"/>
                </a:solidFill>
              </a:rPr>
              <a:t>53 ms per photo on a modest CPU</a:t>
            </a:r>
            <a:endParaRPr lang="en-US" sz="1600" dirty="0"/>
          </a:p>
          <a:p>
            <a:pPr marL="342900" indent="-342900">
              <a:spcAft>
                <a:spcPts val="800"/>
              </a:spcAft>
              <a:buSzPct val="100000"/>
              <a:buChar char="•"/>
            </a:pPr>
            <a:r>
              <a:rPr lang="en-US" sz="1600" dirty="0">
                <a:solidFill>
                  <a:schemeClr val="bg1"/>
                </a:solidFill>
              </a:rPr>
              <a:t>Retrained in seconds when the collection changes</a:t>
            </a:r>
            <a:endParaRPr lang="en-US" sz="1600" dirty="0"/>
          </a:p>
        </p:txBody>
      </p:sp>
      <p:sp>
        <p:nvSpPr>
          <p:cNvPr id="7" name="column Before launch"/>
          <p:cNvSpPr/>
          <p:nvPr/>
        </p:nvSpPr>
        <p:spPr>
          <a:xfrm>
            <a:off x="4709160" y="1600200"/>
            <a:ext cx="3977640" cy="2880360"/>
          </a:xfrm>
          <a:prstGeom prst="roundRect">
            <a:avLst>
              <a:gd name="adj" fmla="val 2540"/>
            </a:avLst>
          </a:prstGeom>
          <a:solidFill>
            <a:srgbClr val="2A3448"/>
          </a:solidFill>
          <a:ln w="12700">
            <a:solidFill>
              <a:srgbClr val="2A3448"/>
            </a:solidFill>
            <a:prstDash val="solid"/>
          </a:ln>
        </p:spPr>
      </p:sp>
      <p:sp>
        <p:nvSpPr>
          <p:cNvPr id="8" name="head Before launch"/>
          <p:cNvSpPr txBox="1"/>
          <p:nvPr/>
        </p:nvSpPr>
        <p:spPr>
          <a:xfrm>
            <a:off x="4937760" y="1737360"/>
            <a:ext cx="3520440" cy="411480"/>
          </a:xfrm>
          <a:prstGeom prst="rect">
            <a:avLst/>
          </a:prstGeom>
          <a:noFill/>
          <a:ln/>
        </p:spPr>
        <p:txBody>
          <a:bodyPr wrap="square" lIns="0" tIns="0" rIns="0" bIns="0" rtlCol="0" anchor="ctr"/>
          <a:lstStyle/>
          <a:p>
            <a:pPr indent="0" marL="0">
              <a:buNone/>
            </a:pPr>
            <a:r>
              <a:rPr lang="en-US" sz="2200" b="1" dirty="0">
                <a:solidFill>
                  <a:schemeClr val="accent4"/>
                </a:solidFill>
                <a:latin typeface="Cambria" pitchFamily="34" charset="0"/>
                <a:ea typeface="Cambria" pitchFamily="34" charset="-122"/>
                <a:cs typeface="Cambria" pitchFamily="34" charset="-120"/>
              </a:rPr>
              <a:t>Before launch</a:t>
            </a:r>
            <a:endParaRPr lang="en-US" sz="2200" dirty="0"/>
          </a:p>
        </p:txBody>
      </p:sp>
      <p:sp>
        <p:nvSpPr>
          <p:cNvPr id="9" name="items Before launch"/>
          <p:cNvSpPr txBox="1"/>
          <p:nvPr/>
        </p:nvSpPr>
        <p:spPr>
          <a:xfrm>
            <a:off x="493776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Test a few hundred real kiosk photos</a:t>
            </a:r>
            <a:endParaRPr lang="en-US" sz="1600" dirty="0"/>
          </a:p>
          <a:p>
            <a:pPr marL="342900" indent="-342900">
              <a:spcAft>
                <a:spcPts val="800"/>
              </a:spcAft>
              <a:buSzPct val="100000"/>
              <a:buChar char="•"/>
            </a:pPr>
            <a:r>
              <a:rPr lang="en-US" sz="1600" dirty="0">
                <a:solidFill>
                  <a:schemeClr val="bg1"/>
                </a:solidFill>
              </a:rPr>
              <a:t>Add more styles and paintings</a:t>
            </a:r>
            <a:endParaRPr lang="en-US" sz="1600" dirty="0"/>
          </a:p>
          <a:p>
            <a:pPr marL="342900" indent="-342900">
              <a:spcAft>
                <a:spcPts val="800"/>
              </a:spcAft>
              <a:buSzPct val="100000"/>
              <a:buChar char="•"/>
            </a:pPr>
            <a:r>
              <a:rPr lang="en-US" sz="1600" dirty="0">
                <a:solidFill>
                  <a:schemeClr val="bg1"/>
                </a:solidFill>
              </a:rPr>
              <a:t>Measure the real kiosk hardware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3.0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3.0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83.0 %</a:t>
            </a:r>
            <a:endParaRPr lang="en-US" sz="3000" dirty="0"/>
          </a:p>
        </p:txBody>
      </p:sp>
      <p:sp>
        <p:nvSpPr>
          <p:cNvPr id="18" name="caption 83.0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frozen + linear head (ours)</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5"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7"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8"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0"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inside ResNet18 + our linear head</a:t>
            </a:r>
            <a:endParaRPr lang="en-US" sz="3000" dirty="0"/>
          </a:p>
        </p:txBody>
      </p:sp>
      <p:sp>
        <p:nvSpPr>
          <p:cNvPr id="3" name="stage 1 painting"/>
          <p:cNvSpPr/>
          <p:nvPr/>
        </p:nvSpPr>
        <p:spPr>
          <a:xfrm>
            <a:off x="466344" y="1051560"/>
            <a:ext cx="749808" cy="1645920"/>
          </a:xfrm>
          <a:prstGeom prst="roundRect">
            <a:avLst>
              <a:gd name="adj" fmla="val 7317"/>
            </a:avLst>
          </a:prstGeom>
          <a:solidFill>
            <a:schemeClr val="bg2"/>
          </a:solidFill>
          <a:ln w="12700">
            <a:solidFill>
              <a:schemeClr val="bg2"/>
            </a:solidFill>
            <a:prstDash val="solid"/>
          </a:ln>
        </p:spPr>
      </p:sp>
      <p:sp>
        <p:nvSpPr>
          <p:cNvPr id="4" name="stage name 1 painting"/>
          <p:cNvSpPr txBox="1"/>
          <p:nvPr/>
        </p:nvSpPr>
        <p:spPr>
          <a:xfrm>
            <a:off x="466344" y="1051560"/>
            <a:ext cx="749808" cy="1645920"/>
          </a:xfrm>
          <a:prstGeom prst="rect">
            <a:avLst/>
          </a:prstGeom>
          <a:noFill/>
          <a:ln/>
        </p:spPr>
        <p:txBody>
          <a:bodyPr wrap="square" lIns="254" tIns="254" rIns="254" bIns="254" rtlCol="0" anchor="ctr"/>
          <a:lstStyle/>
          <a:p>
            <a:pPr algn="ctr" indent="0" marL="0">
              <a:buNone/>
            </a:pPr>
            <a:r>
              <a:rPr lang="en-US" sz="1000" b="1" dirty="0">
                <a:solidFill>
                  <a:schemeClr val="tx2"/>
                </a:solidFill>
              </a:rPr>
              <a:t>1 painting</a:t>
            </a:r>
            <a:endParaRPr lang="en-US" sz="1000" dirty="0"/>
          </a:p>
        </p:txBody>
      </p:sp>
      <p:sp>
        <p:nvSpPr>
          <p:cNvPr id="5" name="stage caption 1 painting"/>
          <p:cNvSpPr txBox="1"/>
          <p:nvPr/>
        </p:nvSpPr>
        <p:spPr>
          <a:xfrm>
            <a:off x="39319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224 x 224 x 3</a:t>
            </a:r>
            <a:endParaRPr lang="en-US" sz="900" dirty="0"/>
          </a:p>
        </p:txBody>
      </p:sp>
      <p:sp>
        <p:nvSpPr>
          <p:cNvPr id="6" name="stage arrow 1"/>
          <p:cNvSpPr/>
          <p:nvPr/>
        </p:nvSpPr>
        <p:spPr>
          <a:xfrm>
            <a:off x="1243584" y="1874520"/>
            <a:ext cx="128016" cy="0"/>
          </a:xfrm>
          <a:prstGeom prst="line">
            <a:avLst/>
          </a:prstGeom>
          <a:noFill/>
          <a:ln w="19050">
            <a:solidFill>
              <a:srgbClr val="3A3F4B"/>
            </a:solidFill>
            <a:prstDash val="solid"/>
            <a:tailEnd type="triangle"/>
          </a:ln>
        </p:spPr>
      </p:sp>
      <p:sp>
        <p:nvSpPr>
          <p:cNvPr id="7" name="stage conv1 + pool"/>
          <p:cNvSpPr/>
          <p:nvPr/>
        </p:nvSpPr>
        <p:spPr>
          <a:xfrm>
            <a:off x="1399032" y="1209672"/>
            <a:ext cx="749808" cy="1329695"/>
          </a:xfrm>
          <a:prstGeom prst="roundRect">
            <a:avLst>
              <a:gd name="adj" fmla="val 7317"/>
            </a:avLst>
          </a:prstGeom>
          <a:solidFill>
            <a:schemeClr val="tx2"/>
          </a:solidFill>
          <a:ln w="12700">
            <a:solidFill>
              <a:schemeClr val="tx2"/>
            </a:solidFill>
            <a:prstDash val="solid"/>
          </a:ln>
        </p:spPr>
      </p:sp>
      <p:sp>
        <p:nvSpPr>
          <p:cNvPr id="8" name="stage name conv1 + pool"/>
          <p:cNvSpPr txBox="1"/>
          <p:nvPr/>
        </p:nvSpPr>
        <p:spPr>
          <a:xfrm>
            <a:off x="1399032"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conv1 + pool</a:t>
            </a:r>
            <a:endParaRPr lang="en-US" sz="1000" dirty="0"/>
          </a:p>
        </p:txBody>
      </p:sp>
      <p:sp>
        <p:nvSpPr>
          <p:cNvPr id="9" name="stage caption conv1 + pool"/>
          <p:cNvSpPr txBox="1"/>
          <p:nvPr/>
        </p:nvSpPr>
        <p:spPr>
          <a:xfrm>
            <a:off x="132588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9.5 k weights</a:t>
            </a:r>
            <a:endParaRPr lang="en-US" sz="900" dirty="0"/>
          </a:p>
        </p:txBody>
      </p:sp>
      <p:sp>
        <p:nvSpPr>
          <p:cNvPr id="10" name="stage arrow 2"/>
          <p:cNvSpPr/>
          <p:nvPr/>
        </p:nvSpPr>
        <p:spPr>
          <a:xfrm>
            <a:off x="2176272" y="1874520"/>
            <a:ext cx="128016" cy="0"/>
          </a:xfrm>
          <a:prstGeom prst="line">
            <a:avLst/>
          </a:prstGeom>
          <a:noFill/>
          <a:ln w="19050">
            <a:solidFill>
              <a:srgbClr val="3A3F4B"/>
            </a:solidFill>
            <a:prstDash val="solid"/>
            <a:tailEnd type="triangle"/>
          </a:ln>
        </p:spPr>
      </p:sp>
      <p:sp>
        <p:nvSpPr>
          <p:cNvPr id="11" name="stage layer1"/>
          <p:cNvSpPr/>
          <p:nvPr/>
        </p:nvSpPr>
        <p:spPr>
          <a:xfrm>
            <a:off x="2331720" y="1209672"/>
            <a:ext cx="749808" cy="1329695"/>
          </a:xfrm>
          <a:prstGeom prst="roundRect">
            <a:avLst>
              <a:gd name="adj" fmla="val 7317"/>
            </a:avLst>
          </a:prstGeom>
          <a:solidFill>
            <a:schemeClr val="tx2"/>
          </a:solidFill>
          <a:ln w="12700">
            <a:solidFill>
              <a:schemeClr val="tx2"/>
            </a:solidFill>
            <a:prstDash val="solid"/>
          </a:ln>
        </p:spPr>
      </p:sp>
      <p:sp>
        <p:nvSpPr>
          <p:cNvPr id="12" name="stage name layer1"/>
          <p:cNvSpPr txBox="1"/>
          <p:nvPr/>
        </p:nvSpPr>
        <p:spPr>
          <a:xfrm>
            <a:off x="2331720"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layer1</a:t>
            </a:r>
            <a:endParaRPr lang="en-US" sz="1000" dirty="0"/>
          </a:p>
        </p:txBody>
      </p:sp>
      <p:sp>
        <p:nvSpPr>
          <p:cNvPr id="13" name="stage caption layer1"/>
          <p:cNvSpPr txBox="1"/>
          <p:nvPr/>
        </p:nvSpPr>
        <p:spPr>
          <a:xfrm>
            <a:off x="225856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148 k weights</a:t>
            </a:r>
            <a:endParaRPr lang="en-US" sz="900" dirty="0"/>
          </a:p>
        </p:txBody>
      </p:sp>
      <p:sp>
        <p:nvSpPr>
          <p:cNvPr id="14" name="stage arrow 3"/>
          <p:cNvSpPr/>
          <p:nvPr/>
        </p:nvSpPr>
        <p:spPr>
          <a:xfrm>
            <a:off x="3108960" y="1874520"/>
            <a:ext cx="128016" cy="0"/>
          </a:xfrm>
          <a:prstGeom prst="line">
            <a:avLst/>
          </a:prstGeom>
          <a:noFill/>
          <a:ln w="19050">
            <a:solidFill>
              <a:srgbClr val="3A3F4B"/>
            </a:solidFill>
            <a:prstDash val="solid"/>
            <a:tailEnd type="triangle"/>
          </a:ln>
        </p:spPr>
      </p:sp>
      <p:sp>
        <p:nvSpPr>
          <p:cNvPr id="15" name="stage layer2"/>
          <p:cNvSpPr/>
          <p:nvPr/>
        </p:nvSpPr>
        <p:spPr>
          <a:xfrm>
            <a:off x="3264408" y="1288729"/>
            <a:ext cx="749808" cy="1171583"/>
          </a:xfrm>
          <a:prstGeom prst="roundRect">
            <a:avLst>
              <a:gd name="adj" fmla="val 7317"/>
            </a:avLst>
          </a:prstGeom>
          <a:solidFill>
            <a:schemeClr val="tx2"/>
          </a:solidFill>
          <a:ln w="12700">
            <a:solidFill>
              <a:schemeClr val="tx2"/>
            </a:solidFill>
            <a:prstDash val="solid"/>
          </a:ln>
        </p:spPr>
      </p:sp>
      <p:sp>
        <p:nvSpPr>
          <p:cNvPr id="16" name="stage name layer2"/>
          <p:cNvSpPr txBox="1"/>
          <p:nvPr/>
        </p:nvSpPr>
        <p:spPr>
          <a:xfrm>
            <a:off x="3264408" y="1288729"/>
            <a:ext cx="749808" cy="1171583"/>
          </a:xfrm>
          <a:prstGeom prst="rect">
            <a:avLst/>
          </a:prstGeom>
          <a:noFill/>
          <a:ln/>
        </p:spPr>
        <p:txBody>
          <a:bodyPr wrap="square" lIns="254" tIns="254" rIns="254" bIns="254" rtlCol="0" anchor="ctr"/>
          <a:lstStyle/>
          <a:p>
            <a:pPr algn="ctr" indent="0" marL="0">
              <a:buNone/>
            </a:pPr>
            <a:r>
              <a:rPr lang="en-US" sz="1000" b="1" dirty="0">
                <a:solidFill>
                  <a:schemeClr val="bg1"/>
                </a:solidFill>
              </a:rPr>
              <a:t>layer2</a:t>
            </a:r>
            <a:endParaRPr lang="en-US" sz="1000" dirty="0"/>
          </a:p>
        </p:txBody>
      </p:sp>
      <p:sp>
        <p:nvSpPr>
          <p:cNvPr id="17" name="stage caption layer2"/>
          <p:cNvSpPr txBox="1"/>
          <p:nvPr/>
        </p:nvSpPr>
        <p:spPr>
          <a:xfrm>
            <a:off x="319125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28 x 28 x 128</a:t>
            </a:r>
            <a:endParaRPr lang="en-US" sz="900" dirty="0"/>
          </a:p>
          <a:p>
            <a:pPr algn="ctr" indent="0" marL="0">
              <a:buNone/>
            </a:pPr>
            <a:r>
              <a:rPr lang="en-US" sz="900" dirty="0">
                <a:solidFill>
                  <a:schemeClr val="tx1"/>
                </a:solidFill>
              </a:rPr>
              <a:t>526 k weights</a:t>
            </a:r>
            <a:endParaRPr lang="en-US" sz="900" dirty="0"/>
          </a:p>
        </p:txBody>
      </p:sp>
      <p:sp>
        <p:nvSpPr>
          <p:cNvPr id="18" name="stage arrow 4"/>
          <p:cNvSpPr/>
          <p:nvPr/>
        </p:nvSpPr>
        <p:spPr>
          <a:xfrm>
            <a:off x="4041648" y="1874520"/>
            <a:ext cx="128016" cy="0"/>
          </a:xfrm>
          <a:prstGeom prst="line">
            <a:avLst/>
          </a:prstGeom>
          <a:noFill/>
          <a:ln w="19050">
            <a:solidFill>
              <a:srgbClr val="3A3F4B"/>
            </a:solidFill>
            <a:prstDash val="solid"/>
            <a:tailEnd type="triangle"/>
          </a:ln>
        </p:spPr>
      </p:sp>
      <p:sp>
        <p:nvSpPr>
          <p:cNvPr id="19" name="stage layer3"/>
          <p:cNvSpPr/>
          <p:nvPr/>
        </p:nvSpPr>
        <p:spPr>
          <a:xfrm>
            <a:off x="4197096" y="1367785"/>
            <a:ext cx="749808" cy="1013470"/>
          </a:xfrm>
          <a:prstGeom prst="roundRect">
            <a:avLst>
              <a:gd name="adj" fmla="val 7317"/>
            </a:avLst>
          </a:prstGeom>
          <a:solidFill>
            <a:schemeClr val="tx2"/>
          </a:solidFill>
          <a:ln w="12700">
            <a:solidFill>
              <a:schemeClr val="tx2"/>
            </a:solidFill>
            <a:prstDash val="solid"/>
          </a:ln>
        </p:spPr>
      </p:sp>
      <p:sp>
        <p:nvSpPr>
          <p:cNvPr id="20" name="stage name layer3"/>
          <p:cNvSpPr txBox="1"/>
          <p:nvPr/>
        </p:nvSpPr>
        <p:spPr>
          <a:xfrm>
            <a:off x="4197096" y="1367785"/>
            <a:ext cx="749808" cy="1013470"/>
          </a:xfrm>
          <a:prstGeom prst="rect">
            <a:avLst/>
          </a:prstGeom>
          <a:noFill/>
          <a:ln/>
        </p:spPr>
        <p:txBody>
          <a:bodyPr wrap="square" lIns="254" tIns="254" rIns="254" bIns="254" rtlCol="0" anchor="ctr"/>
          <a:lstStyle/>
          <a:p>
            <a:pPr algn="ctr" indent="0" marL="0">
              <a:buNone/>
            </a:pPr>
            <a:r>
              <a:rPr lang="en-US" sz="1000" b="1" dirty="0">
                <a:solidFill>
                  <a:schemeClr val="bg1"/>
                </a:solidFill>
              </a:rPr>
              <a:t>layer3</a:t>
            </a:r>
            <a:endParaRPr lang="en-US" sz="1000" dirty="0"/>
          </a:p>
        </p:txBody>
      </p:sp>
      <p:sp>
        <p:nvSpPr>
          <p:cNvPr id="21" name="stage caption layer3"/>
          <p:cNvSpPr txBox="1"/>
          <p:nvPr/>
        </p:nvSpPr>
        <p:spPr>
          <a:xfrm>
            <a:off x="4123944"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14 x 14 x 256</a:t>
            </a:r>
            <a:endParaRPr lang="en-US" sz="900" dirty="0"/>
          </a:p>
          <a:p>
            <a:pPr algn="ctr" indent="0" marL="0">
              <a:buNone/>
            </a:pPr>
            <a:r>
              <a:rPr lang="en-US" sz="900" dirty="0">
                <a:solidFill>
                  <a:schemeClr val="tx1"/>
                </a:solidFill>
              </a:rPr>
              <a:t>2.1 M weights</a:t>
            </a:r>
            <a:endParaRPr lang="en-US" sz="900" dirty="0"/>
          </a:p>
        </p:txBody>
      </p:sp>
      <p:sp>
        <p:nvSpPr>
          <p:cNvPr id="22" name="stage arrow 5"/>
          <p:cNvSpPr/>
          <p:nvPr/>
        </p:nvSpPr>
        <p:spPr>
          <a:xfrm>
            <a:off x="4974336" y="1874520"/>
            <a:ext cx="128016" cy="0"/>
          </a:xfrm>
          <a:prstGeom prst="line">
            <a:avLst/>
          </a:prstGeom>
          <a:noFill/>
          <a:ln w="19050">
            <a:solidFill>
              <a:srgbClr val="3A3F4B"/>
            </a:solidFill>
            <a:prstDash val="solid"/>
            <a:tailEnd type="triangle"/>
          </a:ln>
        </p:spPr>
      </p:sp>
      <p:sp>
        <p:nvSpPr>
          <p:cNvPr id="23" name="stage layer4"/>
          <p:cNvSpPr/>
          <p:nvPr/>
        </p:nvSpPr>
        <p:spPr>
          <a:xfrm>
            <a:off x="5129784" y="1446841"/>
            <a:ext cx="749808" cy="855358"/>
          </a:xfrm>
          <a:prstGeom prst="roundRect">
            <a:avLst>
              <a:gd name="adj" fmla="val 7317"/>
            </a:avLst>
          </a:prstGeom>
          <a:solidFill>
            <a:schemeClr val="tx2"/>
          </a:solidFill>
          <a:ln w="12700">
            <a:solidFill>
              <a:schemeClr val="tx2"/>
            </a:solidFill>
            <a:prstDash val="solid"/>
          </a:ln>
        </p:spPr>
      </p:sp>
      <p:sp>
        <p:nvSpPr>
          <p:cNvPr id="24" name="stage name layer4"/>
          <p:cNvSpPr txBox="1"/>
          <p:nvPr/>
        </p:nvSpPr>
        <p:spPr>
          <a:xfrm>
            <a:off x="5129784" y="1446841"/>
            <a:ext cx="749808" cy="855358"/>
          </a:xfrm>
          <a:prstGeom prst="rect">
            <a:avLst/>
          </a:prstGeom>
          <a:noFill/>
          <a:ln/>
        </p:spPr>
        <p:txBody>
          <a:bodyPr wrap="square" lIns="254" tIns="254" rIns="254" bIns="254" rtlCol="0" anchor="ctr"/>
          <a:lstStyle/>
          <a:p>
            <a:pPr algn="ctr" indent="0" marL="0">
              <a:buNone/>
            </a:pPr>
            <a:r>
              <a:rPr lang="en-US" sz="1000" b="1" dirty="0">
                <a:solidFill>
                  <a:schemeClr val="bg1"/>
                </a:solidFill>
              </a:rPr>
              <a:t>layer4</a:t>
            </a:r>
            <a:endParaRPr lang="en-US" sz="1000" dirty="0"/>
          </a:p>
        </p:txBody>
      </p:sp>
      <p:sp>
        <p:nvSpPr>
          <p:cNvPr id="25" name="stage caption layer4"/>
          <p:cNvSpPr txBox="1"/>
          <p:nvPr/>
        </p:nvSpPr>
        <p:spPr>
          <a:xfrm>
            <a:off x="505663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7 x 7 x 512</a:t>
            </a:r>
            <a:endParaRPr lang="en-US" sz="900" dirty="0"/>
          </a:p>
          <a:p>
            <a:pPr algn="ctr" indent="0" marL="0">
              <a:buNone/>
            </a:pPr>
            <a:r>
              <a:rPr lang="en-US" sz="900" dirty="0">
                <a:solidFill>
                  <a:schemeClr val="tx1"/>
                </a:solidFill>
              </a:rPr>
              <a:t>8.4 M weights</a:t>
            </a:r>
            <a:endParaRPr lang="en-US" sz="900" dirty="0"/>
          </a:p>
        </p:txBody>
      </p:sp>
      <p:sp>
        <p:nvSpPr>
          <p:cNvPr id="26" name="stage arrow 6"/>
          <p:cNvSpPr/>
          <p:nvPr/>
        </p:nvSpPr>
        <p:spPr>
          <a:xfrm>
            <a:off x="5907024" y="1874520"/>
            <a:ext cx="128016" cy="0"/>
          </a:xfrm>
          <a:prstGeom prst="line">
            <a:avLst/>
          </a:prstGeom>
          <a:noFill/>
          <a:ln w="19050">
            <a:solidFill>
              <a:srgbClr val="3A3F4B"/>
            </a:solidFill>
            <a:prstDash val="solid"/>
            <a:tailEnd type="triangle"/>
          </a:ln>
        </p:spPr>
      </p:sp>
      <p:sp>
        <p:nvSpPr>
          <p:cNvPr id="27" name="stage average"/>
          <p:cNvSpPr/>
          <p:nvPr/>
        </p:nvSpPr>
        <p:spPr>
          <a:xfrm>
            <a:off x="6062472" y="1668780"/>
            <a:ext cx="749808" cy="411480"/>
          </a:xfrm>
          <a:prstGeom prst="roundRect">
            <a:avLst>
              <a:gd name="adj" fmla="val 13333"/>
            </a:avLst>
          </a:prstGeom>
          <a:solidFill>
            <a:schemeClr val="tx2"/>
          </a:solidFill>
          <a:ln w="12700">
            <a:solidFill>
              <a:schemeClr val="tx2"/>
            </a:solidFill>
            <a:prstDash val="solid"/>
          </a:ln>
        </p:spPr>
      </p:sp>
      <p:sp>
        <p:nvSpPr>
          <p:cNvPr id="28" name="stage name average"/>
          <p:cNvSpPr txBox="1"/>
          <p:nvPr/>
        </p:nvSpPr>
        <p:spPr>
          <a:xfrm>
            <a:off x="6062472"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average</a:t>
            </a:r>
            <a:endParaRPr lang="en-US" sz="1000" dirty="0"/>
          </a:p>
        </p:txBody>
      </p:sp>
      <p:sp>
        <p:nvSpPr>
          <p:cNvPr id="29" name="stage caption average"/>
          <p:cNvSpPr txBox="1"/>
          <p:nvPr/>
        </p:nvSpPr>
        <p:spPr>
          <a:xfrm>
            <a:off x="598932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numbers</a:t>
            </a:r>
            <a:endParaRPr lang="en-US" sz="900" dirty="0"/>
          </a:p>
          <a:p>
            <a:pPr algn="ctr" indent="0" marL="0">
              <a:buNone/>
            </a:pPr>
            <a:r>
              <a:rPr lang="en-US" sz="900" dirty="0">
                <a:solidFill>
                  <a:schemeClr val="tx1"/>
                </a:solidFill>
              </a:rPr>
              <a:t>no weights</a:t>
            </a:r>
            <a:endParaRPr lang="en-US" sz="900" dirty="0"/>
          </a:p>
        </p:txBody>
      </p:sp>
      <p:sp>
        <p:nvSpPr>
          <p:cNvPr id="30" name="stage arrow 7"/>
          <p:cNvSpPr/>
          <p:nvPr/>
        </p:nvSpPr>
        <p:spPr>
          <a:xfrm>
            <a:off x="6839712" y="1874520"/>
            <a:ext cx="128016" cy="0"/>
          </a:xfrm>
          <a:prstGeom prst="line">
            <a:avLst/>
          </a:prstGeom>
          <a:noFill/>
          <a:ln w="19050">
            <a:solidFill>
              <a:srgbClr val="3A3F4B"/>
            </a:solidFill>
            <a:prstDash val="solid"/>
            <a:tailEnd type="triangle"/>
          </a:ln>
        </p:spPr>
      </p:sp>
      <p:sp>
        <p:nvSpPr>
          <p:cNvPr id="31" name="stage linear head"/>
          <p:cNvSpPr/>
          <p:nvPr/>
        </p:nvSpPr>
        <p:spPr>
          <a:xfrm>
            <a:off x="6995160" y="1668780"/>
            <a:ext cx="749808" cy="411480"/>
          </a:xfrm>
          <a:prstGeom prst="roundRect">
            <a:avLst>
              <a:gd name="adj" fmla="val 13333"/>
            </a:avLst>
          </a:prstGeom>
          <a:solidFill>
            <a:schemeClr val="accent1"/>
          </a:solidFill>
          <a:ln w="12700">
            <a:solidFill>
              <a:schemeClr val="accent1"/>
            </a:solidFill>
            <a:prstDash val="solid"/>
          </a:ln>
        </p:spPr>
      </p:sp>
      <p:sp>
        <p:nvSpPr>
          <p:cNvPr id="32" name="stage name linear head"/>
          <p:cNvSpPr txBox="1"/>
          <p:nvPr/>
        </p:nvSpPr>
        <p:spPr>
          <a:xfrm>
            <a:off x="6995160"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linear head</a:t>
            </a:r>
            <a:endParaRPr lang="en-US" sz="1000" dirty="0"/>
          </a:p>
        </p:txBody>
      </p:sp>
      <p:sp>
        <p:nvSpPr>
          <p:cNvPr id="33" name="stage caption linear head"/>
          <p:cNvSpPr txBox="1"/>
          <p:nvPr/>
        </p:nvSpPr>
        <p:spPr>
          <a:xfrm>
            <a:off x="692200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 5</a:t>
            </a:r>
            <a:endParaRPr lang="en-US" sz="900" dirty="0"/>
          </a:p>
          <a:p>
            <a:pPr algn="ctr" indent="0" marL="0">
              <a:buNone/>
            </a:pPr>
            <a:r>
              <a:rPr lang="en-US" sz="900" dirty="0">
                <a:solidFill>
                  <a:schemeClr val="tx1"/>
                </a:solidFill>
              </a:rPr>
              <a:t>2 565 weights</a:t>
            </a:r>
            <a:endParaRPr lang="en-US" sz="900" dirty="0"/>
          </a:p>
        </p:txBody>
      </p:sp>
      <p:sp>
        <p:nvSpPr>
          <p:cNvPr id="34" name="stage arrow 8"/>
          <p:cNvSpPr/>
          <p:nvPr/>
        </p:nvSpPr>
        <p:spPr>
          <a:xfrm>
            <a:off x="7772400" y="1874520"/>
            <a:ext cx="128016" cy="0"/>
          </a:xfrm>
          <a:prstGeom prst="line">
            <a:avLst/>
          </a:prstGeom>
          <a:noFill/>
          <a:ln w="19050">
            <a:solidFill>
              <a:srgbClr val="3A3F4B"/>
            </a:solidFill>
            <a:prstDash val="solid"/>
            <a:tailEnd type="triangle"/>
          </a:ln>
        </p:spPr>
      </p:sp>
      <p:sp>
        <p:nvSpPr>
          <p:cNvPr id="35" name="stage 5 styles"/>
          <p:cNvSpPr/>
          <p:nvPr/>
        </p:nvSpPr>
        <p:spPr>
          <a:xfrm>
            <a:off x="7927848" y="1668780"/>
            <a:ext cx="749808" cy="411480"/>
          </a:xfrm>
          <a:prstGeom prst="roundRect">
            <a:avLst>
              <a:gd name="adj" fmla="val 13333"/>
            </a:avLst>
          </a:prstGeom>
          <a:solidFill>
            <a:schemeClr val="bg2"/>
          </a:solidFill>
          <a:ln w="12700">
            <a:solidFill>
              <a:schemeClr val="bg2"/>
            </a:solidFill>
            <a:prstDash val="solid"/>
          </a:ln>
        </p:spPr>
      </p:sp>
      <p:sp>
        <p:nvSpPr>
          <p:cNvPr id="36" name="stage name 5 styles"/>
          <p:cNvSpPr txBox="1"/>
          <p:nvPr/>
        </p:nvSpPr>
        <p:spPr>
          <a:xfrm>
            <a:off x="7927848"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tx2"/>
                </a:solidFill>
              </a:rPr>
              <a:t>5 styles</a:t>
            </a:r>
            <a:endParaRPr lang="en-US" sz="1000" dirty="0"/>
          </a:p>
        </p:txBody>
      </p:sp>
      <p:sp>
        <p:nvSpPr>
          <p:cNvPr id="37" name="stage caption 5 styles"/>
          <p:cNvSpPr txBox="1"/>
          <p:nvPr/>
        </p:nvSpPr>
        <p:spPr>
          <a:xfrm>
            <a:off x="785469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highest score wins</a:t>
            </a:r>
            <a:endParaRPr lang="en-US" sz="900" dirty="0"/>
          </a:p>
        </p:txBody>
      </p:sp>
      <p:sp>
        <p:nvSpPr>
          <p:cNvPr id="38" name="sees edges, colours"/>
          <p:cNvSpPr txBox="1"/>
          <p:nvPr/>
        </p:nvSpPr>
        <p:spPr>
          <a:xfrm>
            <a:off x="1353312" y="987552"/>
            <a:ext cx="1773936" cy="182880"/>
          </a:xfrm>
          <a:prstGeom prst="rect">
            <a:avLst/>
          </a:prstGeom>
          <a:noFill/>
          <a:ln/>
        </p:spPr>
        <p:txBody>
          <a:bodyPr wrap="square" lIns="0" tIns="0" rIns="0" bIns="0" rtlCol="0" anchor="ctr"/>
          <a:lstStyle/>
          <a:p>
            <a:pPr algn="ctr" indent="0" marL="0">
              <a:buNone/>
            </a:pPr>
            <a:r>
              <a:rPr lang="en-US" sz="900" i="1" dirty="0">
                <a:solidFill>
                  <a:schemeClr val="accent1"/>
                </a:solidFill>
              </a:rPr>
              <a:t>edges, colours</a:t>
            </a:r>
            <a:endParaRPr lang="en-US" sz="900" dirty="0"/>
          </a:p>
        </p:txBody>
      </p:sp>
      <p:sp>
        <p:nvSpPr>
          <p:cNvPr id="39" name="sees textures"/>
          <p:cNvSpPr txBox="1"/>
          <p:nvPr/>
        </p:nvSpPr>
        <p:spPr>
          <a:xfrm>
            <a:off x="3218688"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textures</a:t>
            </a:r>
            <a:endParaRPr lang="en-US" sz="900" dirty="0"/>
          </a:p>
        </p:txBody>
      </p:sp>
      <p:sp>
        <p:nvSpPr>
          <p:cNvPr id="40" name="sees patterns"/>
          <p:cNvSpPr txBox="1"/>
          <p:nvPr/>
        </p:nvSpPr>
        <p:spPr>
          <a:xfrm>
            <a:off x="4151376"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patterns</a:t>
            </a:r>
            <a:endParaRPr lang="en-US" sz="900" dirty="0"/>
          </a:p>
        </p:txBody>
      </p:sp>
      <p:sp>
        <p:nvSpPr>
          <p:cNvPr id="41" name="sees shapes"/>
          <p:cNvSpPr txBox="1"/>
          <p:nvPr/>
        </p:nvSpPr>
        <p:spPr>
          <a:xfrm>
            <a:off x="5084064"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shapes</a:t>
            </a:r>
            <a:endParaRPr lang="en-US" sz="900" dirty="0"/>
          </a:p>
        </p:txBody>
      </p:sp>
      <p:sp>
        <p:nvSpPr>
          <p:cNvPr id="42" name="frozen bar"/>
          <p:cNvSpPr/>
          <p:nvPr/>
        </p:nvSpPr>
        <p:spPr>
          <a:xfrm>
            <a:off x="1399032" y="3218688"/>
            <a:ext cx="5413248" cy="45720"/>
          </a:xfrm>
          <a:prstGeom prst="rect">
            <a:avLst/>
          </a:prstGeom>
          <a:solidFill>
            <a:schemeClr val="tx2"/>
          </a:solidFill>
          <a:ln w="12700">
            <a:solidFill>
              <a:schemeClr val="tx2"/>
            </a:solidFill>
            <a:prstDash val="solid"/>
          </a:ln>
        </p:spPr>
      </p:sp>
      <p:sp>
        <p:nvSpPr>
          <p:cNvPr id="43" name="frozen label"/>
          <p:cNvSpPr txBox="1"/>
          <p:nvPr/>
        </p:nvSpPr>
        <p:spPr>
          <a:xfrm>
            <a:off x="1399032" y="3291840"/>
            <a:ext cx="5413248" cy="201168"/>
          </a:xfrm>
          <a:prstGeom prst="rect">
            <a:avLst/>
          </a:prstGeom>
          <a:noFill/>
          <a:ln/>
        </p:spPr>
        <p:txBody>
          <a:bodyPr wrap="square" lIns="0" tIns="0" rIns="0" bIns="0" rtlCol="0" anchor="ctr"/>
          <a:lstStyle/>
          <a:p>
            <a:pPr algn="ctr" indent="0" marL="0">
              <a:buNone/>
            </a:pPr>
            <a:r>
              <a:rPr lang="en-US" sz="1000" b="1" dirty="0">
                <a:solidFill>
                  <a:schemeClr val="tx2"/>
                </a:solidFill>
              </a:rPr>
              <a:t>Frozen body: 11.2 million weights learned on ImageNet, never changed</a:t>
            </a:r>
            <a:endParaRPr lang="en-US" sz="1000" dirty="0"/>
          </a:p>
        </p:txBody>
      </p:sp>
      <p:sp>
        <p:nvSpPr>
          <p:cNvPr id="44" name="trained bar"/>
          <p:cNvSpPr/>
          <p:nvPr/>
        </p:nvSpPr>
        <p:spPr>
          <a:xfrm>
            <a:off x="6995160" y="3218688"/>
            <a:ext cx="749808" cy="45720"/>
          </a:xfrm>
          <a:prstGeom prst="rect">
            <a:avLst/>
          </a:prstGeom>
          <a:solidFill>
            <a:schemeClr val="accent1"/>
          </a:solidFill>
          <a:ln w="12700">
            <a:solidFill>
              <a:schemeClr val="accent1"/>
            </a:solidFill>
            <a:prstDash val="solid"/>
          </a:ln>
        </p:spPr>
      </p:sp>
      <p:sp>
        <p:nvSpPr>
          <p:cNvPr id="45" name="trained label"/>
          <p:cNvSpPr txBox="1"/>
          <p:nvPr/>
        </p:nvSpPr>
        <p:spPr>
          <a:xfrm>
            <a:off x="6995160"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1"/>
                </a:solidFill>
              </a:rPr>
              <a:t>Trained by us</a:t>
            </a:r>
            <a:endParaRPr lang="en-US" sz="1000" dirty="0"/>
          </a:p>
        </p:txBody>
      </p:sp>
      <p:sp>
        <p:nvSpPr>
          <p:cNvPr id="46" name="block title"/>
          <p:cNvSpPr txBox="1"/>
          <p:nvPr/>
        </p:nvSpPr>
        <p:spPr>
          <a:xfrm>
            <a:off x="457200" y="3593592"/>
            <a:ext cx="3291840" cy="182880"/>
          </a:xfrm>
          <a:prstGeom prst="rect">
            <a:avLst/>
          </a:prstGeom>
          <a:noFill/>
          <a:ln/>
        </p:spPr>
        <p:txBody>
          <a:bodyPr wrap="square" lIns="0" tIns="0" rIns="0" bIns="0" rtlCol="0" anchor="ctr"/>
          <a:lstStyle/>
          <a:p>
            <a:pPr indent="0" marL="0">
              <a:buNone/>
            </a:pPr>
            <a:r>
              <a:rPr lang="en-US" sz="1100" b="1" dirty="0">
                <a:solidFill>
                  <a:schemeClr val="tx2"/>
                </a:solidFill>
              </a:rPr>
              <a:t>One residual block (2 per layer, 8 in all)</a:t>
            </a:r>
            <a:endParaRPr lang="en-US" sz="1100" dirty="0"/>
          </a:p>
        </p:txBody>
      </p:sp>
      <p:sp>
        <p:nvSpPr>
          <p:cNvPr id="47" name="block text 0 x"/>
          <p:cNvSpPr txBox="1"/>
          <p:nvPr/>
        </p:nvSpPr>
        <p:spPr>
          <a:xfrm>
            <a:off x="457200" y="4224528"/>
            <a:ext cx="274320" cy="310896"/>
          </a:xfrm>
          <a:prstGeom prst="rect">
            <a:avLst/>
          </a:prstGeom>
          <a:noFill/>
          <a:ln/>
        </p:spPr>
        <p:txBody>
          <a:bodyPr wrap="square" lIns="0" tIns="0" rIns="0" bIns="0" rtlCol="0" anchor="ctr"/>
          <a:lstStyle/>
          <a:p>
            <a:pPr algn="ctr" indent="0" marL="0">
              <a:buNone/>
            </a:pPr>
            <a:r>
              <a:rPr lang="en-US" sz="1000" b="1" dirty="0">
                <a:solidFill>
                  <a:schemeClr val="tx2"/>
                </a:solidFill>
              </a:rPr>
              <a:t>x</a:t>
            </a:r>
            <a:endParaRPr lang="en-US" sz="1000" dirty="0"/>
          </a:p>
        </p:txBody>
      </p:sp>
      <p:sp>
        <p:nvSpPr>
          <p:cNvPr id="48" name="block arrow 1"/>
          <p:cNvSpPr/>
          <p:nvPr/>
        </p:nvSpPr>
        <p:spPr>
          <a:xfrm>
            <a:off x="749808" y="4379976"/>
            <a:ext cx="118872" cy="0"/>
          </a:xfrm>
          <a:prstGeom prst="line">
            <a:avLst/>
          </a:prstGeom>
          <a:noFill/>
          <a:ln w="15875">
            <a:solidFill>
              <a:srgbClr val="3A3F4B"/>
            </a:solidFill>
            <a:prstDash val="solid"/>
            <a:tailEnd type="triangle"/>
          </a:ln>
        </p:spPr>
      </p:sp>
      <p:sp>
        <p:nvSpPr>
          <p:cNvPr id="49" name="block 1 conv 3x3"/>
          <p:cNvSpPr/>
          <p:nvPr/>
        </p:nvSpPr>
        <p:spPr>
          <a:xfrm>
            <a:off x="886968" y="4224528"/>
            <a:ext cx="731520" cy="310896"/>
          </a:xfrm>
          <a:prstGeom prst="roundRect">
            <a:avLst>
              <a:gd name="adj" fmla="val 14706"/>
            </a:avLst>
          </a:prstGeom>
          <a:solidFill>
            <a:schemeClr val="tx2"/>
          </a:solidFill>
          <a:ln w="12700">
            <a:solidFill>
              <a:schemeClr val="tx2"/>
            </a:solidFill>
            <a:prstDash val="solid"/>
          </a:ln>
        </p:spPr>
      </p:sp>
      <p:sp>
        <p:nvSpPr>
          <p:cNvPr id="50" name="block text 1 conv 3x3"/>
          <p:cNvSpPr txBox="1"/>
          <p:nvPr/>
        </p:nvSpPr>
        <p:spPr>
          <a:xfrm>
            <a:off x="886968"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1" name="block arrow 2"/>
          <p:cNvSpPr/>
          <p:nvPr/>
        </p:nvSpPr>
        <p:spPr>
          <a:xfrm>
            <a:off x="1636776" y="4379976"/>
            <a:ext cx="118872" cy="0"/>
          </a:xfrm>
          <a:prstGeom prst="line">
            <a:avLst/>
          </a:prstGeom>
          <a:noFill/>
          <a:ln w="15875">
            <a:solidFill>
              <a:srgbClr val="3A3F4B"/>
            </a:solidFill>
            <a:prstDash val="solid"/>
            <a:tailEnd type="triangle"/>
          </a:ln>
        </p:spPr>
      </p:sp>
      <p:sp>
        <p:nvSpPr>
          <p:cNvPr id="52" name="block 2 BN + ReLU"/>
          <p:cNvSpPr/>
          <p:nvPr/>
        </p:nvSpPr>
        <p:spPr>
          <a:xfrm>
            <a:off x="1773936" y="4224528"/>
            <a:ext cx="822960" cy="310896"/>
          </a:xfrm>
          <a:prstGeom prst="roundRect">
            <a:avLst>
              <a:gd name="adj" fmla="val 14706"/>
            </a:avLst>
          </a:prstGeom>
          <a:solidFill>
            <a:schemeClr val="tx2"/>
          </a:solidFill>
          <a:ln w="12700">
            <a:solidFill>
              <a:schemeClr val="tx2"/>
            </a:solidFill>
            <a:prstDash val="solid"/>
          </a:ln>
        </p:spPr>
      </p:sp>
      <p:sp>
        <p:nvSpPr>
          <p:cNvPr id="53" name="block text 2 BN + ReLU"/>
          <p:cNvSpPr txBox="1"/>
          <p:nvPr/>
        </p:nvSpPr>
        <p:spPr>
          <a:xfrm>
            <a:off x="1773936" y="4224528"/>
            <a:ext cx="822960" cy="310896"/>
          </a:xfrm>
          <a:prstGeom prst="rect">
            <a:avLst/>
          </a:prstGeom>
          <a:noFill/>
          <a:ln/>
        </p:spPr>
        <p:txBody>
          <a:bodyPr wrap="square" lIns="0" tIns="0" rIns="0" bIns="0" rtlCol="0" anchor="ctr"/>
          <a:lstStyle/>
          <a:p>
            <a:pPr algn="ctr" indent="0" marL="0">
              <a:buNone/>
            </a:pPr>
            <a:r>
              <a:rPr lang="en-US" sz="1000" b="1" dirty="0">
                <a:solidFill>
                  <a:schemeClr val="bg1"/>
                </a:solidFill>
              </a:rPr>
              <a:t>BN + ReLU</a:t>
            </a:r>
            <a:endParaRPr lang="en-US" sz="1000" dirty="0"/>
          </a:p>
        </p:txBody>
      </p:sp>
      <p:sp>
        <p:nvSpPr>
          <p:cNvPr id="54" name="block arrow 3"/>
          <p:cNvSpPr/>
          <p:nvPr/>
        </p:nvSpPr>
        <p:spPr>
          <a:xfrm>
            <a:off x="2615184" y="4379976"/>
            <a:ext cx="118872" cy="0"/>
          </a:xfrm>
          <a:prstGeom prst="line">
            <a:avLst/>
          </a:prstGeom>
          <a:noFill/>
          <a:ln w="15875">
            <a:solidFill>
              <a:srgbClr val="3A3F4B"/>
            </a:solidFill>
            <a:prstDash val="solid"/>
            <a:tailEnd type="triangle"/>
          </a:ln>
        </p:spPr>
      </p:sp>
      <p:sp>
        <p:nvSpPr>
          <p:cNvPr id="55" name="block 3 conv 3x3"/>
          <p:cNvSpPr/>
          <p:nvPr/>
        </p:nvSpPr>
        <p:spPr>
          <a:xfrm>
            <a:off x="2752344" y="4224528"/>
            <a:ext cx="731520" cy="310896"/>
          </a:xfrm>
          <a:prstGeom prst="roundRect">
            <a:avLst>
              <a:gd name="adj" fmla="val 14706"/>
            </a:avLst>
          </a:prstGeom>
          <a:solidFill>
            <a:schemeClr val="tx2"/>
          </a:solidFill>
          <a:ln w="12700">
            <a:solidFill>
              <a:schemeClr val="tx2"/>
            </a:solidFill>
            <a:prstDash val="solid"/>
          </a:ln>
        </p:spPr>
      </p:sp>
      <p:sp>
        <p:nvSpPr>
          <p:cNvPr id="56" name="block text 3 conv 3x3"/>
          <p:cNvSpPr txBox="1"/>
          <p:nvPr/>
        </p:nvSpPr>
        <p:spPr>
          <a:xfrm>
            <a:off x="2752344"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7" name="block arrow 4"/>
          <p:cNvSpPr/>
          <p:nvPr/>
        </p:nvSpPr>
        <p:spPr>
          <a:xfrm>
            <a:off x="3502152" y="4379976"/>
            <a:ext cx="118872" cy="0"/>
          </a:xfrm>
          <a:prstGeom prst="line">
            <a:avLst/>
          </a:prstGeom>
          <a:noFill/>
          <a:ln w="15875">
            <a:solidFill>
              <a:srgbClr val="3A3F4B"/>
            </a:solidFill>
            <a:prstDash val="solid"/>
            <a:tailEnd type="triangle"/>
          </a:ln>
        </p:spPr>
      </p:sp>
      <p:sp>
        <p:nvSpPr>
          <p:cNvPr id="58" name="block 4 BN"/>
          <p:cNvSpPr/>
          <p:nvPr/>
        </p:nvSpPr>
        <p:spPr>
          <a:xfrm>
            <a:off x="3639312" y="4224528"/>
            <a:ext cx="457200" cy="310896"/>
          </a:xfrm>
          <a:prstGeom prst="roundRect">
            <a:avLst>
              <a:gd name="adj" fmla="val 14706"/>
            </a:avLst>
          </a:prstGeom>
          <a:solidFill>
            <a:schemeClr val="tx2"/>
          </a:solidFill>
          <a:ln w="12700">
            <a:solidFill>
              <a:schemeClr val="tx2"/>
            </a:solidFill>
            <a:prstDash val="solid"/>
          </a:ln>
        </p:spPr>
      </p:sp>
      <p:sp>
        <p:nvSpPr>
          <p:cNvPr id="59" name="block text 4 BN"/>
          <p:cNvSpPr txBox="1"/>
          <p:nvPr/>
        </p:nvSpPr>
        <p:spPr>
          <a:xfrm>
            <a:off x="3639312" y="4224528"/>
            <a:ext cx="457200" cy="310896"/>
          </a:xfrm>
          <a:prstGeom prst="rect">
            <a:avLst/>
          </a:prstGeom>
          <a:noFill/>
          <a:ln/>
        </p:spPr>
        <p:txBody>
          <a:bodyPr wrap="square" lIns="0" tIns="0" rIns="0" bIns="0" rtlCol="0" anchor="ctr"/>
          <a:lstStyle/>
          <a:p>
            <a:pPr algn="ctr" indent="0" marL="0">
              <a:buNone/>
            </a:pPr>
            <a:r>
              <a:rPr lang="en-US" sz="1000" b="1" dirty="0">
                <a:solidFill>
                  <a:schemeClr val="bg1"/>
                </a:solidFill>
              </a:rPr>
              <a:t>BN</a:t>
            </a:r>
            <a:endParaRPr lang="en-US" sz="1000" dirty="0"/>
          </a:p>
        </p:txBody>
      </p:sp>
      <p:sp>
        <p:nvSpPr>
          <p:cNvPr id="60" name="block arrow 5"/>
          <p:cNvSpPr/>
          <p:nvPr/>
        </p:nvSpPr>
        <p:spPr>
          <a:xfrm>
            <a:off x="4114800" y="4379976"/>
            <a:ext cx="118872" cy="0"/>
          </a:xfrm>
          <a:prstGeom prst="line">
            <a:avLst/>
          </a:prstGeom>
          <a:noFill/>
          <a:ln w="15875">
            <a:solidFill>
              <a:srgbClr val="3A3F4B"/>
            </a:solidFill>
            <a:prstDash val="solid"/>
            <a:tailEnd type="triangle"/>
          </a:ln>
        </p:spPr>
      </p:sp>
      <p:sp>
        <p:nvSpPr>
          <p:cNvPr id="61" name="block add"/>
          <p:cNvSpPr/>
          <p:nvPr/>
        </p:nvSpPr>
        <p:spPr>
          <a:xfrm>
            <a:off x="4251960" y="4224528"/>
            <a:ext cx="310896" cy="310896"/>
          </a:xfrm>
          <a:prstGeom prst="ellipse">
            <a:avLst/>
          </a:prstGeom>
          <a:solidFill>
            <a:schemeClr val="accent1"/>
          </a:solidFill>
          <a:ln w="12700">
            <a:solidFill>
              <a:schemeClr val="accent1"/>
            </a:solidFill>
            <a:prstDash val="solid"/>
          </a:ln>
        </p:spPr>
      </p:sp>
      <p:sp>
        <p:nvSpPr>
          <p:cNvPr id="62" name="block text 5 +"/>
          <p:cNvSpPr txBox="1"/>
          <p:nvPr/>
        </p:nvSpPr>
        <p:spPr>
          <a:xfrm>
            <a:off x="4251960" y="422452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3" name="block arrow 6"/>
          <p:cNvSpPr/>
          <p:nvPr/>
        </p:nvSpPr>
        <p:spPr>
          <a:xfrm>
            <a:off x="4581144" y="4379976"/>
            <a:ext cx="118872" cy="0"/>
          </a:xfrm>
          <a:prstGeom prst="line">
            <a:avLst/>
          </a:prstGeom>
          <a:noFill/>
          <a:ln w="15875">
            <a:solidFill>
              <a:srgbClr val="3A3F4B"/>
            </a:solidFill>
            <a:prstDash val="solid"/>
            <a:tailEnd type="triangle"/>
          </a:ln>
        </p:spPr>
      </p:sp>
      <p:sp>
        <p:nvSpPr>
          <p:cNvPr id="64" name="block 6 ReLU"/>
          <p:cNvSpPr/>
          <p:nvPr/>
        </p:nvSpPr>
        <p:spPr>
          <a:xfrm>
            <a:off x="4718304" y="4224528"/>
            <a:ext cx="548640" cy="310896"/>
          </a:xfrm>
          <a:prstGeom prst="roundRect">
            <a:avLst>
              <a:gd name="adj" fmla="val 14706"/>
            </a:avLst>
          </a:prstGeom>
          <a:solidFill>
            <a:schemeClr val="tx2"/>
          </a:solidFill>
          <a:ln w="12700">
            <a:solidFill>
              <a:schemeClr val="tx2"/>
            </a:solidFill>
            <a:prstDash val="solid"/>
          </a:ln>
        </p:spPr>
      </p:sp>
      <p:sp>
        <p:nvSpPr>
          <p:cNvPr id="65" name="block text 6 ReLU"/>
          <p:cNvSpPr txBox="1"/>
          <p:nvPr/>
        </p:nvSpPr>
        <p:spPr>
          <a:xfrm>
            <a:off x="4718304" y="4224528"/>
            <a:ext cx="548640" cy="310896"/>
          </a:xfrm>
          <a:prstGeom prst="rect">
            <a:avLst/>
          </a:prstGeom>
          <a:noFill/>
          <a:ln/>
        </p:spPr>
        <p:txBody>
          <a:bodyPr wrap="square" lIns="0" tIns="0" rIns="0" bIns="0" rtlCol="0" anchor="ctr"/>
          <a:lstStyle/>
          <a:p>
            <a:pPr algn="ctr" indent="0" marL="0">
              <a:buNone/>
            </a:pPr>
            <a:r>
              <a:rPr lang="en-US" sz="1000" b="1" dirty="0">
                <a:solidFill>
                  <a:schemeClr val="bg1"/>
                </a:solidFill>
              </a:rPr>
              <a:t>ReLU</a:t>
            </a:r>
            <a:endParaRPr lang="en-US" sz="1000" dirty="0"/>
          </a:p>
        </p:txBody>
      </p:sp>
      <p:sp>
        <p:nvSpPr>
          <p:cNvPr id="66" name="block arrow 7"/>
          <p:cNvSpPr/>
          <p:nvPr/>
        </p:nvSpPr>
        <p:spPr>
          <a:xfrm>
            <a:off x="5285232" y="4379976"/>
            <a:ext cx="118872" cy="0"/>
          </a:xfrm>
          <a:prstGeom prst="line">
            <a:avLst/>
          </a:prstGeom>
          <a:noFill/>
          <a:ln w="15875">
            <a:solidFill>
              <a:srgbClr val="3A3F4B"/>
            </a:solidFill>
            <a:prstDash val="solid"/>
            <a:tailEnd type="triangle"/>
          </a:ln>
        </p:spPr>
      </p:sp>
      <p:sp>
        <p:nvSpPr>
          <p:cNvPr id="67" name="block text 7 out"/>
          <p:cNvSpPr txBox="1"/>
          <p:nvPr/>
        </p:nvSpPr>
        <p:spPr>
          <a:xfrm>
            <a:off x="5422392" y="4224528"/>
            <a:ext cx="320040" cy="310896"/>
          </a:xfrm>
          <a:prstGeom prst="rect">
            <a:avLst/>
          </a:prstGeom>
          <a:noFill/>
          <a:ln/>
        </p:spPr>
        <p:txBody>
          <a:bodyPr wrap="square" lIns="0" tIns="0" rIns="0" bIns="0" rtlCol="0" anchor="ctr"/>
          <a:lstStyle/>
          <a:p>
            <a:pPr algn="ctr" indent="0" marL="0">
              <a:buNone/>
            </a:pPr>
            <a:r>
              <a:rPr lang="en-US" sz="1000" b="1" dirty="0">
                <a:solidFill>
                  <a:schemeClr val="tx2"/>
                </a:solidFill>
              </a:rPr>
              <a:t>out</a:t>
            </a:r>
            <a:endParaRPr lang="en-US" sz="1000" dirty="0"/>
          </a:p>
        </p:txBody>
      </p:sp>
      <p:sp>
        <p:nvSpPr>
          <p:cNvPr id="68" name="shortcut up"/>
          <p:cNvSpPr/>
          <p:nvPr/>
        </p:nvSpPr>
        <p:spPr>
          <a:xfrm>
            <a:off x="594360" y="3959352"/>
            <a:ext cx="0" cy="265176"/>
          </a:xfrm>
          <a:prstGeom prst="line">
            <a:avLst/>
          </a:prstGeom>
          <a:noFill/>
          <a:ln w="19050">
            <a:solidFill>
              <a:schemeClr val="accent1"/>
            </a:solidFill>
            <a:prstDash val="solid"/>
          </a:ln>
        </p:spPr>
      </p:sp>
      <p:sp>
        <p:nvSpPr>
          <p:cNvPr id="69" name="shortcut across"/>
          <p:cNvSpPr/>
          <p:nvPr/>
        </p:nvSpPr>
        <p:spPr>
          <a:xfrm>
            <a:off x="594360" y="3959352"/>
            <a:ext cx="3813048" cy="0"/>
          </a:xfrm>
          <a:prstGeom prst="line">
            <a:avLst/>
          </a:prstGeom>
          <a:noFill/>
          <a:ln w="19050">
            <a:solidFill>
              <a:schemeClr val="accent1"/>
            </a:solidFill>
            <a:prstDash val="solid"/>
          </a:ln>
        </p:spPr>
      </p:sp>
      <p:sp>
        <p:nvSpPr>
          <p:cNvPr id="70" name="shortcut down"/>
          <p:cNvSpPr/>
          <p:nvPr/>
        </p:nvSpPr>
        <p:spPr>
          <a:xfrm>
            <a:off x="4407408" y="3959352"/>
            <a:ext cx="0" cy="265176"/>
          </a:xfrm>
          <a:prstGeom prst="line">
            <a:avLst/>
          </a:prstGeom>
          <a:noFill/>
          <a:ln w="19050">
            <a:solidFill>
              <a:schemeClr val="accent1"/>
            </a:solidFill>
            <a:prstDash val="solid"/>
            <a:tailEnd type="triangle"/>
          </a:ln>
        </p:spPr>
      </p:sp>
      <p:sp>
        <p:nvSpPr>
          <p:cNvPr id="71" name="shortcut label"/>
          <p:cNvSpPr txBox="1"/>
          <p:nvPr/>
        </p:nvSpPr>
        <p:spPr>
          <a:xfrm>
            <a:off x="594360" y="3758184"/>
            <a:ext cx="38130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shortcut: the input x is added back</a:t>
            </a:r>
            <a:endParaRPr lang="en-US" sz="900" dirty="0"/>
          </a:p>
        </p:txBody>
      </p:sp>
      <p:sp>
        <p:nvSpPr>
          <p:cNvPr id="72" name="residual text"/>
          <p:cNvSpPr txBox="1"/>
          <p:nvPr/>
        </p:nvSpPr>
        <p:spPr>
          <a:xfrm>
            <a:off x="5897880" y="3593592"/>
            <a:ext cx="2788920" cy="1051560"/>
          </a:xfrm>
          <a:prstGeom prst="rect">
            <a:avLst/>
          </a:prstGeom>
          <a:noFill/>
          <a:ln/>
        </p:spPr>
        <p:txBody>
          <a:bodyPr wrap="square" lIns="0" tIns="0" rIns="0" bIns="0" rtlCol="0" anchor="t"/>
          <a:lstStyle/>
          <a:p>
            <a:pPr indent="0" marL="0">
              <a:buNone/>
            </a:pPr>
            <a:r>
              <a:rPr lang="en-US" sz="1100" b="1" dirty="0">
                <a:solidFill>
                  <a:schemeClr val="tx2"/>
                </a:solidFill>
              </a:rPr>
              <a:t>Why "Res" (residual): </a:t>
            </a:r>
            <a:pPr indent="0" marL="0">
              <a:buNone/>
            </a:pPr>
            <a:r>
              <a:rPr lang="en-US" sz="1100" dirty="0">
                <a:solidFill>
                  <a:schemeClr val="tx1"/>
                </a:solidFill>
              </a:rPr>
              <a:t>each block only learns a correction added to its input. The gradient flows back through the shortcuts, so all the layers learn. 18 layers = conv1 + 16 convolutions in the blocks + the last layer.</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2026-10-21T13:22:01Z</dcterms:created>
  <dcterms:modified xsi:type="dcterms:W3CDTF">2026-10-21T13:22:01Z</dcterms:modified>
</cp:coreProperties>
</file>